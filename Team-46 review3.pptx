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8"/>
  </p:notesMasterIdLst>
  <p:sldIdLst>
    <p:sldId id="256" r:id="rId2"/>
    <p:sldId id="269" r:id="rId3"/>
    <p:sldId id="257" r:id="rId4"/>
    <p:sldId id="258" r:id="rId5"/>
    <p:sldId id="260" r:id="rId6"/>
    <p:sldId id="265" r:id="rId7"/>
    <p:sldId id="266" r:id="rId8"/>
    <p:sldId id="270" r:id="rId9"/>
    <p:sldId id="275" r:id="rId10"/>
    <p:sldId id="271" r:id="rId11"/>
    <p:sldId id="274" r:id="rId12"/>
    <p:sldId id="276" r:id="rId13"/>
    <p:sldId id="272" r:id="rId14"/>
    <p:sldId id="259" r:id="rId15"/>
    <p:sldId id="307" r:id="rId16"/>
    <p:sldId id="309" r:id="rId17"/>
    <p:sldId id="297" r:id="rId18"/>
    <p:sldId id="310" r:id="rId19"/>
    <p:sldId id="298" r:id="rId20"/>
    <p:sldId id="317" r:id="rId21"/>
    <p:sldId id="311" r:id="rId22"/>
    <p:sldId id="316" r:id="rId23"/>
    <p:sldId id="312" r:id="rId24"/>
    <p:sldId id="313" r:id="rId25"/>
    <p:sldId id="279" r:id="rId26"/>
    <p:sldId id="299" r:id="rId27"/>
    <p:sldId id="291" r:id="rId28"/>
    <p:sldId id="293" r:id="rId29"/>
    <p:sldId id="308" r:id="rId30"/>
    <p:sldId id="304" r:id="rId31"/>
    <p:sldId id="294" r:id="rId32"/>
    <p:sldId id="283" r:id="rId33"/>
    <p:sldId id="285" r:id="rId34"/>
    <p:sldId id="292" r:id="rId35"/>
    <p:sldId id="301" r:id="rId36"/>
    <p:sldId id="315" r:id="rId37"/>
    <p:sldId id="287" r:id="rId38"/>
    <p:sldId id="289" r:id="rId39"/>
    <p:sldId id="300" r:id="rId40"/>
    <p:sldId id="306" r:id="rId41"/>
    <p:sldId id="319" r:id="rId42"/>
    <p:sldId id="305" r:id="rId43"/>
    <p:sldId id="314" r:id="rId44"/>
    <p:sldId id="264" r:id="rId45"/>
    <p:sldId id="273" r:id="rId46"/>
    <p:sldId id="284"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2E2B9C-A7DF-450B-8371-7995AD9DDF7B}" v="24" dt="2025-04-17T05:24:22.8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3" d="100"/>
          <a:sy n="83" d="100"/>
        </p:scale>
        <p:origin x="56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ya S" userId="d067a2591a2deb7a" providerId="LiveId" clId="{A52E2B9C-A7DF-450B-8371-7995AD9DDF7B}"/>
    <pc:docChg chg="undo custSel addSld delSld modSld sldOrd">
      <pc:chgData name="Ramya S" userId="d067a2591a2deb7a" providerId="LiveId" clId="{A52E2B9C-A7DF-450B-8371-7995AD9DDF7B}" dt="2025-04-17T05:27:59.717" v="896"/>
      <pc:docMkLst>
        <pc:docMk/>
      </pc:docMkLst>
      <pc:sldChg chg="modSp mod">
        <pc:chgData name="Ramya S" userId="d067a2591a2deb7a" providerId="LiveId" clId="{A52E2B9C-A7DF-450B-8371-7995AD9DDF7B}" dt="2025-04-17T05:26:26.769" v="892" actId="20577"/>
        <pc:sldMkLst>
          <pc:docMk/>
          <pc:sldMk cId="2784394779" sldId="259"/>
        </pc:sldMkLst>
        <pc:spChg chg="mod">
          <ac:chgData name="Ramya S" userId="d067a2591a2deb7a" providerId="LiveId" clId="{A52E2B9C-A7DF-450B-8371-7995AD9DDF7B}" dt="2025-04-17T05:26:26.769" v="892" actId="20577"/>
          <ac:spMkLst>
            <pc:docMk/>
            <pc:sldMk cId="2784394779" sldId="259"/>
            <ac:spMk id="3" creationId="{7AB83455-8916-EDD6-5DC4-0BEADCDCA7C2}"/>
          </ac:spMkLst>
        </pc:spChg>
      </pc:sldChg>
      <pc:sldChg chg="modSp mod">
        <pc:chgData name="Ramya S" userId="d067a2591a2deb7a" providerId="LiveId" clId="{A52E2B9C-A7DF-450B-8371-7995AD9DDF7B}" dt="2025-04-17T03:53:20.511" v="0" actId="207"/>
        <pc:sldMkLst>
          <pc:docMk/>
          <pc:sldMk cId="4269818210" sldId="289"/>
        </pc:sldMkLst>
        <pc:spChg chg="mod">
          <ac:chgData name="Ramya S" userId="d067a2591a2deb7a" providerId="LiveId" clId="{A52E2B9C-A7DF-450B-8371-7995AD9DDF7B}" dt="2025-04-17T03:53:20.511" v="0" actId="207"/>
          <ac:spMkLst>
            <pc:docMk/>
            <pc:sldMk cId="4269818210" sldId="289"/>
            <ac:spMk id="2" creationId="{05B13E53-AA97-14B2-AA44-D2C9CD916804}"/>
          </ac:spMkLst>
        </pc:spChg>
      </pc:sldChg>
      <pc:sldChg chg="modSp mod ord">
        <pc:chgData name="Ramya S" userId="d067a2591a2deb7a" providerId="LiveId" clId="{A52E2B9C-A7DF-450B-8371-7995AD9DDF7B}" dt="2025-04-17T05:07:40.897" v="664" actId="20577"/>
        <pc:sldMkLst>
          <pc:docMk/>
          <pc:sldMk cId="1521325162" sldId="291"/>
        </pc:sldMkLst>
        <pc:spChg chg="mod">
          <ac:chgData name="Ramya S" userId="d067a2591a2deb7a" providerId="LiveId" clId="{A52E2B9C-A7DF-450B-8371-7995AD9DDF7B}" dt="2025-04-17T05:07:40.897" v="664" actId="20577"/>
          <ac:spMkLst>
            <pc:docMk/>
            <pc:sldMk cId="1521325162" sldId="291"/>
            <ac:spMk id="2" creationId="{0730AC1E-BEE1-3693-E4B2-9B152620BB9E}"/>
          </ac:spMkLst>
        </pc:spChg>
        <pc:picChg chg="mod">
          <ac:chgData name="Ramya S" userId="d067a2591a2deb7a" providerId="LiveId" clId="{A52E2B9C-A7DF-450B-8371-7995AD9DDF7B}" dt="2025-04-17T03:53:28.124" v="1" actId="1076"/>
          <ac:picMkLst>
            <pc:docMk/>
            <pc:sldMk cId="1521325162" sldId="291"/>
            <ac:picMk id="9" creationId="{D3DE9F88-9D36-7C84-A3F3-5E04E9B2EAD0}"/>
          </ac:picMkLst>
        </pc:picChg>
      </pc:sldChg>
      <pc:sldChg chg="modSp mod ord">
        <pc:chgData name="Ramya S" userId="d067a2591a2deb7a" providerId="LiveId" clId="{A52E2B9C-A7DF-450B-8371-7995AD9DDF7B}" dt="2025-04-17T05:08:28.933" v="676" actId="20577"/>
        <pc:sldMkLst>
          <pc:docMk/>
          <pc:sldMk cId="3951788239" sldId="292"/>
        </pc:sldMkLst>
        <pc:spChg chg="mod">
          <ac:chgData name="Ramya S" userId="d067a2591a2deb7a" providerId="LiveId" clId="{A52E2B9C-A7DF-450B-8371-7995AD9DDF7B}" dt="2025-04-17T05:08:28.933" v="676" actId="20577"/>
          <ac:spMkLst>
            <pc:docMk/>
            <pc:sldMk cId="3951788239" sldId="292"/>
            <ac:spMk id="2" creationId="{D38CCF03-C01B-B274-4076-89AB7A38BBB9}"/>
          </ac:spMkLst>
        </pc:spChg>
      </pc:sldChg>
      <pc:sldChg chg="addSp delSp modSp mod ord">
        <pc:chgData name="Ramya S" userId="d067a2591a2deb7a" providerId="LiveId" clId="{A52E2B9C-A7DF-450B-8371-7995AD9DDF7B}" dt="2025-04-17T05:07:49.908" v="666"/>
        <pc:sldMkLst>
          <pc:docMk/>
          <pc:sldMk cId="115630774" sldId="293"/>
        </pc:sldMkLst>
        <pc:spChg chg="add mod">
          <ac:chgData name="Ramya S" userId="d067a2591a2deb7a" providerId="LiveId" clId="{A52E2B9C-A7DF-450B-8371-7995AD9DDF7B}" dt="2025-04-17T04:04:26.198" v="297" actId="1076"/>
          <ac:spMkLst>
            <pc:docMk/>
            <pc:sldMk cId="115630774" sldId="293"/>
            <ac:spMk id="7" creationId="{20794163-1CEF-FF31-18AC-CE4BFD3C8184}"/>
          </ac:spMkLst>
        </pc:spChg>
        <pc:picChg chg="add mod">
          <ac:chgData name="Ramya S" userId="d067a2591a2deb7a" providerId="LiveId" clId="{A52E2B9C-A7DF-450B-8371-7995AD9DDF7B}" dt="2025-04-17T04:49:17.716" v="541" actId="14100"/>
          <ac:picMkLst>
            <pc:docMk/>
            <pc:sldMk cId="115630774" sldId="293"/>
            <ac:picMk id="5" creationId="{5F91EC2C-E543-7171-2F64-3B8FE3CCBCD6}"/>
          </ac:picMkLst>
        </pc:picChg>
        <pc:picChg chg="del mod">
          <ac:chgData name="Ramya S" userId="d067a2591a2deb7a" providerId="LiveId" clId="{A52E2B9C-A7DF-450B-8371-7995AD9DDF7B}" dt="2025-04-17T04:02:34.196" v="178" actId="478"/>
          <ac:picMkLst>
            <pc:docMk/>
            <pc:sldMk cId="115630774" sldId="293"/>
            <ac:picMk id="6" creationId="{368AC215-FB18-C346-EC51-B7D11F19CF14}"/>
          </ac:picMkLst>
        </pc:picChg>
      </pc:sldChg>
      <pc:sldChg chg="addSp delSp modSp mod ord">
        <pc:chgData name="Ramya S" userId="d067a2591a2deb7a" providerId="LiveId" clId="{A52E2B9C-A7DF-450B-8371-7995AD9DDF7B}" dt="2025-04-17T05:08:08.365" v="672"/>
        <pc:sldMkLst>
          <pc:docMk/>
          <pc:sldMk cId="389697581" sldId="294"/>
        </pc:sldMkLst>
        <pc:spChg chg="mod">
          <ac:chgData name="Ramya S" userId="d067a2591a2deb7a" providerId="LiveId" clId="{A52E2B9C-A7DF-450B-8371-7995AD9DDF7B}" dt="2025-04-17T04:04:47.111" v="299" actId="1076"/>
          <ac:spMkLst>
            <pc:docMk/>
            <pc:sldMk cId="389697581" sldId="294"/>
            <ac:spMk id="3" creationId="{3C0987A0-BC3F-F941-DFAD-D7ABC3F9B45D}"/>
          </ac:spMkLst>
        </pc:spChg>
        <pc:picChg chg="add del mod">
          <ac:chgData name="Ramya S" userId="d067a2591a2deb7a" providerId="LiveId" clId="{A52E2B9C-A7DF-450B-8371-7995AD9DDF7B}" dt="2025-04-17T03:56:32.177" v="28" actId="478"/>
          <ac:picMkLst>
            <pc:docMk/>
            <pc:sldMk cId="389697581" sldId="294"/>
            <ac:picMk id="6" creationId="{37DB1057-CBF6-7F39-9E23-4848238BB503}"/>
          </ac:picMkLst>
        </pc:picChg>
        <pc:picChg chg="add mod">
          <ac:chgData name="Ramya S" userId="d067a2591a2deb7a" providerId="LiveId" clId="{A52E2B9C-A7DF-450B-8371-7995AD9DDF7B}" dt="2025-04-17T04:04:40.444" v="298" actId="1076"/>
          <ac:picMkLst>
            <pc:docMk/>
            <pc:sldMk cId="389697581" sldId="294"/>
            <ac:picMk id="8" creationId="{F712491B-B2A6-6918-EE70-6A123ADC3232}"/>
          </ac:picMkLst>
        </pc:picChg>
        <pc:picChg chg="del">
          <ac:chgData name="Ramya S" userId="d067a2591a2deb7a" providerId="LiveId" clId="{A52E2B9C-A7DF-450B-8371-7995AD9DDF7B}" dt="2025-04-17T03:55:24.917" v="16" actId="478"/>
          <ac:picMkLst>
            <pc:docMk/>
            <pc:sldMk cId="389697581" sldId="294"/>
            <ac:picMk id="9" creationId="{B169ADA4-6826-7876-D136-E1A604C4DA82}"/>
          </ac:picMkLst>
        </pc:picChg>
        <pc:picChg chg="del">
          <ac:chgData name="Ramya S" userId="d067a2591a2deb7a" providerId="LiveId" clId="{A52E2B9C-A7DF-450B-8371-7995AD9DDF7B}" dt="2025-04-17T03:56:08.985" v="22" actId="478"/>
          <ac:picMkLst>
            <pc:docMk/>
            <pc:sldMk cId="389697581" sldId="294"/>
            <ac:picMk id="11" creationId="{F2299095-588F-69ED-2773-251AEF6AE210}"/>
          </ac:picMkLst>
        </pc:picChg>
      </pc:sldChg>
      <pc:sldChg chg="modSp mod">
        <pc:chgData name="Ramya S" userId="d067a2591a2deb7a" providerId="LiveId" clId="{A52E2B9C-A7DF-450B-8371-7995AD9DDF7B}" dt="2025-04-17T05:12:34.883" v="825" actId="20577"/>
        <pc:sldMkLst>
          <pc:docMk/>
          <pc:sldMk cId="2988283023" sldId="300"/>
        </pc:sldMkLst>
        <pc:spChg chg="mod">
          <ac:chgData name="Ramya S" userId="d067a2591a2deb7a" providerId="LiveId" clId="{A52E2B9C-A7DF-450B-8371-7995AD9DDF7B}" dt="2025-04-17T05:12:34.883" v="825" actId="20577"/>
          <ac:spMkLst>
            <pc:docMk/>
            <pc:sldMk cId="2988283023" sldId="300"/>
            <ac:spMk id="2" creationId="{AD16A2CF-F726-0E11-921E-0051682C694C}"/>
          </ac:spMkLst>
        </pc:spChg>
      </pc:sldChg>
      <pc:sldChg chg="addSp delSp modSp mod ord">
        <pc:chgData name="Ramya S" userId="d067a2591a2deb7a" providerId="LiveId" clId="{A52E2B9C-A7DF-450B-8371-7995AD9DDF7B}" dt="2025-04-17T05:13:12.489" v="829" actId="208"/>
        <pc:sldMkLst>
          <pc:docMk/>
          <pc:sldMk cId="408423481" sldId="301"/>
        </pc:sldMkLst>
        <pc:spChg chg="add">
          <ac:chgData name="Ramya S" userId="d067a2591a2deb7a" providerId="LiveId" clId="{A52E2B9C-A7DF-450B-8371-7995AD9DDF7B}" dt="2025-04-17T04:57:58.901" v="545"/>
          <ac:spMkLst>
            <pc:docMk/>
            <pc:sldMk cId="408423481" sldId="301"/>
            <ac:spMk id="3" creationId="{B9004D0B-C177-86D9-B6BC-140C674E3B8F}"/>
          </ac:spMkLst>
        </pc:spChg>
        <pc:spChg chg="add mod">
          <ac:chgData name="Ramya S" userId="d067a2591a2deb7a" providerId="LiveId" clId="{A52E2B9C-A7DF-450B-8371-7995AD9DDF7B}" dt="2025-04-17T05:11:29.711" v="761" actId="122"/>
          <ac:spMkLst>
            <pc:docMk/>
            <pc:sldMk cId="408423481" sldId="301"/>
            <ac:spMk id="8" creationId="{21EAC299-79D3-A7E9-0D75-2573BCDA8D3A}"/>
          </ac:spMkLst>
        </pc:spChg>
        <pc:picChg chg="del mod">
          <ac:chgData name="Ramya S" userId="d067a2591a2deb7a" providerId="LiveId" clId="{A52E2B9C-A7DF-450B-8371-7995AD9DDF7B}" dt="2025-04-17T04:56:13.093" v="544" actId="478"/>
          <ac:picMkLst>
            <pc:docMk/>
            <pc:sldMk cId="408423481" sldId="301"/>
            <ac:picMk id="5" creationId="{F076BC81-8486-6B0F-6DE1-8821EDD3FA87}"/>
          </ac:picMkLst>
        </pc:picChg>
        <pc:picChg chg="add mod">
          <ac:chgData name="Ramya S" userId="d067a2591a2deb7a" providerId="LiveId" clId="{A52E2B9C-A7DF-450B-8371-7995AD9DDF7B}" dt="2025-04-17T05:13:12.489" v="829" actId="208"/>
          <ac:picMkLst>
            <pc:docMk/>
            <pc:sldMk cId="408423481" sldId="301"/>
            <ac:picMk id="7" creationId="{A7B3743F-0CB9-AEA3-6F7C-C2E69AE126A1}"/>
          </ac:picMkLst>
        </pc:picChg>
      </pc:sldChg>
      <pc:sldChg chg="addSp delSp modSp mod ord">
        <pc:chgData name="Ramya S" userId="d067a2591a2deb7a" providerId="LiveId" clId="{A52E2B9C-A7DF-450B-8371-7995AD9DDF7B}" dt="2025-04-17T05:07:56.892" v="668"/>
        <pc:sldMkLst>
          <pc:docMk/>
          <pc:sldMk cId="2201624131" sldId="304"/>
        </pc:sldMkLst>
        <pc:spChg chg="add mod">
          <ac:chgData name="Ramya S" userId="d067a2591a2deb7a" providerId="LiveId" clId="{A52E2B9C-A7DF-450B-8371-7995AD9DDF7B}" dt="2025-04-17T04:01:37.428" v="175" actId="403"/>
          <ac:spMkLst>
            <pc:docMk/>
            <pc:sldMk cId="2201624131" sldId="304"/>
            <ac:spMk id="8" creationId="{C7497A83-AF49-15A2-63B5-4FED7D4ABEA9}"/>
          </ac:spMkLst>
        </pc:spChg>
        <pc:picChg chg="add mod">
          <ac:chgData name="Ramya S" userId="d067a2591a2deb7a" providerId="LiveId" clId="{A52E2B9C-A7DF-450B-8371-7995AD9DDF7B}" dt="2025-04-17T04:01:28.649" v="174" actId="1076"/>
          <ac:picMkLst>
            <pc:docMk/>
            <pc:sldMk cId="2201624131" sldId="304"/>
            <ac:picMk id="3" creationId="{68A030CD-1770-FF05-8CE9-DBC932BACDC7}"/>
          </ac:picMkLst>
        </pc:picChg>
        <pc:picChg chg="del mod">
          <ac:chgData name="Ramya S" userId="d067a2591a2deb7a" providerId="LiveId" clId="{A52E2B9C-A7DF-450B-8371-7995AD9DDF7B}" dt="2025-04-17T03:59:16.474" v="75" actId="478"/>
          <ac:picMkLst>
            <pc:docMk/>
            <pc:sldMk cId="2201624131" sldId="304"/>
            <ac:picMk id="6" creationId="{330A7587-09E9-B7A6-178D-11732F50945B}"/>
          </ac:picMkLst>
        </pc:picChg>
        <pc:picChg chg="add mod">
          <ac:chgData name="Ramya S" userId="d067a2591a2deb7a" providerId="LiveId" clId="{A52E2B9C-A7DF-450B-8371-7995AD9DDF7B}" dt="2025-04-17T03:59:52.727" v="83" actId="208"/>
          <ac:picMkLst>
            <pc:docMk/>
            <pc:sldMk cId="2201624131" sldId="304"/>
            <ac:picMk id="7" creationId="{83E3DADC-D343-C9A4-70C2-88E4BF33C386}"/>
          </ac:picMkLst>
        </pc:picChg>
      </pc:sldChg>
      <pc:sldChg chg="modSp mod">
        <pc:chgData name="Ramya S" userId="d067a2591a2deb7a" providerId="LiveId" clId="{A52E2B9C-A7DF-450B-8371-7995AD9DDF7B}" dt="2025-04-17T05:13:02.017" v="827" actId="208"/>
        <pc:sldMkLst>
          <pc:docMk/>
          <pc:sldMk cId="3294026346" sldId="306"/>
        </pc:sldMkLst>
        <pc:spChg chg="mod">
          <ac:chgData name="Ramya S" userId="d067a2591a2deb7a" providerId="LiveId" clId="{A52E2B9C-A7DF-450B-8371-7995AD9DDF7B}" dt="2025-04-17T04:07:29.747" v="310" actId="207"/>
          <ac:spMkLst>
            <pc:docMk/>
            <pc:sldMk cId="3294026346" sldId="306"/>
            <ac:spMk id="2" creationId="{B4905BDD-854F-88F4-82F1-6C40699E38D6}"/>
          </ac:spMkLst>
        </pc:spChg>
        <pc:picChg chg="mod">
          <ac:chgData name="Ramya S" userId="d067a2591a2deb7a" providerId="LiveId" clId="{A52E2B9C-A7DF-450B-8371-7995AD9DDF7B}" dt="2025-04-17T05:12:58.778" v="826" actId="208"/>
          <ac:picMkLst>
            <pc:docMk/>
            <pc:sldMk cId="3294026346" sldId="306"/>
            <ac:picMk id="7" creationId="{CD769289-473B-EC2D-23D4-1C81247BC6FF}"/>
          </ac:picMkLst>
        </pc:picChg>
        <pc:picChg chg="mod">
          <ac:chgData name="Ramya S" userId="d067a2591a2deb7a" providerId="LiveId" clId="{A52E2B9C-A7DF-450B-8371-7995AD9DDF7B}" dt="2025-04-17T05:13:02.017" v="827" actId="208"/>
          <ac:picMkLst>
            <pc:docMk/>
            <pc:sldMk cId="3294026346" sldId="306"/>
            <ac:picMk id="10" creationId="{5ED7B5EB-BCB0-E426-C9AF-6394F5F9791D}"/>
          </ac:picMkLst>
        </pc:picChg>
      </pc:sldChg>
      <pc:sldChg chg="addSp delSp modSp add mod ord">
        <pc:chgData name="Ramya S" userId="d067a2591a2deb7a" providerId="LiveId" clId="{A52E2B9C-A7DF-450B-8371-7995AD9DDF7B}" dt="2025-04-17T05:27:59.717" v="896"/>
        <pc:sldMkLst>
          <pc:docMk/>
          <pc:sldMk cId="2502875709" sldId="308"/>
        </pc:sldMkLst>
        <pc:picChg chg="del">
          <ac:chgData name="Ramya S" userId="d067a2591a2deb7a" providerId="LiveId" clId="{A52E2B9C-A7DF-450B-8371-7995AD9DDF7B}" dt="2025-04-17T04:06:38.579" v="302" actId="478"/>
          <ac:picMkLst>
            <pc:docMk/>
            <pc:sldMk cId="2502875709" sldId="308"/>
            <ac:picMk id="3" creationId="{BFE3F5BB-7B85-5F00-106A-1EDF8B250B98}"/>
          </ac:picMkLst>
        </pc:picChg>
        <pc:picChg chg="add mod">
          <ac:chgData name="Ramya S" userId="d067a2591a2deb7a" providerId="LiveId" clId="{A52E2B9C-A7DF-450B-8371-7995AD9DDF7B}" dt="2025-04-17T04:06:55.013" v="307" actId="208"/>
          <ac:picMkLst>
            <pc:docMk/>
            <pc:sldMk cId="2502875709" sldId="308"/>
            <ac:picMk id="6" creationId="{32BD3967-A0B0-BCBD-450D-619FCF52B2FA}"/>
          </ac:picMkLst>
        </pc:picChg>
        <pc:picChg chg="del">
          <ac:chgData name="Ramya S" userId="d067a2591a2deb7a" providerId="LiveId" clId="{A52E2B9C-A7DF-450B-8371-7995AD9DDF7B}" dt="2025-04-17T04:06:36.939" v="301" actId="478"/>
          <ac:picMkLst>
            <pc:docMk/>
            <pc:sldMk cId="2502875709" sldId="308"/>
            <ac:picMk id="7" creationId="{CA95C641-D393-E4E7-954C-413E094A6194}"/>
          </ac:picMkLst>
        </pc:picChg>
      </pc:sldChg>
      <pc:sldChg chg="addSp delSp modSp add mod ord">
        <pc:chgData name="Ramya S" userId="d067a2591a2deb7a" providerId="LiveId" clId="{A52E2B9C-A7DF-450B-8371-7995AD9DDF7B}" dt="2025-04-17T05:26:45.266" v="894"/>
        <pc:sldMkLst>
          <pc:docMk/>
          <pc:sldMk cId="3244279519" sldId="309"/>
        </pc:sldMkLst>
        <pc:spChg chg="del mod">
          <ac:chgData name="Ramya S" userId="d067a2591a2deb7a" providerId="LiveId" clId="{A52E2B9C-A7DF-450B-8371-7995AD9DDF7B}" dt="2025-04-17T04:15:05.643" v="316"/>
          <ac:spMkLst>
            <pc:docMk/>
            <pc:sldMk cId="3244279519" sldId="309"/>
            <ac:spMk id="10" creationId="{6FC680FF-6448-729C-4C7D-49223F591926}"/>
          </ac:spMkLst>
        </pc:spChg>
        <pc:picChg chg="add mod">
          <ac:chgData name="Ramya S" userId="d067a2591a2deb7a" providerId="LiveId" clId="{A52E2B9C-A7DF-450B-8371-7995AD9DDF7B}" dt="2025-04-17T04:15:09.930" v="317" actId="208"/>
          <ac:picMkLst>
            <pc:docMk/>
            <pc:sldMk cId="3244279519" sldId="309"/>
            <ac:picMk id="4" creationId="{44BC9843-5C5B-F8DE-834E-EC1F57487AC7}"/>
          </ac:picMkLst>
        </pc:picChg>
      </pc:sldChg>
      <pc:sldChg chg="new del">
        <pc:chgData name="Ramya S" userId="d067a2591a2deb7a" providerId="LiveId" clId="{A52E2B9C-A7DF-450B-8371-7995AD9DDF7B}" dt="2025-04-17T04:15:37.803" v="319" actId="47"/>
        <pc:sldMkLst>
          <pc:docMk/>
          <pc:sldMk cId="558778464" sldId="310"/>
        </pc:sldMkLst>
      </pc:sldChg>
      <pc:sldChg chg="addSp delSp modSp add mod">
        <pc:chgData name="Ramya S" userId="d067a2591a2deb7a" providerId="LiveId" clId="{A52E2B9C-A7DF-450B-8371-7995AD9DDF7B}" dt="2025-04-17T04:16:48.058" v="328" actId="208"/>
        <pc:sldMkLst>
          <pc:docMk/>
          <pc:sldMk cId="2155931467" sldId="310"/>
        </pc:sldMkLst>
        <pc:spChg chg="del mod">
          <ac:chgData name="Ramya S" userId="d067a2591a2deb7a" providerId="LiveId" clId="{A52E2B9C-A7DF-450B-8371-7995AD9DDF7B}" dt="2025-04-17T04:16:39.337" v="327"/>
          <ac:spMkLst>
            <pc:docMk/>
            <pc:sldMk cId="2155931467" sldId="310"/>
            <ac:spMk id="10" creationId="{8C7B8B13-3FF0-80A6-13B9-7375A4BDB40B}"/>
          </ac:spMkLst>
        </pc:spChg>
        <pc:picChg chg="add mod">
          <ac:chgData name="Ramya S" userId="d067a2591a2deb7a" providerId="LiveId" clId="{A52E2B9C-A7DF-450B-8371-7995AD9DDF7B}" dt="2025-04-17T04:16:48.058" v="328" actId="208"/>
          <ac:picMkLst>
            <pc:docMk/>
            <pc:sldMk cId="2155931467" sldId="310"/>
            <ac:picMk id="4" creationId="{0D6D48BE-808C-3628-F7EF-5DFB8154F20B}"/>
          </ac:picMkLst>
        </pc:picChg>
      </pc:sldChg>
      <pc:sldChg chg="addSp modSp add mod ord">
        <pc:chgData name="Ramya S" userId="d067a2591a2deb7a" providerId="LiveId" clId="{A52E2B9C-A7DF-450B-8371-7995AD9DDF7B}" dt="2025-04-17T05:23:41.319" v="842" actId="113"/>
        <pc:sldMkLst>
          <pc:docMk/>
          <pc:sldMk cId="911978042" sldId="311"/>
        </pc:sldMkLst>
        <pc:spChg chg="mod">
          <ac:chgData name="Ramya S" userId="d067a2591a2deb7a" providerId="LiveId" clId="{A52E2B9C-A7DF-450B-8371-7995AD9DDF7B}" dt="2025-04-17T04:18:20.137" v="351" actId="20577"/>
          <ac:spMkLst>
            <pc:docMk/>
            <pc:sldMk cId="911978042" sldId="311"/>
            <ac:spMk id="2" creationId="{1AB08FC4-63C2-B159-3581-159586FD8BBB}"/>
          </ac:spMkLst>
        </pc:spChg>
        <pc:spChg chg="mod">
          <ac:chgData name="Ramya S" userId="d067a2591a2deb7a" providerId="LiveId" clId="{A52E2B9C-A7DF-450B-8371-7995AD9DDF7B}" dt="2025-04-17T05:23:41.319" v="842" actId="113"/>
          <ac:spMkLst>
            <pc:docMk/>
            <pc:sldMk cId="911978042" sldId="311"/>
            <ac:spMk id="3" creationId="{E3D44C7E-741A-E715-76A2-28EE9577041B}"/>
          </ac:spMkLst>
        </pc:spChg>
        <pc:spChg chg="add">
          <ac:chgData name="Ramya S" userId="d067a2591a2deb7a" providerId="LiveId" clId="{A52E2B9C-A7DF-450B-8371-7995AD9DDF7B}" dt="2025-04-17T05:22:21.170" v="831"/>
          <ac:spMkLst>
            <pc:docMk/>
            <pc:sldMk cId="911978042" sldId="311"/>
            <ac:spMk id="5" creationId="{3B3605A0-7639-F8EA-746F-F8CE896DC20D}"/>
          </ac:spMkLst>
        </pc:spChg>
        <pc:spChg chg="add">
          <ac:chgData name="Ramya S" userId="d067a2591a2deb7a" providerId="LiveId" clId="{A52E2B9C-A7DF-450B-8371-7995AD9DDF7B}" dt="2025-04-17T05:22:44.770" v="834"/>
          <ac:spMkLst>
            <pc:docMk/>
            <pc:sldMk cId="911978042" sldId="311"/>
            <ac:spMk id="6" creationId="{A9D3FAA0-FB1B-95F0-253C-7E90CB14D298}"/>
          </ac:spMkLst>
        </pc:spChg>
      </pc:sldChg>
      <pc:sldChg chg="addSp delSp modSp add mod ord">
        <pc:chgData name="Ramya S" userId="d067a2591a2deb7a" providerId="LiveId" clId="{A52E2B9C-A7DF-450B-8371-7995AD9DDF7B}" dt="2025-04-17T05:07:12.540" v="657"/>
        <pc:sldMkLst>
          <pc:docMk/>
          <pc:sldMk cId="3746525859" sldId="312"/>
        </pc:sldMkLst>
        <pc:spChg chg="mod">
          <ac:chgData name="Ramya S" userId="d067a2591a2deb7a" providerId="LiveId" clId="{A52E2B9C-A7DF-450B-8371-7995AD9DDF7B}" dt="2025-04-17T04:29:19.212" v="514" actId="113"/>
          <ac:spMkLst>
            <pc:docMk/>
            <pc:sldMk cId="3746525859" sldId="312"/>
            <ac:spMk id="3" creationId="{A84B06A5-8BD8-12D3-845D-D0B04EF9366D}"/>
          </ac:spMkLst>
        </pc:spChg>
        <pc:picChg chg="add mod">
          <ac:chgData name="Ramya S" userId="d067a2591a2deb7a" providerId="LiveId" clId="{A52E2B9C-A7DF-450B-8371-7995AD9DDF7B}" dt="2025-04-17T04:27:04.272" v="475" actId="1076"/>
          <ac:picMkLst>
            <pc:docMk/>
            <pc:sldMk cId="3746525859" sldId="312"/>
            <ac:picMk id="6" creationId="{60086FA7-78BC-FA18-C0CA-EFE10690E60C}"/>
          </ac:picMkLst>
        </pc:picChg>
        <pc:picChg chg="add del mod">
          <ac:chgData name="Ramya S" userId="d067a2591a2deb7a" providerId="LiveId" clId="{A52E2B9C-A7DF-450B-8371-7995AD9DDF7B}" dt="2025-04-17T04:27:28.109" v="481" actId="22"/>
          <ac:picMkLst>
            <pc:docMk/>
            <pc:sldMk cId="3746525859" sldId="312"/>
            <ac:picMk id="8" creationId="{6CDC8C1A-55F1-B230-8BD3-E2061C3B1B31}"/>
          </ac:picMkLst>
        </pc:picChg>
        <pc:picChg chg="add mod">
          <ac:chgData name="Ramya S" userId="d067a2591a2deb7a" providerId="LiveId" clId="{A52E2B9C-A7DF-450B-8371-7995AD9DDF7B}" dt="2025-04-17T04:27:57.017" v="488" actId="1076"/>
          <ac:picMkLst>
            <pc:docMk/>
            <pc:sldMk cId="3746525859" sldId="312"/>
            <ac:picMk id="10" creationId="{1ED7E497-BF49-5FDC-14F2-CE1F29538FCC}"/>
          </ac:picMkLst>
        </pc:picChg>
        <pc:picChg chg="add mod">
          <ac:chgData name="Ramya S" userId="d067a2591a2deb7a" providerId="LiveId" clId="{A52E2B9C-A7DF-450B-8371-7995AD9DDF7B}" dt="2025-04-17T04:27:59.064" v="489" actId="1076"/>
          <ac:picMkLst>
            <pc:docMk/>
            <pc:sldMk cId="3746525859" sldId="312"/>
            <ac:picMk id="12" creationId="{4F4A9F74-6659-16DD-9DB4-B178076DEF8E}"/>
          </ac:picMkLst>
        </pc:picChg>
      </pc:sldChg>
      <pc:sldChg chg="addSp delSp modSp add mod ord">
        <pc:chgData name="Ramya S" userId="d067a2591a2deb7a" providerId="LiveId" clId="{A52E2B9C-A7DF-450B-8371-7995AD9DDF7B}" dt="2025-04-17T05:07:15.635" v="659"/>
        <pc:sldMkLst>
          <pc:docMk/>
          <pc:sldMk cId="1593221984" sldId="313"/>
        </pc:sldMkLst>
        <pc:spChg chg="mod">
          <ac:chgData name="Ramya S" userId="d067a2591a2deb7a" providerId="LiveId" clId="{A52E2B9C-A7DF-450B-8371-7995AD9DDF7B}" dt="2025-04-17T04:30:12.947" v="538" actId="20577"/>
          <ac:spMkLst>
            <pc:docMk/>
            <pc:sldMk cId="1593221984" sldId="313"/>
            <ac:spMk id="3" creationId="{1D35DE89-4077-7FCA-57DD-DBF78D9DBD85}"/>
          </ac:spMkLst>
        </pc:spChg>
        <pc:picChg chg="del">
          <ac:chgData name="Ramya S" userId="d067a2591a2deb7a" providerId="LiveId" clId="{A52E2B9C-A7DF-450B-8371-7995AD9DDF7B}" dt="2025-04-17T04:28:37.543" v="492" actId="478"/>
          <ac:picMkLst>
            <pc:docMk/>
            <pc:sldMk cId="1593221984" sldId="313"/>
            <ac:picMk id="6" creationId="{45633112-4AFB-A40B-3A5C-663C567C666B}"/>
          </ac:picMkLst>
        </pc:picChg>
        <pc:picChg chg="add mod">
          <ac:chgData name="Ramya S" userId="d067a2591a2deb7a" providerId="LiveId" clId="{A52E2B9C-A7DF-450B-8371-7995AD9DDF7B}" dt="2025-04-17T04:30:28.712" v="540" actId="1076"/>
          <ac:picMkLst>
            <pc:docMk/>
            <pc:sldMk cId="1593221984" sldId="313"/>
            <ac:picMk id="7" creationId="{B24B806A-6790-A96B-33C0-4C5AAF99ABF0}"/>
          </ac:picMkLst>
        </pc:picChg>
        <pc:picChg chg="del">
          <ac:chgData name="Ramya S" userId="d067a2591a2deb7a" providerId="LiveId" clId="{A52E2B9C-A7DF-450B-8371-7995AD9DDF7B}" dt="2025-04-17T04:28:38.452" v="493" actId="478"/>
          <ac:picMkLst>
            <pc:docMk/>
            <pc:sldMk cId="1593221984" sldId="313"/>
            <ac:picMk id="10" creationId="{EA1798E7-564D-1026-ADC1-43E53DCDABD2}"/>
          </ac:picMkLst>
        </pc:picChg>
        <pc:picChg chg="del">
          <ac:chgData name="Ramya S" userId="d067a2591a2deb7a" providerId="LiveId" clId="{A52E2B9C-A7DF-450B-8371-7995AD9DDF7B}" dt="2025-04-17T04:28:39.061" v="494" actId="478"/>
          <ac:picMkLst>
            <pc:docMk/>
            <pc:sldMk cId="1593221984" sldId="313"/>
            <ac:picMk id="12" creationId="{E4DFEB08-5223-CD8F-629D-566D30DAD2A2}"/>
          </ac:picMkLst>
        </pc:picChg>
      </pc:sldChg>
      <pc:sldChg chg="addSp delSp modSp add mod">
        <pc:chgData name="Ramya S" userId="d067a2591a2deb7a" providerId="LiveId" clId="{A52E2B9C-A7DF-450B-8371-7995AD9DDF7B}" dt="2025-04-17T05:05:17.864" v="642" actId="122"/>
        <pc:sldMkLst>
          <pc:docMk/>
          <pc:sldMk cId="2390429630" sldId="314"/>
        </pc:sldMkLst>
        <pc:spChg chg="mod">
          <ac:chgData name="Ramya S" userId="d067a2591a2deb7a" providerId="LiveId" clId="{A52E2B9C-A7DF-450B-8371-7995AD9DDF7B}" dt="2025-04-17T04:59:57.898" v="568" actId="20577"/>
          <ac:spMkLst>
            <pc:docMk/>
            <pc:sldMk cId="2390429630" sldId="314"/>
            <ac:spMk id="2" creationId="{83194728-821D-C36D-2FF6-703A6A4B8CD9}"/>
          </ac:spMkLst>
        </pc:spChg>
        <pc:spChg chg="add mod">
          <ac:chgData name="Ramya S" userId="d067a2591a2deb7a" providerId="LiveId" clId="{A52E2B9C-A7DF-450B-8371-7995AD9DDF7B}" dt="2025-04-17T05:05:17.864" v="642" actId="122"/>
          <ac:spMkLst>
            <pc:docMk/>
            <pc:sldMk cId="2390429630" sldId="314"/>
            <ac:spMk id="7" creationId="{90E95079-548E-1DE2-DE6A-5C284F890B9A}"/>
          </ac:spMkLst>
        </pc:spChg>
        <pc:picChg chg="add mod">
          <ac:chgData name="Ramya S" userId="d067a2591a2deb7a" providerId="LiveId" clId="{A52E2B9C-A7DF-450B-8371-7995AD9DDF7B}" dt="2025-04-17T05:03:59.941" v="576" actId="208"/>
          <ac:picMkLst>
            <pc:docMk/>
            <pc:sldMk cId="2390429630" sldId="314"/>
            <ac:picMk id="5" creationId="{AA81520F-CA53-0EA4-202E-BB313D1F139D}"/>
          </ac:picMkLst>
        </pc:picChg>
        <pc:picChg chg="del">
          <ac:chgData name="Ramya S" userId="d067a2591a2deb7a" providerId="LiveId" clId="{A52E2B9C-A7DF-450B-8371-7995AD9DDF7B}" dt="2025-04-17T05:00:00.778" v="569" actId="478"/>
          <ac:picMkLst>
            <pc:docMk/>
            <pc:sldMk cId="2390429630" sldId="314"/>
            <ac:picMk id="6" creationId="{E702478E-9346-D808-12D7-BB1B179AA85C}"/>
          </ac:picMkLst>
        </pc:picChg>
      </pc:sldChg>
      <pc:sldChg chg="addSp modSp add mod ord">
        <pc:chgData name="Ramya S" userId="d067a2591a2deb7a" providerId="LiveId" clId="{A52E2B9C-A7DF-450B-8371-7995AD9DDF7B}" dt="2025-04-17T05:13:09.225" v="828" actId="208"/>
        <pc:sldMkLst>
          <pc:docMk/>
          <pc:sldMk cId="832382013" sldId="315"/>
        </pc:sldMkLst>
        <pc:spChg chg="add mod">
          <ac:chgData name="Ramya S" userId="d067a2591a2deb7a" providerId="LiveId" clId="{A52E2B9C-A7DF-450B-8371-7995AD9DDF7B}" dt="2025-04-17T05:12:10.037" v="821" actId="20577"/>
          <ac:spMkLst>
            <pc:docMk/>
            <pc:sldMk cId="832382013" sldId="315"/>
            <ac:spMk id="6" creationId="{65EA261B-0612-34F2-35A1-48E1F9519191}"/>
          </ac:spMkLst>
        </pc:spChg>
        <pc:picChg chg="add mod">
          <ac:chgData name="Ramya S" userId="d067a2591a2deb7a" providerId="LiveId" clId="{A52E2B9C-A7DF-450B-8371-7995AD9DDF7B}" dt="2025-04-17T05:13:09.225" v="828" actId="208"/>
          <ac:picMkLst>
            <pc:docMk/>
            <pc:sldMk cId="832382013" sldId="315"/>
            <ac:picMk id="5" creationId="{E34B752C-FB41-94DD-DD72-9F02DBBE8138}"/>
          </ac:picMkLst>
        </pc:picChg>
      </pc:sldChg>
      <pc:sldChg chg="addSp modSp add mod">
        <pc:chgData name="Ramya S" userId="d067a2591a2deb7a" providerId="LiveId" clId="{A52E2B9C-A7DF-450B-8371-7995AD9DDF7B}" dt="2025-04-17T05:25:13.177" v="857" actId="20577"/>
        <pc:sldMkLst>
          <pc:docMk/>
          <pc:sldMk cId="3249461652" sldId="316"/>
        </pc:sldMkLst>
        <pc:spChg chg="mod">
          <ac:chgData name="Ramya S" userId="d067a2591a2deb7a" providerId="LiveId" clId="{A52E2B9C-A7DF-450B-8371-7995AD9DDF7B}" dt="2025-04-17T05:25:13.177" v="857" actId="20577"/>
          <ac:spMkLst>
            <pc:docMk/>
            <pc:sldMk cId="3249461652" sldId="316"/>
            <ac:spMk id="3" creationId="{27A646A6-A8B3-DFB6-40E6-DBE6ABBA62AE}"/>
          </ac:spMkLst>
        </pc:spChg>
        <pc:spChg chg="add">
          <ac:chgData name="Ramya S" userId="d067a2591a2deb7a" providerId="LiveId" clId="{A52E2B9C-A7DF-450B-8371-7995AD9DDF7B}" dt="2025-04-17T05:24:17.455" v="846"/>
          <ac:spMkLst>
            <pc:docMk/>
            <pc:sldMk cId="3249461652" sldId="316"/>
            <ac:spMk id="5" creationId="{287D7995-1BF5-FC2D-692D-1582398175A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2838B7-C5C7-4238-BA20-1BCC52B40BB6}" type="datetimeFigureOut">
              <a:rPr lang="en-IN" smtClean="0"/>
              <a:t>30-04-2025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77CAD6-4539-45E5-BA71-2045B8D26C4A}" type="slidenum">
              <a:rPr lang="en-IN" smtClean="0"/>
              <a:t>‹#›</a:t>
            </a:fld>
            <a:endParaRPr lang="en-IN"/>
          </a:p>
        </p:txBody>
      </p:sp>
    </p:spTree>
    <p:extLst>
      <p:ext uri="{BB962C8B-B14F-4D97-AF65-F5344CB8AC3E}">
        <p14:creationId xmlns:p14="http://schemas.microsoft.com/office/powerpoint/2010/main" val="1385663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C77CAD6-4539-45E5-BA71-2045B8D26C4A}" type="slidenum">
              <a:rPr lang="en-IN" smtClean="0"/>
              <a:t>19</a:t>
            </a:fld>
            <a:endParaRPr lang="en-IN"/>
          </a:p>
        </p:txBody>
      </p:sp>
    </p:spTree>
    <p:extLst>
      <p:ext uri="{BB962C8B-B14F-4D97-AF65-F5344CB8AC3E}">
        <p14:creationId xmlns:p14="http://schemas.microsoft.com/office/powerpoint/2010/main" val="1827863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C77CAD6-4539-45E5-BA71-2045B8D26C4A}" type="slidenum">
              <a:rPr lang="en-IN" smtClean="0"/>
              <a:t>28</a:t>
            </a:fld>
            <a:endParaRPr lang="en-IN"/>
          </a:p>
        </p:txBody>
      </p:sp>
    </p:spTree>
    <p:extLst>
      <p:ext uri="{BB962C8B-B14F-4D97-AF65-F5344CB8AC3E}">
        <p14:creationId xmlns:p14="http://schemas.microsoft.com/office/powerpoint/2010/main" val="449478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E6030-71FC-8F35-B6A6-E684BC80D0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DB7347-3F59-23E9-6F9E-4E5ACF450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F9C1C4-12AA-2E25-797D-F93245FE6F7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D3206A2-1097-FE2C-8D4B-A14497E5CF1E}"/>
              </a:ext>
            </a:extLst>
          </p:cNvPr>
          <p:cNvSpPr>
            <a:spLocks noGrp="1"/>
          </p:cNvSpPr>
          <p:nvPr>
            <p:ph type="sldNum" sz="quarter" idx="5"/>
          </p:nvPr>
        </p:nvSpPr>
        <p:spPr/>
        <p:txBody>
          <a:bodyPr/>
          <a:lstStyle/>
          <a:p>
            <a:fld id="{EC77CAD6-4539-45E5-BA71-2045B8D26C4A}" type="slidenum">
              <a:rPr lang="en-IN" smtClean="0"/>
              <a:t>29</a:t>
            </a:fld>
            <a:endParaRPr lang="en-IN"/>
          </a:p>
        </p:txBody>
      </p:sp>
    </p:spTree>
    <p:extLst>
      <p:ext uri="{BB962C8B-B14F-4D97-AF65-F5344CB8AC3E}">
        <p14:creationId xmlns:p14="http://schemas.microsoft.com/office/powerpoint/2010/main" val="2290031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E9BE6-0D81-B50A-D6FD-31BE151EF2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91319-1DAF-789C-0BCE-B14B00C450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5E2D38-910F-5C1C-2174-5CFA296EDCA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F943286-A89F-D5CF-E07B-6A0263A6B3F3}"/>
              </a:ext>
            </a:extLst>
          </p:cNvPr>
          <p:cNvSpPr>
            <a:spLocks noGrp="1"/>
          </p:cNvSpPr>
          <p:nvPr>
            <p:ph type="sldNum" sz="quarter" idx="5"/>
          </p:nvPr>
        </p:nvSpPr>
        <p:spPr/>
        <p:txBody>
          <a:bodyPr/>
          <a:lstStyle/>
          <a:p>
            <a:fld id="{EC77CAD6-4539-45E5-BA71-2045B8D26C4A}" type="slidenum">
              <a:rPr lang="en-IN" smtClean="0"/>
              <a:t>30</a:t>
            </a:fld>
            <a:endParaRPr lang="en-IN"/>
          </a:p>
        </p:txBody>
      </p:sp>
    </p:spTree>
    <p:extLst>
      <p:ext uri="{BB962C8B-B14F-4D97-AF65-F5344CB8AC3E}">
        <p14:creationId xmlns:p14="http://schemas.microsoft.com/office/powerpoint/2010/main" val="1920013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C77CAD6-4539-45E5-BA71-2045B8D26C4A}" type="slidenum">
              <a:rPr lang="en-IN" smtClean="0"/>
              <a:t>43</a:t>
            </a:fld>
            <a:endParaRPr lang="en-IN"/>
          </a:p>
        </p:txBody>
      </p:sp>
    </p:spTree>
    <p:extLst>
      <p:ext uri="{BB962C8B-B14F-4D97-AF65-F5344CB8AC3E}">
        <p14:creationId xmlns:p14="http://schemas.microsoft.com/office/powerpoint/2010/main" val="323474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B62FA64-7B2A-4329-B367-CCB32DA9DC6A}" type="datetime1">
              <a:rPr lang="en-US" smtClean="0"/>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79F5C4-1911-4A07-8178-156CED9EE6C3}" type="datetime1">
              <a:rPr lang="en-US" smtClean="0"/>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7BF215-F1E2-4929-9738-1500F674E2CA}" type="datetime1">
              <a:rPr lang="en-US" smtClean="0"/>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44CFD2-6296-455B-92DC-F171A176103C}" type="datetime1">
              <a:rPr lang="en-US" smtClean="0"/>
              <a:t>4/30/2025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DEC920-117B-45C5-B9B7-B36BB6F27DD1}" type="datetime1">
              <a:rPr lang="en-US" smtClean="0"/>
              <a:t>4/30/2025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1D1A7D-4B2B-41A4-810C-AADECC481AAF}" type="datetime1">
              <a:rPr lang="en-US" smtClean="0"/>
              <a:t>4/30/2025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512D098-D392-4630-8FB7-4F60B2FE4E37}" type="datetime1">
              <a:rPr lang="en-US" smtClean="0"/>
              <a:t>4/30/2025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6455319-5C7E-4E03-8D51-E48B71D6CDA0}" type="datetime1">
              <a:rPr lang="en-US" smtClean="0"/>
              <a:t>4/30/2025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353657-00E9-4705-805C-48A6F98A6FED}" type="datetime1">
              <a:rPr lang="en-US" smtClean="0"/>
              <a:t>4/30/2025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048FF8-560E-4F5A-B886-C4064111955B}" type="datetime1">
              <a:rPr lang="en-US" smtClean="0"/>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ACE8AC-F9AE-4A2D-842F-40708B635BC6}" type="datetime1">
              <a:rPr lang="en-US" smtClean="0"/>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84B2597-95DF-4E14-90C7-91937F58CEE3}" type="datetime1">
              <a:rPr lang="en-US" smtClean="0"/>
              <a:t>4/30/2025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3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1DB27-CC86-0826-9C8D-42E64083A273}"/>
              </a:ext>
            </a:extLst>
          </p:cNvPr>
          <p:cNvSpPr>
            <a:spLocks noGrp="1"/>
          </p:cNvSpPr>
          <p:nvPr>
            <p:ph type="ctrTitle"/>
          </p:nvPr>
        </p:nvSpPr>
        <p:spPr>
          <a:xfrm>
            <a:off x="1097280" y="720436"/>
            <a:ext cx="10058400" cy="2927928"/>
          </a:xfrm>
        </p:spPr>
        <p:txBody>
          <a:bodyPr>
            <a:normAutofit fontScale="90000"/>
          </a:bodyPr>
          <a:lstStyle/>
          <a:p>
            <a:pPr algn="ctr">
              <a:lnSpc>
                <a:spcPct val="107000"/>
              </a:lnSpc>
              <a:spcAft>
                <a:spcPts val="800"/>
              </a:spcAft>
            </a:pP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2800" b="1" kern="100" dirty="0">
                <a:effectLst/>
                <a:latin typeface="Calibri" panose="020F0502020204030204" pitchFamily="34" charset="0"/>
                <a:ea typeface="Calibri" panose="020F0502020204030204" pitchFamily="34" charset="0"/>
                <a:cs typeface="Calibri" panose="020F0502020204030204" pitchFamily="34" charset="0"/>
              </a:rPr>
            </a:br>
            <a:br>
              <a:rPr lang="en-IN" sz="4000" b="1" kern="100" dirty="0">
                <a:effectLst/>
                <a:latin typeface="Calibri" panose="020F0502020204030204" pitchFamily="34" charset="0"/>
                <a:ea typeface="Calibri" panose="020F0502020204030204" pitchFamily="34" charset="0"/>
                <a:cs typeface="Times New Roman" panose="02020603050405020304" pitchFamily="18" charset="0"/>
              </a:rPr>
            </a:br>
            <a:r>
              <a:rPr lang="en-IN" sz="4000" b="1" kern="100" dirty="0">
                <a:effectLst/>
                <a:latin typeface="Calibri" panose="020F0502020204030204" pitchFamily="34" charset="0"/>
                <a:ea typeface="Calibri" panose="020F0502020204030204" pitchFamily="34" charset="0"/>
                <a:cs typeface="Calibri" panose="020F0502020204030204" pitchFamily="34" charset="0"/>
              </a:rPr>
              <a:t>CS6811-PROJECT WORK</a:t>
            </a:r>
            <a:br>
              <a:rPr lang="en-IN" sz="4000" b="1" kern="100" dirty="0">
                <a:effectLst/>
                <a:latin typeface="Calibri" panose="020F0502020204030204" pitchFamily="34" charset="0"/>
                <a:ea typeface="Calibri" panose="020F0502020204030204" pitchFamily="34" charset="0"/>
                <a:cs typeface="Calibri" panose="020F0502020204030204" pitchFamily="34" charset="0"/>
              </a:rPr>
            </a:br>
            <a:r>
              <a:rPr lang="en-IN" sz="4000" b="1" kern="100" dirty="0">
                <a:effectLst/>
                <a:latin typeface="Calibri" panose="020F0502020204030204" pitchFamily="34" charset="0"/>
                <a:ea typeface="Calibri" panose="020F0502020204030204" pitchFamily="34" charset="0"/>
                <a:cs typeface="Calibri" panose="020F0502020204030204" pitchFamily="34" charset="0"/>
              </a:rPr>
              <a:t>TEAM-46</a:t>
            </a:r>
            <a:endParaRPr lang="en-IN" sz="115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2CE6B786-3EC4-E0D8-4597-35326CDF9A89}"/>
              </a:ext>
            </a:extLst>
          </p:cNvPr>
          <p:cNvSpPr>
            <a:spLocks noGrp="1"/>
          </p:cNvSpPr>
          <p:nvPr>
            <p:ph type="subTitle" idx="1"/>
          </p:nvPr>
        </p:nvSpPr>
        <p:spPr>
          <a:xfrm>
            <a:off x="1100051" y="4455619"/>
            <a:ext cx="10058400" cy="1825107"/>
          </a:xfrm>
        </p:spPr>
        <p:txBody>
          <a:bodyPr>
            <a:normAutofit/>
          </a:bodyPr>
          <a:lstStyle/>
          <a:p>
            <a:pPr defTabSz="457200">
              <a:lnSpc>
                <a:spcPct val="100000"/>
              </a:lnSpc>
              <a:spcBef>
                <a:spcPts val="0"/>
              </a:spcBef>
            </a:pPr>
            <a:r>
              <a:rPr lang="en-IN" sz="1800" b="1" dirty="0">
                <a:solidFill>
                  <a:schemeClr val="tx1"/>
                </a:solidFill>
                <a:latin typeface="Calibri" panose="020F0502020204030204" pitchFamily="34" charset="0"/>
                <a:cs typeface="Calibri" panose="020F0502020204030204" pitchFamily="34" charset="0"/>
              </a:rPr>
              <a:t>PROJECT GUIDE : DR. P. </a:t>
            </a:r>
            <a:r>
              <a:rPr lang="en-IN" sz="1800" b="1" dirty="0" err="1">
                <a:solidFill>
                  <a:schemeClr val="tx1"/>
                </a:solidFill>
                <a:latin typeface="Calibri" panose="020F0502020204030204" pitchFamily="34" charset="0"/>
                <a:cs typeface="Calibri" panose="020F0502020204030204" pitchFamily="34" charset="0"/>
              </a:rPr>
              <a:t>Pabitha</a:t>
            </a:r>
            <a:endParaRPr lang="en-IN" sz="1800" b="1" dirty="0">
              <a:solidFill>
                <a:schemeClr val="tx1"/>
              </a:solidFill>
              <a:latin typeface="Calibri" panose="020F0502020204030204" pitchFamily="34" charset="0"/>
              <a:cs typeface="Calibri" panose="020F0502020204030204" pitchFamily="34" charset="0"/>
            </a:endParaRPr>
          </a:p>
          <a:p>
            <a:pPr defTabSz="457200">
              <a:lnSpc>
                <a:spcPct val="100000"/>
              </a:lnSpc>
              <a:spcBef>
                <a:spcPts val="0"/>
              </a:spcBef>
            </a:pPr>
            <a:r>
              <a:rPr lang="en-IN" sz="1800" dirty="0">
                <a:solidFill>
                  <a:schemeClr val="tx1"/>
                </a:solidFill>
                <a:latin typeface="Calibri" panose="020F0502020204030204" pitchFamily="34" charset="0"/>
                <a:cs typeface="Calibri" panose="020F0502020204030204" pitchFamily="34" charset="0"/>
              </a:rPr>
              <a:t>Associate professor,</a:t>
            </a:r>
          </a:p>
          <a:p>
            <a:pPr defTabSz="457200">
              <a:lnSpc>
                <a:spcPct val="100000"/>
              </a:lnSpc>
              <a:spcBef>
                <a:spcPts val="0"/>
              </a:spcBef>
            </a:pPr>
            <a:r>
              <a:rPr lang="en-IN" sz="1800" dirty="0">
                <a:solidFill>
                  <a:schemeClr val="tx1"/>
                </a:solidFill>
                <a:latin typeface="Calibri" panose="020F0502020204030204" pitchFamily="34" charset="0"/>
                <a:cs typeface="Calibri" panose="020F0502020204030204" pitchFamily="34" charset="0"/>
              </a:rPr>
              <a:t>Department of computer technology,</a:t>
            </a:r>
          </a:p>
          <a:p>
            <a:pPr defTabSz="457200">
              <a:lnSpc>
                <a:spcPct val="100000"/>
              </a:lnSpc>
              <a:spcBef>
                <a:spcPts val="0"/>
              </a:spcBef>
            </a:pPr>
            <a:r>
              <a:rPr lang="en-IN" sz="1800" dirty="0">
                <a:solidFill>
                  <a:schemeClr val="tx1"/>
                </a:solidFill>
                <a:latin typeface="Calibri" panose="020F0502020204030204" pitchFamily="34" charset="0"/>
                <a:cs typeface="Calibri" panose="020F0502020204030204" pitchFamily="34" charset="0"/>
              </a:rPr>
              <a:t>Anna university.</a:t>
            </a:r>
          </a:p>
          <a:p>
            <a:pPr defTabSz="457200">
              <a:lnSpc>
                <a:spcPct val="100000"/>
              </a:lnSpc>
              <a:spcBef>
                <a:spcPts val="0"/>
              </a:spcBef>
            </a:pPr>
            <a:endParaRPr lang="en-IN" sz="1800"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A9B86FE-336B-E018-2254-981506AA5959}"/>
              </a:ext>
            </a:extLst>
          </p:cNvPr>
          <p:cNvSpPr txBox="1"/>
          <p:nvPr/>
        </p:nvSpPr>
        <p:spPr>
          <a:xfrm>
            <a:off x="7980218" y="4608945"/>
            <a:ext cx="3111731" cy="2761782"/>
          </a:xfrm>
          <a:prstGeom prst="rect">
            <a:avLst/>
          </a:prstGeom>
          <a:noFill/>
        </p:spPr>
        <p:txBody>
          <a:bodyPr wrap="square" rtlCol="0">
            <a:spAutoFit/>
          </a:bodyPr>
          <a:lstStyle/>
          <a:p>
            <a:pPr>
              <a:lnSpc>
                <a:spcPct val="90000"/>
              </a:lnSpc>
              <a:spcBef>
                <a:spcPts val="1200"/>
              </a:spcBef>
              <a:spcAft>
                <a:spcPts val="200"/>
              </a:spcAft>
              <a:buClr>
                <a:schemeClr val="accent1"/>
              </a:buClr>
              <a:buSzPct val="100000"/>
            </a:pPr>
            <a:r>
              <a:rPr lang="en-IN" b="1" dirty="0">
                <a:solidFill>
                  <a:schemeClr val="tx1"/>
                </a:solidFill>
                <a:latin typeface="Calibri" panose="020F0502020204030204" pitchFamily="34" charset="0"/>
                <a:cs typeface="Calibri" panose="020F0502020204030204" pitchFamily="34" charset="0"/>
              </a:rPr>
              <a:t>     </a:t>
            </a:r>
            <a:r>
              <a:rPr lang="en-IN" b="1" cap="all" spc="200" dirty="0">
                <a:latin typeface="Calibri" panose="020F0502020204030204" pitchFamily="34" charset="0"/>
                <a:cs typeface="Calibri" panose="020F0502020204030204" pitchFamily="34" charset="0"/>
              </a:rPr>
              <a:t>TEAM MEMBERS</a:t>
            </a:r>
          </a:p>
          <a:p>
            <a:pPr>
              <a:lnSpc>
                <a:spcPct val="90000"/>
              </a:lnSpc>
              <a:spcBef>
                <a:spcPts val="1200"/>
              </a:spcBef>
              <a:spcAft>
                <a:spcPts val="200"/>
              </a:spcAft>
              <a:buClr>
                <a:schemeClr val="accent1"/>
              </a:buClr>
              <a:buSzPct val="100000"/>
            </a:pPr>
            <a:r>
              <a:rPr lang="en-IN" cap="all" spc="200" dirty="0">
                <a:latin typeface="Calibri" panose="020F0502020204030204" pitchFamily="34" charset="0"/>
                <a:cs typeface="Calibri" panose="020F0502020204030204" pitchFamily="34" charset="0"/>
              </a:rPr>
              <a:t>Ramya. S (2021503545)</a:t>
            </a:r>
          </a:p>
          <a:p>
            <a:pPr>
              <a:lnSpc>
                <a:spcPct val="90000"/>
              </a:lnSpc>
              <a:spcBef>
                <a:spcPts val="1200"/>
              </a:spcBef>
              <a:spcAft>
                <a:spcPts val="200"/>
              </a:spcAft>
              <a:buClr>
                <a:schemeClr val="accent1"/>
              </a:buClr>
              <a:buSzPct val="100000"/>
            </a:pPr>
            <a:r>
              <a:rPr lang="en-IN" cap="all" spc="200" dirty="0" err="1">
                <a:latin typeface="Calibri" panose="020F0502020204030204" pitchFamily="34" charset="0"/>
                <a:cs typeface="Calibri" panose="020F0502020204030204" pitchFamily="34" charset="0"/>
              </a:rPr>
              <a:t>Rupesh.A</a:t>
            </a:r>
            <a:r>
              <a:rPr lang="en-IN" cap="all" spc="200" dirty="0">
                <a:latin typeface="Calibri" panose="020F0502020204030204" pitchFamily="34" charset="0"/>
                <a:cs typeface="Calibri" panose="020F0502020204030204" pitchFamily="34" charset="0"/>
              </a:rPr>
              <a:t> (2021503549)</a:t>
            </a:r>
          </a:p>
          <a:p>
            <a:pPr>
              <a:lnSpc>
                <a:spcPct val="90000"/>
              </a:lnSpc>
              <a:spcBef>
                <a:spcPts val="1200"/>
              </a:spcBef>
              <a:spcAft>
                <a:spcPts val="200"/>
              </a:spcAft>
              <a:buClr>
                <a:schemeClr val="accent1"/>
              </a:buClr>
              <a:buSzPct val="100000"/>
            </a:pPr>
            <a:r>
              <a:rPr lang="en-IN" cap="all" spc="200" dirty="0" err="1">
                <a:latin typeface="Calibri" panose="020F0502020204030204" pitchFamily="34" charset="0"/>
                <a:cs typeface="Calibri" panose="020F0502020204030204" pitchFamily="34" charset="0"/>
              </a:rPr>
              <a:t>Akilan.K</a:t>
            </a:r>
            <a:r>
              <a:rPr lang="en-IN" cap="all" spc="200" dirty="0">
                <a:latin typeface="Calibri" panose="020F0502020204030204" pitchFamily="34" charset="0"/>
                <a:cs typeface="Calibri" panose="020F0502020204030204" pitchFamily="34" charset="0"/>
              </a:rPr>
              <a:t> (2021503719)</a:t>
            </a:r>
          </a:p>
          <a:p>
            <a:endParaRPr lang="en-IN" dirty="0"/>
          </a:p>
          <a:p>
            <a:endParaRPr lang="en-IN" dirty="0"/>
          </a:p>
          <a:p>
            <a:endParaRPr lang="en-IN" dirty="0"/>
          </a:p>
          <a:p>
            <a:endParaRPr lang="en-IN" dirty="0"/>
          </a:p>
        </p:txBody>
      </p:sp>
      <p:sp>
        <p:nvSpPr>
          <p:cNvPr id="4" name="Slide Number Placeholder 3">
            <a:extLst>
              <a:ext uri="{FF2B5EF4-FFF2-40B4-BE49-F238E27FC236}">
                <a16:creationId xmlns:a16="http://schemas.microsoft.com/office/drawing/2014/main" id="{81DE94E5-23CC-1F4B-AA9B-A90A12F21FEE}"/>
              </a:ext>
            </a:extLst>
          </p:cNvPr>
          <p:cNvSpPr>
            <a:spLocks noGrp="1"/>
          </p:cNvSpPr>
          <p:nvPr>
            <p:ph type="sldNum" sz="quarter" idx="12"/>
          </p:nvPr>
        </p:nvSpPr>
        <p:spPr/>
        <p:txBody>
          <a:bodyPr/>
          <a:lstStyle/>
          <a:p>
            <a:fld id="{4FAB73BC-B049-4115-A692-8D63A059BFB8}" type="slidenum">
              <a:rPr lang="en-US" smtClean="0"/>
              <a:t>1</a:t>
            </a:fld>
            <a:endParaRPr lang="en-US" dirty="0"/>
          </a:p>
        </p:txBody>
      </p:sp>
    </p:spTree>
    <p:extLst>
      <p:ext uri="{BB962C8B-B14F-4D97-AF65-F5344CB8AC3E}">
        <p14:creationId xmlns:p14="http://schemas.microsoft.com/office/powerpoint/2010/main" val="4238625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DE64C-4C9C-8D06-A87D-7C6AEE4B77A7}"/>
              </a:ext>
            </a:extLst>
          </p:cNvPr>
          <p:cNvSpPr>
            <a:spLocks noGrp="1"/>
          </p:cNvSpPr>
          <p:nvPr>
            <p:ph type="title"/>
          </p:nvPr>
        </p:nvSpPr>
        <p:spPr/>
        <p:txBody>
          <a:bodyPr/>
          <a:lstStyle/>
          <a:p>
            <a:r>
              <a:rPr lang="en-IN" dirty="0">
                <a:solidFill>
                  <a:schemeClr val="tx1"/>
                </a:solidFill>
              </a:rPr>
              <a:t>TITLE</a:t>
            </a:r>
          </a:p>
        </p:txBody>
      </p:sp>
      <p:sp>
        <p:nvSpPr>
          <p:cNvPr id="3" name="Content Placeholder 2">
            <a:extLst>
              <a:ext uri="{FF2B5EF4-FFF2-40B4-BE49-F238E27FC236}">
                <a16:creationId xmlns:a16="http://schemas.microsoft.com/office/drawing/2014/main" id="{5CBCADC3-D68D-D0BC-26FC-7AB2EF7AD131}"/>
              </a:ext>
            </a:extLst>
          </p:cNvPr>
          <p:cNvSpPr>
            <a:spLocks noGrp="1"/>
          </p:cNvSpPr>
          <p:nvPr>
            <p:ph idx="1"/>
          </p:nvPr>
        </p:nvSpPr>
        <p:spPr>
          <a:xfrm>
            <a:off x="1214012" y="2160816"/>
            <a:ext cx="10322992" cy="3698549"/>
          </a:xfrm>
        </p:spPr>
        <p:txBody>
          <a:bodyPr>
            <a:normAutofit/>
          </a:bodyPr>
          <a:lstStyle/>
          <a:p>
            <a:pPr marL="0" indent="0">
              <a:buNone/>
            </a:pPr>
            <a:r>
              <a:rPr lang="en-US" sz="2400" dirty="0" err="1">
                <a:solidFill>
                  <a:schemeClr val="tx1"/>
                </a:solidFill>
              </a:rPr>
              <a:t>AutoML</a:t>
            </a:r>
            <a:r>
              <a:rPr lang="en-US" sz="2400" dirty="0">
                <a:solidFill>
                  <a:schemeClr val="tx1"/>
                </a:solidFill>
              </a:rPr>
              <a:t>-Driven Predictive Analysis for Insights from Analytic Survey Data</a:t>
            </a:r>
            <a:endParaRPr lang="da-DK" sz="2400" dirty="0">
              <a:solidFill>
                <a:schemeClr val="tx1"/>
              </a:solidFill>
            </a:endParaRPr>
          </a:p>
          <a:p>
            <a:pPr marL="0" indent="0">
              <a:lnSpc>
                <a:spcPct val="85000"/>
              </a:lnSpc>
              <a:spcBef>
                <a:spcPct val="0"/>
              </a:spcBef>
              <a:buNone/>
            </a:pPr>
            <a:endParaRPr lang="en-IN" sz="4800" spc="-50" dirty="0">
              <a:solidFill>
                <a:schemeClr val="tx1"/>
              </a:solidFill>
              <a:latin typeface="+mj-lt"/>
              <a:ea typeface="+mj-ea"/>
              <a:cs typeface="+mj-cs"/>
            </a:endParaRPr>
          </a:p>
          <a:p>
            <a:pPr marL="0" indent="0">
              <a:lnSpc>
                <a:spcPct val="85000"/>
              </a:lnSpc>
              <a:spcBef>
                <a:spcPct val="0"/>
              </a:spcBef>
              <a:buNone/>
            </a:pPr>
            <a:r>
              <a:rPr lang="en-IN" sz="4800" spc="-50" dirty="0">
                <a:solidFill>
                  <a:schemeClr val="tx1"/>
                </a:solidFill>
                <a:latin typeface="+mj-lt"/>
                <a:ea typeface="+mj-ea"/>
                <a:cs typeface="+mj-cs"/>
              </a:rPr>
              <a:t>DOMAIN</a:t>
            </a:r>
          </a:p>
          <a:p>
            <a:pPr marL="0" indent="0">
              <a:buNone/>
            </a:pPr>
            <a:r>
              <a:rPr lang="en-IN" sz="1800" dirty="0">
                <a:solidFill>
                  <a:schemeClr val="tx1"/>
                </a:solidFill>
                <a:effectLst/>
                <a:latin typeface="Calibri" panose="020F0502020204030204" pitchFamily="34" charset="0"/>
                <a:ea typeface="Calibri" panose="020F0502020204030204" pitchFamily="34" charset="0"/>
              </a:rPr>
              <a:t>  </a:t>
            </a:r>
            <a:r>
              <a:rPr lang="en-IN" sz="2400" dirty="0">
                <a:solidFill>
                  <a:schemeClr val="tx1"/>
                </a:solidFill>
              </a:rPr>
              <a:t>Artificial Intelligence, Machine Learning, Social Network Analysis.</a:t>
            </a:r>
          </a:p>
          <a:p>
            <a:pPr>
              <a:buFont typeface="Arial" panose="020B0604020202020204" pitchFamily="34" charset="0"/>
              <a:buChar char="•"/>
            </a:pPr>
            <a:endParaRPr lang="en-IN" sz="1800" dirty="0">
              <a:solidFill>
                <a:schemeClr val="tx1"/>
              </a:solidFill>
              <a:effectLst/>
              <a:latin typeface="Calibri" panose="020F050202020403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4998DAB0-3104-D44B-7690-76ACDA282AE6}"/>
              </a:ext>
            </a:extLst>
          </p:cNvPr>
          <p:cNvSpPr>
            <a:spLocks noGrp="1"/>
          </p:cNvSpPr>
          <p:nvPr>
            <p:ph type="sldNum" sz="quarter" idx="12"/>
          </p:nvPr>
        </p:nvSpPr>
        <p:spPr/>
        <p:txBody>
          <a:bodyPr/>
          <a:lstStyle/>
          <a:p>
            <a:fld id="{6113E31D-E2AB-40D1-8B51-AFA5AFEF393A}" type="slidenum">
              <a:rPr lang="en-US" smtClean="0"/>
              <a:t>2</a:t>
            </a:fld>
            <a:endParaRPr lang="en-US" dirty="0"/>
          </a:p>
        </p:txBody>
      </p:sp>
    </p:spTree>
    <p:extLst>
      <p:ext uri="{BB962C8B-B14F-4D97-AF65-F5344CB8AC3E}">
        <p14:creationId xmlns:p14="http://schemas.microsoft.com/office/powerpoint/2010/main" val="1382129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99092-0248-F935-E559-14E747950098}"/>
              </a:ext>
            </a:extLst>
          </p:cNvPr>
          <p:cNvSpPr>
            <a:spLocks noGrp="1"/>
          </p:cNvSpPr>
          <p:nvPr>
            <p:ph type="title"/>
          </p:nvPr>
        </p:nvSpPr>
        <p:spPr/>
        <p:txBody>
          <a:bodyPr/>
          <a:lstStyle/>
          <a:p>
            <a:r>
              <a:rPr lang="en-IN" dirty="0">
                <a:solidFill>
                  <a:schemeClr val="tx1"/>
                </a:solidFill>
              </a:rPr>
              <a:t>INTRODUCTION</a:t>
            </a:r>
          </a:p>
        </p:txBody>
      </p:sp>
      <p:sp>
        <p:nvSpPr>
          <p:cNvPr id="3" name="Content Placeholder 2">
            <a:extLst>
              <a:ext uri="{FF2B5EF4-FFF2-40B4-BE49-F238E27FC236}">
                <a16:creationId xmlns:a16="http://schemas.microsoft.com/office/drawing/2014/main" id="{4552196B-AF01-7528-76D8-71500B976963}"/>
              </a:ext>
            </a:extLst>
          </p:cNvPr>
          <p:cNvSpPr>
            <a:spLocks noGrp="1"/>
          </p:cNvSpPr>
          <p:nvPr>
            <p:ph idx="1"/>
          </p:nvPr>
        </p:nvSpPr>
        <p:spPr>
          <a:xfrm>
            <a:off x="1154083" y="2226864"/>
            <a:ext cx="10058400" cy="3578480"/>
          </a:xfrm>
        </p:spPr>
        <p:txBody>
          <a:bodyPr>
            <a:normAutofit lnSpcReduction="10000"/>
          </a:bodyPr>
          <a:lstStyle/>
          <a:p>
            <a:pPr algn="just">
              <a:lnSpc>
                <a:spcPct val="150000"/>
              </a:lnSpc>
              <a:buFont typeface="Arial" panose="020B0604020202020204" pitchFamily="34" charset="0"/>
              <a:buChar char="•"/>
            </a:pPr>
            <a:r>
              <a:rPr lang="en-US" kern="100" dirty="0">
                <a:solidFill>
                  <a:schemeClr val="tx1"/>
                </a:solidFill>
                <a:latin typeface="Calibri" panose="020F0502020204030204" pitchFamily="34" charset="0"/>
                <a:ea typeface="Calibri" panose="020F0502020204030204" pitchFamily="34" charset="0"/>
                <a:cs typeface="Calibri" panose="020F0502020204030204" pitchFamily="34" charset="0"/>
              </a:rPr>
              <a:t>Machine Learning (ML) helps systems learn and improve from data without manual programming.</a:t>
            </a:r>
          </a:p>
          <a:p>
            <a:pPr algn="just">
              <a:lnSpc>
                <a:spcPct val="150000"/>
              </a:lnSpc>
              <a:buFont typeface="Arial" panose="020B0604020202020204" pitchFamily="34" charset="0"/>
              <a:buChar char="•"/>
            </a:pPr>
            <a:r>
              <a:rPr lang="en-US" kern="100" dirty="0">
                <a:solidFill>
                  <a:schemeClr val="tx1"/>
                </a:solidFill>
                <a:latin typeface="Calibri" panose="020F0502020204030204" pitchFamily="34" charset="0"/>
                <a:ea typeface="Calibri" panose="020F0502020204030204" pitchFamily="34" charset="0"/>
                <a:cs typeface="Calibri" panose="020F0502020204030204" pitchFamily="34" charset="0"/>
              </a:rPr>
              <a:t>Traditional ML is complex and requires manual steps like preprocessing, feature engineering, and tuning.</a:t>
            </a:r>
          </a:p>
          <a:p>
            <a:pPr algn="just">
              <a:lnSpc>
                <a:spcPct val="150000"/>
              </a:lnSpc>
              <a:buFont typeface="Arial" panose="020B0604020202020204" pitchFamily="34" charset="0"/>
              <a:buChar char="•"/>
            </a:pPr>
            <a:r>
              <a:rPr lang="en-US" kern="100" dirty="0" err="1">
                <a:solidFill>
                  <a:schemeClr val="tx1"/>
                </a:solidFill>
                <a:latin typeface="Calibri" panose="020F0502020204030204" pitchFamily="34" charset="0"/>
                <a:ea typeface="Calibri" panose="020F0502020204030204" pitchFamily="34" charset="0"/>
                <a:cs typeface="Calibri" panose="020F0502020204030204" pitchFamily="34" charset="0"/>
              </a:rPr>
              <a:t>AutoML</a:t>
            </a:r>
            <a:r>
              <a:rPr lang="en-US" kern="100" dirty="0">
                <a:solidFill>
                  <a:schemeClr val="tx1"/>
                </a:solidFill>
                <a:latin typeface="Calibri" panose="020F0502020204030204" pitchFamily="34" charset="0"/>
                <a:ea typeface="Calibri" panose="020F0502020204030204" pitchFamily="34" charset="0"/>
                <a:cs typeface="Calibri" panose="020F0502020204030204" pitchFamily="34" charset="0"/>
              </a:rPr>
              <a:t> simplifies ML by automating the full pipeline, making AI more accessible.</a:t>
            </a:r>
          </a:p>
          <a:p>
            <a:pPr algn="just">
              <a:lnSpc>
                <a:spcPct val="150000"/>
              </a:lnSpc>
              <a:buFont typeface="Arial" panose="020B0604020202020204" pitchFamily="34" charset="0"/>
              <a:buChar char="•"/>
            </a:pPr>
            <a:r>
              <a:rPr lang="en-US" kern="100" dirty="0">
                <a:solidFill>
                  <a:schemeClr val="tx1"/>
                </a:solidFill>
                <a:latin typeface="Calibri" panose="020F0502020204030204" pitchFamily="34" charset="0"/>
                <a:ea typeface="Calibri" panose="020F0502020204030204" pitchFamily="34" charset="0"/>
                <a:cs typeface="Calibri" panose="020F0502020204030204" pitchFamily="34" charset="0"/>
              </a:rPr>
              <a:t>Current </a:t>
            </a:r>
            <a:r>
              <a:rPr lang="en-US" kern="100" dirty="0" err="1">
                <a:solidFill>
                  <a:schemeClr val="tx1"/>
                </a:solidFill>
                <a:latin typeface="Calibri" panose="020F0502020204030204" pitchFamily="34" charset="0"/>
                <a:ea typeface="Calibri" panose="020F0502020204030204" pitchFamily="34" charset="0"/>
                <a:cs typeface="Calibri" panose="020F0502020204030204" pitchFamily="34" charset="0"/>
              </a:rPr>
              <a:t>AutoML</a:t>
            </a:r>
            <a:r>
              <a:rPr lang="en-US" kern="100" dirty="0">
                <a:solidFill>
                  <a:schemeClr val="tx1"/>
                </a:solidFill>
                <a:latin typeface="Calibri" panose="020F0502020204030204" pitchFamily="34" charset="0"/>
                <a:ea typeface="Calibri" panose="020F0502020204030204" pitchFamily="34" charset="0"/>
                <a:cs typeface="Calibri" panose="020F0502020204030204" pitchFamily="34" charset="0"/>
              </a:rPr>
              <a:t> tools have limits with complex data and real-time use, but they’re quickly evolving.</a:t>
            </a:r>
          </a:p>
        </p:txBody>
      </p:sp>
      <p:sp>
        <p:nvSpPr>
          <p:cNvPr id="4" name="Slide Number Placeholder 3">
            <a:extLst>
              <a:ext uri="{FF2B5EF4-FFF2-40B4-BE49-F238E27FC236}">
                <a16:creationId xmlns:a16="http://schemas.microsoft.com/office/drawing/2014/main" id="{C22FE83D-AF25-D696-6070-71CE8E2728E7}"/>
              </a:ext>
            </a:extLst>
          </p:cNvPr>
          <p:cNvSpPr>
            <a:spLocks noGrp="1"/>
          </p:cNvSpPr>
          <p:nvPr>
            <p:ph type="sldNum" sz="quarter" idx="12"/>
          </p:nvPr>
        </p:nvSpPr>
        <p:spPr/>
        <p:txBody>
          <a:bodyPr/>
          <a:lstStyle/>
          <a:p>
            <a:fld id="{6113E31D-E2AB-40D1-8B51-AFA5AFEF393A}" type="slidenum">
              <a:rPr lang="en-US" smtClean="0"/>
              <a:t>3</a:t>
            </a:fld>
            <a:endParaRPr lang="en-US" dirty="0"/>
          </a:p>
        </p:txBody>
      </p:sp>
    </p:spTree>
    <p:extLst>
      <p:ext uri="{BB962C8B-B14F-4D97-AF65-F5344CB8AC3E}">
        <p14:creationId xmlns:p14="http://schemas.microsoft.com/office/powerpoint/2010/main" val="1452060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178C0-B91C-0444-679C-CEFF4A46FDD3}"/>
              </a:ext>
            </a:extLst>
          </p:cNvPr>
          <p:cNvSpPr>
            <a:spLocks noGrp="1"/>
          </p:cNvSpPr>
          <p:nvPr>
            <p:ph type="title"/>
          </p:nvPr>
        </p:nvSpPr>
        <p:spPr/>
        <p:txBody>
          <a:bodyPr/>
          <a:lstStyle/>
          <a:p>
            <a:r>
              <a:rPr lang="en-IN" dirty="0">
                <a:solidFill>
                  <a:schemeClr val="tx1"/>
                </a:solidFill>
              </a:rPr>
              <a:t>PROBLEM STATEMENT</a:t>
            </a:r>
          </a:p>
        </p:txBody>
      </p:sp>
      <p:sp>
        <p:nvSpPr>
          <p:cNvPr id="3" name="Content Placeholder 2">
            <a:extLst>
              <a:ext uri="{FF2B5EF4-FFF2-40B4-BE49-F238E27FC236}">
                <a16:creationId xmlns:a16="http://schemas.microsoft.com/office/drawing/2014/main" id="{0C11ECA6-5BB5-A3C5-2FB3-B6D46E493EB0}"/>
              </a:ext>
            </a:extLst>
          </p:cNvPr>
          <p:cNvSpPr>
            <a:spLocks noGrp="1"/>
          </p:cNvSpPr>
          <p:nvPr>
            <p:ph idx="1"/>
          </p:nvPr>
        </p:nvSpPr>
        <p:spPr>
          <a:xfrm>
            <a:off x="1139558" y="1974617"/>
            <a:ext cx="9973843" cy="3146024"/>
          </a:xfrm>
        </p:spPr>
        <p:txBody>
          <a:bodyPr>
            <a:noAutofit/>
          </a:bodyPr>
          <a:lstStyle/>
          <a:p>
            <a:pPr marL="176213" indent="-176213" algn="just">
              <a:lnSpc>
                <a:spcPct val="150000"/>
              </a:lnSpc>
              <a:buFont typeface="Arial" panose="020B0604020202020204" pitchFamily="34" charset="0"/>
              <a:buChar char="•"/>
            </a:pPr>
            <a:r>
              <a:rPr lang="en-US" sz="1800" dirty="0">
                <a:solidFill>
                  <a:schemeClr val="tx1"/>
                </a:solidFill>
              </a:rPr>
              <a:t>Manual data loading, cleaning, and EDA processes create bottlenecks in ML development, slowing adoption despite growing industry demand.</a:t>
            </a:r>
          </a:p>
          <a:p>
            <a:pPr marL="176213" indent="-176213" algn="just">
              <a:lnSpc>
                <a:spcPct val="150000"/>
              </a:lnSpc>
              <a:buFont typeface="Arial" panose="020B0604020202020204" pitchFamily="34" charset="0"/>
              <a:buChar char="•"/>
            </a:pPr>
            <a:r>
              <a:rPr lang="en-US" sz="1800" dirty="0">
                <a:solidFill>
                  <a:schemeClr val="tx1"/>
                </a:solidFill>
              </a:rPr>
              <a:t>Our solution automates these initial steps by supporting common file formats and generating interactive EDA reports with key insights on data quality and patterns.</a:t>
            </a:r>
          </a:p>
          <a:p>
            <a:pPr marL="176213" indent="-176213" algn="just">
              <a:lnSpc>
                <a:spcPct val="150000"/>
              </a:lnSpc>
              <a:buFont typeface="Arial" panose="020B0604020202020204" pitchFamily="34" charset="0"/>
              <a:buChar char="•"/>
            </a:pPr>
            <a:r>
              <a:rPr lang="en-US" sz="1800" dirty="0">
                <a:solidFill>
                  <a:schemeClr val="tx1"/>
                </a:solidFill>
              </a:rPr>
              <a:t>The system standardizes datasets for downstream use while significantly reducing manual effort and inconsistencies in the early ML workflow.</a:t>
            </a:r>
          </a:p>
          <a:p>
            <a:pPr marL="176213" indent="-176213" algn="just">
              <a:lnSpc>
                <a:spcPct val="150000"/>
              </a:lnSpc>
              <a:buFont typeface="Arial" panose="020B0604020202020204" pitchFamily="34" charset="0"/>
              <a:buChar char="•"/>
            </a:pPr>
            <a:r>
              <a:rPr lang="en-US" sz="1800" dirty="0">
                <a:solidFill>
                  <a:schemeClr val="tx1"/>
                </a:solidFill>
              </a:rPr>
              <a:t>This semi-automated approach provides a scalable foundation for building complete </a:t>
            </a:r>
            <a:r>
              <a:rPr lang="en-US" sz="1800" dirty="0" err="1">
                <a:solidFill>
                  <a:schemeClr val="tx1"/>
                </a:solidFill>
              </a:rPr>
              <a:t>AutoML</a:t>
            </a:r>
            <a:r>
              <a:rPr lang="en-US" sz="1800" dirty="0">
                <a:solidFill>
                  <a:schemeClr val="tx1"/>
                </a:solidFill>
              </a:rPr>
              <a:t> pipelines with future model selection and adaptive learning capabilities.</a:t>
            </a:r>
          </a:p>
        </p:txBody>
      </p:sp>
      <p:sp>
        <p:nvSpPr>
          <p:cNvPr id="4" name="Slide Number Placeholder 3">
            <a:extLst>
              <a:ext uri="{FF2B5EF4-FFF2-40B4-BE49-F238E27FC236}">
                <a16:creationId xmlns:a16="http://schemas.microsoft.com/office/drawing/2014/main" id="{27E7F50E-2911-0E6B-6668-BDAEDCD3BB05}"/>
              </a:ext>
            </a:extLst>
          </p:cNvPr>
          <p:cNvSpPr>
            <a:spLocks noGrp="1"/>
          </p:cNvSpPr>
          <p:nvPr>
            <p:ph type="sldNum" sz="quarter" idx="12"/>
          </p:nvPr>
        </p:nvSpPr>
        <p:spPr/>
        <p:txBody>
          <a:bodyPr/>
          <a:lstStyle/>
          <a:p>
            <a:fld id="{6113E31D-E2AB-40D1-8B51-AFA5AFEF393A}" type="slidenum">
              <a:rPr lang="en-US" smtClean="0"/>
              <a:t>4</a:t>
            </a:fld>
            <a:endParaRPr lang="en-US" dirty="0"/>
          </a:p>
        </p:txBody>
      </p:sp>
    </p:spTree>
    <p:extLst>
      <p:ext uri="{BB962C8B-B14F-4D97-AF65-F5344CB8AC3E}">
        <p14:creationId xmlns:p14="http://schemas.microsoft.com/office/powerpoint/2010/main" val="427526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57427-0E37-2946-E27F-2A6191293E8A}"/>
              </a:ext>
            </a:extLst>
          </p:cNvPr>
          <p:cNvSpPr>
            <a:spLocks noGrp="1"/>
          </p:cNvSpPr>
          <p:nvPr>
            <p:ph type="title"/>
          </p:nvPr>
        </p:nvSpPr>
        <p:spPr/>
        <p:txBody>
          <a:bodyPr/>
          <a:lstStyle/>
          <a:p>
            <a:r>
              <a:rPr lang="en-IN" dirty="0">
                <a:solidFill>
                  <a:schemeClr val="tx1"/>
                </a:solidFill>
              </a:rPr>
              <a:t>LITERATURE SURVEY</a:t>
            </a:r>
          </a:p>
        </p:txBody>
      </p:sp>
      <p:graphicFrame>
        <p:nvGraphicFramePr>
          <p:cNvPr id="4" name="Content Placeholder 3">
            <a:extLst>
              <a:ext uri="{FF2B5EF4-FFF2-40B4-BE49-F238E27FC236}">
                <a16:creationId xmlns:a16="http://schemas.microsoft.com/office/drawing/2014/main" id="{F9EFFD3E-9DF4-6D2D-F78C-DD3B7E49FA71}"/>
              </a:ext>
            </a:extLst>
          </p:cNvPr>
          <p:cNvGraphicFramePr>
            <a:graphicFrameLocks noGrp="1"/>
          </p:cNvGraphicFramePr>
          <p:nvPr>
            <p:ph idx="1"/>
            <p:extLst>
              <p:ext uri="{D42A27DB-BD31-4B8C-83A1-F6EECF244321}">
                <p14:modId xmlns:p14="http://schemas.microsoft.com/office/powerpoint/2010/main" val="3781169511"/>
              </p:ext>
            </p:extLst>
          </p:nvPr>
        </p:nvGraphicFramePr>
        <p:xfrm>
          <a:off x="350982" y="1810327"/>
          <a:ext cx="11351491" cy="4471655"/>
        </p:xfrm>
        <a:graphic>
          <a:graphicData uri="http://schemas.openxmlformats.org/drawingml/2006/table">
            <a:tbl>
              <a:tblPr firstRow="1" firstCol="1" bandRow="1">
                <a:tableStyleId>{5940675A-B579-460E-94D1-54222C63F5DA}</a:tableStyleId>
              </a:tblPr>
              <a:tblGrid>
                <a:gridCol w="508000">
                  <a:extLst>
                    <a:ext uri="{9D8B030D-6E8A-4147-A177-3AD203B41FA5}">
                      <a16:colId xmlns:a16="http://schemas.microsoft.com/office/drawing/2014/main" val="3951520914"/>
                    </a:ext>
                  </a:extLst>
                </a:gridCol>
                <a:gridCol w="1930400">
                  <a:extLst>
                    <a:ext uri="{9D8B030D-6E8A-4147-A177-3AD203B41FA5}">
                      <a16:colId xmlns:a16="http://schemas.microsoft.com/office/drawing/2014/main" val="3053708678"/>
                    </a:ext>
                  </a:extLst>
                </a:gridCol>
                <a:gridCol w="2475345">
                  <a:extLst>
                    <a:ext uri="{9D8B030D-6E8A-4147-A177-3AD203B41FA5}">
                      <a16:colId xmlns:a16="http://schemas.microsoft.com/office/drawing/2014/main" val="2826327262"/>
                    </a:ext>
                  </a:extLst>
                </a:gridCol>
                <a:gridCol w="3823855">
                  <a:extLst>
                    <a:ext uri="{9D8B030D-6E8A-4147-A177-3AD203B41FA5}">
                      <a16:colId xmlns:a16="http://schemas.microsoft.com/office/drawing/2014/main" val="956164914"/>
                    </a:ext>
                  </a:extLst>
                </a:gridCol>
                <a:gridCol w="2613891">
                  <a:extLst>
                    <a:ext uri="{9D8B030D-6E8A-4147-A177-3AD203B41FA5}">
                      <a16:colId xmlns:a16="http://schemas.microsoft.com/office/drawing/2014/main" val="3996306794"/>
                    </a:ext>
                  </a:extLst>
                </a:gridCol>
              </a:tblGrid>
              <a:tr h="655917">
                <a:tc>
                  <a:txBody>
                    <a:bodyPr/>
                    <a:lstStyle/>
                    <a:p>
                      <a:pPr algn="ctr">
                        <a:lnSpc>
                          <a:spcPct val="107000"/>
                        </a:lnSpc>
                        <a:spcAft>
                          <a:spcPts val="800"/>
                        </a:spcAft>
                      </a:pPr>
                      <a:r>
                        <a:rPr lang="en-IN" sz="1700" b="1" kern="100" dirty="0">
                          <a:effectLst/>
                        </a:rPr>
                        <a:t>S.</a:t>
                      </a:r>
                    </a:p>
                    <a:p>
                      <a:pPr algn="ctr">
                        <a:lnSpc>
                          <a:spcPct val="107000"/>
                        </a:lnSpc>
                        <a:spcAft>
                          <a:spcPts val="800"/>
                        </a:spcAft>
                      </a:pPr>
                      <a:r>
                        <a:rPr lang="en-IN" sz="1700" b="1" kern="100" dirty="0">
                          <a:effectLst/>
                        </a:rPr>
                        <a:t>NO</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PAPER TITLE</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JOURNAL /</a:t>
                      </a:r>
                    </a:p>
                    <a:p>
                      <a:pPr algn="ctr">
                        <a:lnSpc>
                          <a:spcPct val="107000"/>
                        </a:lnSpc>
                        <a:spcAft>
                          <a:spcPts val="800"/>
                        </a:spcAft>
                      </a:pPr>
                      <a:r>
                        <a:rPr lang="en-IN" sz="1700" b="1" kern="100" dirty="0">
                          <a:effectLst/>
                        </a:rPr>
                        <a:t>TRANSACTIONS</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SYSTEM PROPOSED</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LIMITATIONS</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extLst>
                  <a:ext uri="{0D108BD9-81ED-4DB2-BD59-A6C34878D82A}">
                    <a16:rowId xmlns:a16="http://schemas.microsoft.com/office/drawing/2014/main" val="3243511218"/>
                  </a:ext>
                </a:extLst>
              </a:tr>
              <a:tr h="1940386">
                <a:tc>
                  <a:txBody>
                    <a:bodyPr/>
                    <a:lstStyle/>
                    <a:p>
                      <a:pPr algn="just">
                        <a:lnSpc>
                          <a:spcPct val="107000"/>
                        </a:lnSpc>
                        <a:spcAft>
                          <a:spcPts val="800"/>
                        </a:spcAft>
                      </a:pPr>
                      <a:r>
                        <a:rPr lang="en-IN" sz="1700" kern="100">
                          <a:effectLst/>
                        </a:rPr>
                        <a:t>1.</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just">
                        <a:lnSpc>
                          <a:spcPct val="107000"/>
                        </a:lnSpc>
                        <a:spcAft>
                          <a:spcPts val="800"/>
                        </a:spcAft>
                      </a:pPr>
                      <a:r>
                        <a:rPr lang="en-US" sz="1700" b="1" kern="100" dirty="0">
                          <a:effectLst/>
                          <a:latin typeface="+mn-lt"/>
                        </a:rPr>
                        <a:t>Transitioning from </a:t>
                      </a:r>
                      <a:r>
                        <a:rPr lang="en-US" sz="1700" b="1" kern="100" dirty="0" err="1">
                          <a:effectLst/>
                          <a:latin typeface="+mn-lt"/>
                        </a:rPr>
                        <a:t>MLOps</a:t>
                      </a:r>
                      <a:r>
                        <a:rPr lang="en-US" sz="1700" b="1" kern="100" dirty="0">
                          <a:effectLst/>
                          <a:latin typeface="+mn-lt"/>
                        </a:rPr>
                        <a:t> to </a:t>
                      </a:r>
                      <a:r>
                        <a:rPr lang="en-US" sz="1700" b="1" kern="100" dirty="0" err="1">
                          <a:effectLst/>
                          <a:latin typeface="+mn-lt"/>
                        </a:rPr>
                        <a:t>LLMOps</a:t>
                      </a:r>
                      <a:r>
                        <a:rPr lang="en-US" sz="1700" b="1" kern="100" dirty="0">
                          <a:effectLst/>
                          <a:latin typeface="+mn-lt"/>
                        </a:rPr>
                        <a:t>: Navigating the Unique Challenges of Large Language Models</a:t>
                      </a:r>
                    </a:p>
                    <a:p>
                      <a:pPr algn="just">
                        <a:lnSpc>
                          <a:spcPct val="107000"/>
                        </a:lnSpc>
                        <a:spcAft>
                          <a:spcPts val="800"/>
                        </a:spcAft>
                      </a:pPr>
                      <a:r>
                        <a:rPr lang="en-US" sz="1700" b="0" kern="100" dirty="0">
                          <a:effectLst/>
                          <a:latin typeface="+mn-lt"/>
                        </a:rPr>
                        <a:t>S. </a:t>
                      </a:r>
                      <a:r>
                        <a:rPr lang="en-US" sz="1700" b="0" kern="100" dirty="0" err="1">
                          <a:effectLst/>
                          <a:latin typeface="+mn-lt"/>
                        </a:rPr>
                        <a:t>Pahune</a:t>
                      </a:r>
                      <a:r>
                        <a:rPr lang="en-US" sz="1700" b="0" kern="100" dirty="0">
                          <a:effectLst/>
                          <a:latin typeface="+mn-lt"/>
                        </a:rPr>
                        <a:t>, Z. Akhtar</a:t>
                      </a:r>
                    </a:p>
                  </a:txBody>
                  <a:tcPr marL="29113" marR="29113" marT="0" marB="0"/>
                </a:tc>
                <a:tc>
                  <a:txBody>
                    <a:bodyPr/>
                    <a:lstStyle/>
                    <a:p>
                      <a:pPr algn="just">
                        <a:lnSpc>
                          <a:spcPct val="107000"/>
                        </a:lnSpc>
                        <a:spcAft>
                          <a:spcPts val="800"/>
                        </a:spcAft>
                      </a:pPr>
                      <a:r>
                        <a:rPr lang="en-US" sz="1700" kern="0" dirty="0">
                          <a:solidFill>
                            <a:schemeClr val="tx1"/>
                          </a:solidFill>
                          <a:effectLst/>
                          <a:latin typeface="+mn-lt"/>
                          <a:ea typeface="+mn-ea"/>
                          <a:cs typeface="+mn-cs"/>
                        </a:rPr>
                        <a:t>Department of Networks and Computer Security, SUNY Polytechnic Inst., Utica, NY, USA, p.36 ResearchGate (</a:t>
                      </a:r>
                      <a:r>
                        <a:rPr lang="en-US" sz="1600" b="1" dirty="0">
                          <a:latin typeface="+mn-lt"/>
                        </a:rPr>
                        <a:t>2025</a:t>
                      </a:r>
                      <a:r>
                        <a:rPr lang="en-US" sz="1600" dirty="0">
                          <a:latin typeface="+mn-lt"/>
                        </a:rPr>
                        <a:t>)</a:t>
                      </a:r>
                      <a:endParaRPr lang="en-IN" sz="1700" kern="100" dirty="0">
                        <a:effectLst/>
                        <a:latin typeface="+mn-lt"/>
                        <a:ea typeface="Calibri" panose="020F0502020204030204" pitchFamily="34" charset="0"/>
                        <a:cs typeface="Times New Roman" panose="02020603050405020304" pitchFamily="18" charset="0"/>
                      </a:endParaRPr>
                    </a:p>
                  </a:txBody>
                  <a:tcPr marL="29113" marR="29113" marT="0" marB="0"/>
                </a:tc>
                <a:tc>
                  <a:txBody>
                    <a:bodyPr/>
                    <a:lstStyle/>
                    <a:p>
                      <a:pPr algn="just">
                        <a:lnSpc>
                          <a:spcPct val="107000"/>
                        </a:lnSpc>
                        <a:spcAft>
                          <a:spcPts val="800"/>
                        </a:spcAft>
                      </a:pPr>
                      <a:r>
                        <a:rPr lang="en-IN" sz="1700" kern="100" dirty="0">
                          <a:effectLst/>
                          <a:latin typeface="+mn-lt"/>
                        </a:rPr>
                        <a:t>This paper compares </a:t>
                      </a:r>
                      <a:r>
                        <a:rPr lang="en-IN" sz="1700" kern="100" dirty="0" err="1">
                          <a:effectLst/>
                          <a:latin typeface="+mn-lt"/>
                        </a:rPr>
                        <a:t>LLMOps</a:t>
                      </a:r>
                      <a:r>
                        <a:rPr lang="en-IN" sz="1700" kern="100" dirty="0">
                          <a:effectLst/>
                          <a:latin typeface="+mn-lt"/>
                        </a:rPr>
                        <a:t>(Large Language Model Operations) with </a:t>
                      </a:r>
                      <a:r>
                        <a:rPr lang="en-IN" sz="1700" kern="100" dirty="0" err="1">
                          <a:effectLst/>
                          <a:latin typeface="+mn-lt"/>
                        </a:rPr>
                        <a:t>MLOps</a:t>
                      </a:r>
                      <a:r>
                        <a:rPr lang="en-IN" sz="1700" kern="100" dirty="0">
                          <a:effectLst/>
                          <a:latin typeface="+mn-lt"/>
                        </a:rPr>
                        <a:t>, focusing </a:t>
                      </a:r>
                      <a:r>
                        <a:rPr lang="en-IN" sz="1700" kern="100" dirty="0" err="1">
                          <a:effectLst/>
                          <a:latin typeface="+mn-lt"/>
                        </a:rPr>
                        <a:t>onthe</a:t>
                      </a:r>
                      <a:r>
                        <a:rPr lang="en-IN" sz="1700" kern="100" dirty="0">
                          <a:effectLst/>
                          <a:latin typeface="+mn-lt"/>
                        </a:rPr>
                        <a:t> unique challenges, infrastructure </a:t>
                      </a:r>
                      <a:r>
                        <a:rPr lang="en-IN" sz="1700" kern="100" dirty="0" err="1">
                          <a:effectLst/>
                          <a:latin typeface="+mn-lt"/>
                        </a:rPr>
                        <a:t>needs,and</a:t>
                      </a:r>
                      <a:r>
                        <a:rPr lang="en-IN" sz="1700" kern="100" dirty="0">
                          <a:effectLst/>
                          <a:latin typeface="+mn-lt"/>
                        </a:rPr>
                        <a:t> methodologies for managing </a:t>
                      </a:r>
                      <a:r>
                        <a:rPr lang="en-IN" sz="1700" kern="100" dirty="0" err="1">
                          <a:effectLst/>
                          <a:latin typeface="+mn-lt"/>
                        </a:rPr>
                        <a:t>LLMlifecycles</a:t>
                      </a:r>
                      <a:r>
                        <a:rPr lang="en-IN" sz="1700" kern="100" dirty="0">
                          <a:effectLst/>
                          <a:latin typeface="+mn-lt"/>
                        </a:rPr>
                        <a:t>, such as fine-tuning, deployment and monitoring.</a:t>
                      </a:r>
                      <a:endParaRPr lang="en-IN" sz="1700" kern="100" dirty="0">
                        <a:effectLst/>
                        <a:latin typeface="+mn-lt"/>
                        <a:ea typeface="Calibri" panose="020F0502020204030204" pitchFamily="34" charset="0"/>
                        <a:cs typeface="Times New Roman" panose="02020603050405020304" pitchFamily="18" charset="0"/>
                      </a:endParaRPr>
                    </a:p>
                  </a:txBody>
                  <a:tcPr marL="29113" marR="29113" marT="0" marB="0"/>
                </a:tc>
                <a:tc>
                  <a:txBody>
                    <a:bodyPr/>
                    <a:lstStyle/>
                    <a:p>
                      <a:pPr marL="342900" lvl="0" indent="-342900" algn="just">
                        <a:lnSpc>
                          <a:spcPct val="107000"/>
                        </a:lnSpc>
                        <a:spcAft>
                          <a:spcPts val="800"/>
                        </a:spcAft>
                        <a:buFont typeface="Symbol" panose="05050102010706020507" pitchFamily="18" charset="2"/>
                        <a:buChar char=""/>
                      </a:pPr>
                      <a:r>
                        <a:rPr lang="en-IN" sz="1700" kern="100" dirty="0">
                          <a:effectLst/>
                          <a:latin typeface="+mn-lt"/>
                        </a:rPr>
                        <a:t>Adaptation to data distribution shifts in dynamic environments.</a:t>
                      </a:r>
                      <a:endParaRPr lang="en-IN" sz="1700" kern="100" dirty="0">
                        <a:effectLst/>
                        <a:latin typeface="+mn-lt"/>
                        <a:ea typeface="Calibri" panose="020F0502020204030204" pitchFamily="34" charset="0"/>
                        <a:cs typeface="Times New Roman" panose="02020603050405020304" pitchFamily="18" charset="0"/>
                      </a:endParaRPr>
                    </a:p>
                  </a:txBody>
                  <a:tcPr marL="29113" marR="29113" marT="0" marB="0"/>
                </a:tc>
                <a:extLst>
                  <a:ext uri="{0D108BD9-81ED-4DB2-BD59-A6C34878D82A}">
                    <a16:rowId xmlns:a16="http://schemas.microsoft.com/office/drawing/2014/main" val="3462195245"/>
                  </a:ext>
                </a:extLst>
              </a:tr>
              <a:tr h="1785706">
                <a:tc>
                  <a:txBody>
                    <a:bodyPr/>
                    <a:lstStyle/>
                    <a:p>
                      <a:pPr algn="just">
                        <a:lnSpc>
                          <a:spcPct val="107000"/>
                        </a:lnSpc>
                        <a:spcAft>
                          <a:spcPts val="800"/>
                        </a:spcAft>
                      </a:pPr>
                      <a:r>
                        <a:rPr lang="en-IN" sz="1700" kern="100">
                          <a:effectLst/>
                        </a:rPr>
                        <a:t>2.</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just">
                        <a:lnSpc>
                          <a:spcPct val="107000"/>
                        </a:lnSpc>
                        <a:spcAft>
                          <a:spcPts val="800"/>
                        </a:spcAft>
                      </a:pPr>
                      <a:r>
                        <a:rPr lang="en-IN" sz="1700" b="1" kern="100" dirty="0">
                          <a:effectLst/>
                          <a:latin typeface="+mn-lt"/>
                        </a:rPr>
                        <a:t>Meta-Learning in Neural Networks: A Survey</a:t>
                      </a:r>
                    </a:p>
                    <a:p>
                      <a:pPr algn="just">
                        <a:lnSpc>
                          <a:spcPct val="107000"/>
                        </a:lnSpc>
                        <a:spcAft>
                          <a:spcPts val="800"/>
                        </a:spcAft>
                      </a:pPr>
                      <a:r>
                        <a:rPr lang="en-IN" sz="1700" kern="100" dirty="0">
                          <a:effectLst/>
                          <a:latin typeface="+mn-lt"/>
                        </a:rPr>
                        <a:t>T. </a:t>
                      </a:r>
                      <a:r>
                        <a:rPr lang="en-IN" sz="1700" kern="100" dirty="0" err="1">
                          <a:effectLst/>
                          <a:latin typeface="+mn-lt"/>
                        </a:rPr>
                        <a:t>Hospedales</a:t>
                      </a:r>
                      <a:r>
                        <a:rPr lang="en-IN" sz="1700" kern="100" dirty="0">
                          <a:effectLst/>
                          <a:latin typeface="+mn-lt"/>
                        </a:rPr>
                        <a:t>, A. Antoniou, P. </a:t>
                      </a:r>
                      <a:r>
                        <a:rPr lang="en-IN" sz="1700" kern="100" dirty="0" err="1">
                          <a:effectLst/>
                          <a:latin typeface="+mn-lt"/>
                        </a:rPr>
                        <a:t>Micaelli</a:t>
                      </a:r>
                      <a:r>
                        <a:rPr lang="en-IN" sz="1700" kern="100" dirty="0">
                          <a:effectLst/>
                          <a:latin typeface="+mn-lt"/>
                        </a:rPr>
                        <a:t> and A. </a:t>
                      </a:r>
                      <a:r>
                        <a:rPr lang="en-IN" sz="1700" kern="100" dirty="0" err="1">
                          <a:effectLst/>
                          <a:latin typeface="+mn-lt"/>
                        </a:rPr>
                        <a:t>Storkey</a:t>
                      </a:r>
                      <a:endParaRPr lang="en-IN" sz="1700" kern="100" dirty="0">
                        <a:effectLst/>
                        <a:latin typeface="+mn-lt"/>
                        <a:ea typeface="Calibri" panose="020F0502020204030204" pitchFamily="34" charset="0"/>
                        <a:cs typeface="Times New Roman" panose="02020603050405020304" pitchFamily="18" charset="0"/>
                      </a:endParaRPr>
                    </a:p>
                  </a:txBody>
                  <a:tcPr marL="29113" marR="29113" marT="0" marB="0"/>
                </a:tc>
                <a:tc>
                  <a:txBody>
                    <a:bodyPr/>
                    <a:lstStyle/>
                    <a:p>
                      <a:pPr>
                        <a:lnSpc>
                          <a:spcPct val="107000"/>
                        </a:lnSpc>
                        <a:spcAft>
                          <a:spcPts val="800"/>
                        </a:spcAft>
                      </a:pPr>
                      <a:r>
                        <a:rPr lang="en-IN" sz="1700" kern="0" dirty="0">
                          <a:effectLst/>
                          <a:latin typeface="+mn-lt"/>
                        </a:rPr>
                        <a:t>IEEE Transactions on Pattern Analysis and Machine Intelligence, vol. 46, no. 7, pp. 4763-4779, </a:t>
                      </a:r>
                      <a:endParaRPr lang="en-IN" sz="1700" kern="100" dirty="0">
                        <a:effectLst/>
                        <a:latin typeface="+mn-lt"/>
                      </a:endParaRPr>
                    </a:p>
                    <a:p>
                      <a:pPr>
                        <a:lnSpc>
                          <a:spcPct val="107000"/>
                        </a:lnSpc>
                        <a:spcAft>
                          <a:spcPts val="800"/>
                        </a:spcAft>
                      </a:pPr>
                      <a:r>
                        <a:rPr lang="en-IN" sz="1700" kern="0" dirty="0">
                          <a:effectLst/>
                          <a:latin typeface="+mn-lt"/>
                        </a:rPr>
                        <a:t>doi:10.1109/TPAMI.2024.3357847(</a:t>
                      </a:r>
                      <a:r>
                        <a:rPr lang="en-IN" sz="1700" b="1" kern="0" dirty="0">
                          <a:effectLst/>
                          <a:latin typeface="+mn-lt"/>
                        </a:rPr>
                        <a:t>2024</a:t>
                      </a:r>
                      <a:r>
                        <a:rPr lang="en-IN" sz="1700" kern="0" dirty="0">
                          <a:effectLst/>
                          <a:latin typeface="+mn-lt"/>
                        </a:rPr>
                        <a:t>)</a:t>
                      </a:r>
                      <a:endParaRPr lang="en-IN" sz="1700" kern="100" dirty="0">
                        <a:effectLst/>
                        <a:latin typeface="+mn-lt"/>
                        <a:ea typeface="Calibri" panose="020F0502020204030204" pitchFamily="34" charset="0"/>
                        <a:cs typeface="Times New Roman" panose="02020603050405020304" pitchFamily="18" charset="0"/>
                      </a:endParaRPr>
                    </a:p>
                  </a:txBody>
                  <a:tcPr marL="29113" marR="29113" marT="0" marB="0"/>
                </a:tc>
                <a:tc>
                  <a:txBody>
                    <a:bodyPr/>
                    <a:lstStyle/>
                    <a:p>
                      <a:pPr algn="just">
                        <a:lnSpc>
                          <a:spcPct val="107000"/>
                        </a:lnSpc>
                        <a:spcAft>
                          <a:spcPts val="800"/>
                        </a:spcAft>
                      </a:pPr>
                      <a:r>
                        <a:rPr lang="en-IN" sz="1700" kern="100" dirty="0">
                          <a:effectLst/>
                          <a:latin typeface="+mn-lt"/>
                        </a:rPr>
                        <a:t>A  comprehensive survey on meta-learning, introducing a new taxonomy to categorize current methods and exploring its applications in few-shot learning and reinforcement learning. </a:t>
                      </a:r>
                      <a:endParaRPr lang="en-IN" sz="1700" kern="100" dirty="0">
                        <a:effectLst/>
                        <a:latin typeface="+mn-lt"/>
                        <a:ea typeface="Calibri" panose="020F0502020204030204" pitchFamily="34" charset="0"/>
                        <a:cs typeface="Times New Roman" panose="02020603050405020304" pitchFamily="18" charset="0"/>
                      </a:endParaRPr>
                    </a:p>
                  </a:txBody>
                  <a:tcPr marL="29113" marR="29113" marT="0" marB="0"/>
                </a:tc>
                <a:tc>
                  <a:txBody>
                    <a:bodyPr/>
                    <a:lstStyle/>
                    <a:p>
                      <a:pPr marL="342900" lvl="0" indent="-342900">
                        <a:lnSpc>
                          <a:spcPct val="107000"/>
                        </a:lnSpc>
                        <a:buFont typeface="Symbol" panose="05050102010706020507" pitchFamily="18" charset="2"/>
                        <a:buChar char=""/>
                      </a:pPr>
                      <a:r>
                        <a:rPr lang="en-IN" sz="1700" kern="0" dirty="0">
                          <a:effectLst/>
                          <a:latin typeface="+mn-lt"/>
                        </a:rPr>
                        <a:t>Accurately categorizing diverse meta-learning methods.</a:t>
                      </a:r>
                      <a:endParaRPr lang="en-IN" sz="1700" kern="100" dirty="0">
                        <a:effectLst/>
                        <a:latin typeface="+mn-lt"/>
                      </a:endParaRPr>
                    </a:p>
                    <a:p>
                      <a:pPr marL="342900" lvl="0" indent="-342900" algn="just">
                        <a:lnSpc>
                          <a:spcPct val="107000"/>
                        </a:lnSpc>
                        <a:buFont typeface="Symbol" panose="05050102010706020507" pitchFamily="18" charset="2"/>
                        <a:buChar char=""/>
                      </a:pPr>
                      <a:r>
                        <a:rPr lang="en-IN" sz="1700" kern="100" dirty="0">
                          <a:effectLst/>
                          <a:latin typeface="+mn-lt"/>
                        </a:rPr>
                        <a:t>Struggles with </a:t>
                      </a:r>
                    </a:p>
                    <a:p>
                      <a:pPr marL="342900" lvl="0" indent="-342900" algn="just">
                        <a:lnSpc>
                          <a:spcPct val="107000"/>
                        </a:lnSpc>
                        <a:buFont typeface="Symbol" panose="05050102010706020507" pitchFamily="18" charset="2"/>
                        <a:buChar char=""/>
                      </a:pPr>
                      <a:r>
                        <a:rPr lang="en-IN" sz="1700" kern="100" dirty="0">
                          <a:effectLst/>
                          <a:latin typeface="+mn-lt"/>
                        </a:rPr>
                        <a:t>complex multi-modal task distributions.</a:t>
                      </a:r>
                      <a:endParaRPr lang="en-IN" sz="1700" kern="100" dirty="0">
                        <a:effectLst/>
                        <a:latin typeface="+mn-lt"/>
                        <a:ea typeface="Calibri" panose="020F0502020204030204" pitchFamily="34" charset="0"/>
                        <a:cs typeface="Times New Roman" panose="02020603050405020304" pitchFamily="18" charset="0"/>
                      </a:endParaRPr>
                    </a:p>
                  </a:txBody>
                  <a:tcPr marL="29113" marR="29113" marT="0" marB="0"/>
                </a:tc>
                <a:extLst>
                  <a:ext uri="{0D108BD9-81ED-4DB2-BD59-A6C34878D82A}">
                    <a16:rowId xmlns:a16="http://schemas.microsoft.com/office/drawing/2014/main" val="2088612198"/>
                  </a:ext>
                </a:extLst>
              </a:tr>
            </a:tbl>
          </a:graphicData>
        </a:graphic>
      </p:graphicFrame>
      <p:sp>
        <p:nvSpPr>
          <p:cNvPr id="3" name="Slide Number Placeholder 2">
            <a:extLst>
              <a:ext uri="{FF2B5EF4-FFF2-40B4-BE49-F238E27FC236}">
                <a16:creationId xmlns:a16="http://schemas.microsoft.com/office/drawing/2014/main" id="{C90F1167-11BF-56D8-BC74-E88C9250E56C}"/>
              </a:ext>
            </a:extLst>
          </p:cNvPr>
          <p:cNvSpPr>
            <a:spLocks noGrp="1"/>
          </p:cNvSpPr>
          <p:nvPr>
            <p:ph type="sldNum" sz="quarter" idx="12"/>
          </p:nvPr>
        </p:nvSpPr>
        <p:spPr/>
        <p:txBody>
          <a:bodyPr/>
          <a:lstStyle/>
          <a:p>
            <a:fld id="{6113E31D-E2AB-40D1-8B51-AFA5AFEF393A}" type="slidenum">
              <a:rPr lang="en-US" smtClean="0"/>
              <a:t>5</a:t>
            </a:fld>
            <a:endParaRPr lang="en-US" dirty="0"/>
          </a:p>
        </p:txBody>
      </p:sp>
    </p:spTree>
    <p:extLst>
      <p:ext uri="{BB962C8B-B14F-4D97-AF65-F5344CB8AC3E}">
        <p14:creationId xmlns:p14="http://schemas.microsoft.com/office/powerpoint/2010/main" val="1999144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9FEE2-5FC0-598D-58C5-C11940616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96D23-AC74-D18F-1237-6BE40FE851A8}"/>
              </a:ext>
            </a:extLst>
          </p:cNvPr>
          <p:cNvSpPr>
            <a:spLocks noGrp="1"/>
          </p:cNvSpPr>
          <p:nvPr>
            <p:ph type="title"/>
          </p:nvPr>
        </p:nvSpPr>
        <p:spPr/>
        <p:txBody>
          <a:bodyPr/>
          <a:lstStyle/>
          <a:p>
            <a:r>
              <a:rPr lang="en-IN" dirty="0">
                <a:solidFill>
                  <a:schemeClr val="tx1"/>
                </a:solidFill>
              </a:rPr>
              <a:t>LITERATURE SURVEY</a:t>
            </a:r>
          </a:p>
        </p:txBody>
      </p:sp>
      <p:graphicFrame>
        <p:nvGraphicFramePr>
          <p:cNvPr id="4" name="Content Placeholder 3">
            <a:extLst>
              <a:ext uri="{FF2B5EF4-FFF2-40B4-BE49-F238E27FC236}">
                <a16:creationId xmlns:a16="http://schemas.microsoft.com/office/drawing/2014/main" id="{8153461F-339B-9CCC-D22F-F919547A4511}"/>
              </a:ext>
            </a:extLst>
          </p:cNvPr>
          <p:cNvGraphicFramePr>
            <a:graphicFrameLocks noGrp="1"/>
          </p:cNvGraphicFramePr>
          <p:nvPr>
            <p:ph idx="1"/>
            <p:extLst>
              <p:ext uri="{D42A27DB-BD31-4B8C-83A1-F6EECF244321}">
                <p14:modId xmlns:p14="http://schemas.microsoft.com/office/powerpoint/2010/main" val="3134894511"/>
              </p:ext>
            </p:extLst>
          </p:nvPr>
        </p:nvGraphicFramePr>
        <p:xfrm>
          <a:off x="350982" y="1810327"/>
          <a:ext cx="11351491" cy="4440723"/>
        </p:xfrm>
        <a:graphic>
          <a:graphicData uri="http://schemas.openxmlformats.org/drawingml/2006/table">
            <a:tbl>
              <a:tblPr firstRow="1" firstCol="1" bandRow="1">
                <a:tableStyleId>{5940675A-B579-460E-94D1-54222C63F5DA}</a:tableStyleId>
              </a:tblPr>
              <a:tblGrid>
                <a:gridCol w="508000">
                  <a:extLst>
                    <a:ext uri="{9D8B030D-6E8A-4147-A177-3AD203B41FA5}">
                      <a16:colId xmlns:a16="http://schemas.microsoft.com/office/drawing/2014/main" val="3951520914"/>
                    </a:ext>
                  </a:extLst>
                </a:gridCol>
                <a:gridCol w="1930400">
                  <a:extLst>
                    <a:ext uri="{9D8B030D-6E8A-4147-A177-3AD203B41FA5}">
                      <a16:colId xmlns:a16="http://schemas.microsoft.com/office/drawing/2014/main" val="3053708678"/>
                    </a:ext>
                  </a:extLst>
                </a:gridCol>
                <a:gridCol w="2475345">
                  <a:extLst>
                    <a:ext uri="{9D8B030D-6E8A-4147-A177-3AD203B41FA5}">
                      <a16:colId xmlns:a16="http://schemas.microsoft.com/office/drawing/2014/main" val="2826327262"/>
                    </a:ext>
                  </a:extLst>
                </a:gridCol>
                <a:gridCol w="3823855">
                  <a:extLst>
                    <a:ext uri="{9D8B030D-6E8A-4147-A177-3AD203B41FA5}">
                      <a16:colId xmlns:a16="http://schemas.microsoft.com/office/drawing/2014/main" val="956164914"/>
                    </a:ext>
                  </a:extLst>
                </a:gridCol>
                <a:gridCol w="2613891">
                  <a:extLst>
                    <a:ext uri="{9D8B030D-6E8A-4147-A177-3AD203B41FA5}">
                      <a16:colId xmlns:a16="http://schemas.microsoft.com/office/drawing/2014/main" val="3996306794"/>
                    </a:ext>
                  </a:extLst>
                </a:gridCol>
              </a:tblGrid>
              <a:tr h="655917">
                <a:tc>
                  <a:txBody>
                    <a:bodyPr/>
                    <a:lstStyle/>
                    <a:p>
                      <a:pPr algn="ctr">
                        <a:lnSpc>
                          <a:spcPct val="107000"/>
                        </a:lnSpc>
                        <a:spcAft>
                          <a:spcPts val="800"/>
                        </a:spcAft>
                      </a:pPr>
                      <a:r>
                        <a:rPr lang="en-IN" sz="1700" b="1" kern="100" dirty="0">
                          <a:effectLst/>
                        </a:rPr>
                        <a:t>S.</a:t>
                      </a:r>
                    </a:p>
                    <a:p>
                      <a:pPr algn="ctr">
                        <a:lnSpc>
                          <a:spcPct val="107000"/>
                        </a:lnSpc>
                        <a:spcAft>
                          <a:spcPts val="800"/>
                        </a:spcAft>
                      </a:pPr>
                      <a:r>
                        <a:rPr lang="en-IN" sz="1700" b="1" kern="100" dirty="0">
                          <a:effectLst/>
                        </a:rPr>
                        <a:t>NO</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PAPER TITLE</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JOURNAL /</a:t>
                      </a:r>
                    </a:p>
                    <a:p>
                      <a:pPr algn="ctr">
                        <a:lnSpc>
                          <a:spcPct val="107000"/>
                        </a:lnSpc>
                        <a:spcAft>
                          <a:spcPts val="800"/>
                        </a:spcAft>
                      </a:pPr>
                      <a:r>
                        <a:rPr lang="en-IN" sz="1700" b="1" kern="100" dirty="0">
                          <a:effectLst/>
                        </a:rPr>
                        <a:t>TRANSACTIONS</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SYSTEM PROPOSED</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LIMITATIONS</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extLst>
                  <a:ext uri="{0D108BD9-81ED-4DB2-BD59-A6C34878D82A}">
                    <a16:rowId xmlns:a16="http://schemas.microsoft.com/office/drawing/2014/main" val="3243511218"/>
                  </a:ext>
                </a:extLst>
              </a:tr>
              <a:tr h="1856374">
                <a:tc>
                  <a:txBody>
                    <a:bodyPr/>
                    <a:lstStyle/>
                    <a:p>
                      <a:pPr algn="just">
                        <a:lnSpc>
                          <a:spcPct val="107000"/>
                        </a:lnSpc>
                        <a:spcAft>
                          <a:spcPts val="800"/>
                        </a:spcAft>
                      </a:pPr>
                      <a:r>
                        <a:rPr lang="en-IN" sz="1700" kern="100">
                          <a:effectLst/>
                          <a:latin typeface="Calibri" panose="020F0502020204030204" pitchFamily="34" charset="0"/>
                          <a:ea typeface="Calibri" panose="020F0502020204030204" pitchFamily="34" charset="0"/>
                          <a:cs typeface="Calibri" panose="020F0502020204030204" pitchFamily="34" charset="0"/>
                        </a:rPr>
                        <a:t>3.</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700" b="1" kern="100" dirty="0">
                          <a:effectLst/>
                          <a:latin typeface="Calibri" panose="020F0502020204030204" pitchFamily="34" charset="0"/>
                          <a:ea typeface="Calibri" panose="020F0502020204030204" pitchFamily="34" charset="0"/>
                          <a:cs typeface="Calibri" panose="020F0502020204030204" pitchFamily="34" charset="0"/>
                        </a:rPr>
                        <a:t>Meta-Learning in Neural Networks: A Survey</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T. </a:t>
                      </a:r>
                      <a:r>
                        <a:rPr lang="en-IN" sz="1700" kern="100" dirty="0" err="1">
                          <a:effectLst/>
                          <a:latin typeface="Calibri" panose="020F0502020204030204" pitchFamily="34" charset="0"/>
                          <a:ea typeface="Calibri" panose="020F0502020204030204" pitchFamily="34" charset="0"/>
                          <a:cs typeface="Calibri" panose="020F0502020204030204" pitchFamily="34" charset="0"/>
                        </a:rPr>
                        <a:t>Hospedales</a:t>
                      </a:r>
                      <a:r>
                        <a:rPr lang="en-IN" sz="1700" kern="100" dirty="0">
                          <a:effectLst/>
                          <a:latin typeface="Calibri" panose="020F0502020204030204" pitchFamily="34" charset="0"/>
                          <a:ea typeface="Calibri" panose="020F0502020204030204" pitchFamily="34" charset="0"/>
                          <a:cs typeface="Calibri" panose="020F0502020204030204" pitchFamily="34" charset="0"/>
                        </a:rPr>
                        <a:t>, A. Antoniou, P. </a:t>
                      </a:r>
                      <a:r>
                        <a:rPr lang="en-IN" sz="1700" kern="100" dirty="0" err="1">
                          <a:effectLst/>
                          <a:latin typeface="Calibri" panose="020F0502020204030204" pitchFamily="34" charset="0"/>
                          <a:ea typeface="Calibri" panose="020F0502020204030204" pitchFamily="34" charset="0"/>
                          <a:cs typeface="Calibri" panose="020F0502020204030204" pitchFamily="34" charset="0"/>
                        </a:rPr>
                        <a:t>Micaelli</a:t>
                      </a:r>
                      <a:r>
                        <a:rPr lang="en-IN" sz="1700" kern="100" dirty="0">
                          <a:effectLst/>
                          <a:latin typeface="Calibri" panose="020F0502020204030204" pitchFamily="34" charset="0"/>
                          <a:ea typeface="Calibri" panose="020F0502020204030204" pitchFamily="34" charset="0"/>
                          <a:cs typeface="Calibri" panose="020F0502020204030204" pitchFamily="34" charset="0"/>
                        </a:rPr>
                        <a:t> and A. </a:t>
                      </a:r>
                      <a:r>
                        <a:rPr lang="en-IN" sz="1700" kern="100" dirty="0" err="1">
                          <a:effectLst/>
                          <a:latin typeface="Calibri" panose="020F0502020204030204" pitchFamily="34" charset="0"/>
                          <a:ea typeface="Calibri" panose="020F0502020204030204" pitchFamily="34" charset="0"/>
                          <a:cs typeface="Calibri" panose="020F0502020204030204" pitchFamily="34" charset="0"/>
                        </a:rPr>
                        <a:t>Storkey</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IEEE Transactions on Pattern Analysis and Machine Intelligence, vol. 46, no. 7, pp. 4763-4779, </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doi:10.1109/TPAMI.2024.3357847(</a:t>
                      </a:r>
                      <a:r>
                        <a:rPr lang="en-IN" sz="1700" b="1"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2024</a:t>
                      </a: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A comprehensive survey on meta-learning, introducing a new taxonomy to categorize current methods and exploring its applications in few-shot learning and reinforcement learning. </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lvl="0" indent="-342900">
                        <a:lnSpc>
                          <a:spcPct val="107000"/>
                        </a:lnSpc>
                        <a:buFont typeface="Symbol" panose="05050102010706020507" pitchFamily="18" charset="2"/>
                        <a:buChar char=""/>
                      </a:pP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Accurately categorizing diverse meta-learning methods.</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IN" sz="1700" kern="100" dirty="0">
                          <a:effectLst/>
                          <a:latin typeface="Calibri" panose="020F0502020204030204" pitchFamily="34" charset="0"/>
                          <a:ea typeface="Calibri" panose="020F0502020204030204" pitchFamily="34" charset="0"/>
                          <a:cs typeface="Calibri" panose="020F0502020204030204" pitchFamily="34" charset="0"/>
                        </a:rPr>
                        <a:t>Struggles with complex multi-modal task</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      distributions.                                                   </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62195245"/>
                  </a:ext>
                </a:extLst>
              </a:tr>
              <a:tr h="1785706">
                <a:tc>
                  <a:txBody>
                    <a:bodyPr/>
                    <a:lstStyle/>
                    <a:p>
                      <a:pPr algn="just">
                        <a:lnSpc>
                          <a:spcPct val="107000"/>
                        </a:lnSpc>
                        <a:spcAft>
                          <a:spcPts val="800"/>
                        </a:spcAft>
                      </a:pPr>
                      <a:r>
                        <a:rPr lang="en-IN" sz="1700" kern="100">
                          <a:effectLst/>
                          <a:latin typeface="Calibri" panose="020F0502020204030204" pitchFamily="34" charset="0"/>
                          <a:ea typeface="Calibri" panose="020F0502020204030204" pitchFamily="34" charset="0"/>
                          <a:cs typeface="Calibri" panose="020F0502020204030204" pitchFamily="34" charset="0"/>
                        </a:rPr>
                        <a:t>4.</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700" b="1"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Model Selection for Generic Contextual Bandits</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A. Ghosh, A. </a:t>
                      </a:r>
                      <a:r>
                        <a:rPr lang="en-IN" sz="1700" kern="100" dirty="0" err="1">
                          <a:effectLst/>
                          <a:latin typeface="Calibri" panose="020F0502020204030204" pitchFamily="34" charset="0"/>
                          <a:ea typeface="Calibri" panose="020F0502020204030204" pitchFamily="34" charset="0"/>
                          <a:cs typeface="Calibri" panose="020F0502020204030204" pitchFamily="34" charset="0"/>
                        </a:rPr>
                        <a:t>Sankararaman</a:t>
                      </a:r>
                      <a:r>
                        <a:rPr lang="en-IN" sz="1700" kern="100" dirty="0">
                          <a:effectLst/>
                          <a:latin typeface="Calibri" panose="020F0502020204030204" pitchFamily="34" charset="0"/>
                          <a:ea typeface="Calibri" panose="020F0502020204030204" pitchFamily="34" charset="0"/>
                          <a:cs typeface="Calibri" panose="020F0502020204030204" pitchFamily="34" charset="0"/>
                        </a:rPr>
                        <a:t> and K. Ramchandran</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IEEE Transactions on Information Theory, vol. 70, no. 1, pp. 656-675, Jan.,doi:10.1109/TIT.2023.</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3298103(</a:t>
                      </a:r>
                      <a:r>
                        <a:rPr lang="en-IN" sz="1700" b="1"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2024</a:t>
                      </a: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7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Adaptive Contextual Bandit (ACB) algorithm refines model classes in phases, matching the regret rate of algorithms with true model knowledge. It incurs minimal cost in model selection, while a simpler explore-then-commit (ETC) algorithm has higher costs. </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lvl="0" indent="-342900">
                        <a:lnSpc>
                          <a:spcPct val="107000"/>
                        </a:lnSpc>
                        <a:spcAft>
                          <a:spcPts val="800"/>
                        </a:spcAft>
                        <a:buFont typeface="Symbol" panose="05050102010706020507" pitchFamily="18" charset="2"/>
                        <a:buChar char=""/>
                      </a:pPr>
                      <a:r>
                        <a:rPr lang="en-IN" sz="1700" kern="100" dirty="0">
                          <a:effectLst/>
                          <a:latin typeface="Calibri" panose="020F0502020204030204" pitchFamily="34" charset="0"/>
                          <a:ea typeface="Calibri" panose="020F0502020204030204" pitchFamily="34" charset="0"/>
                          <a:cs typeface="Calibri" panose="020F0502020204030204" pitchFamily="34" charset="0"/>
                        </a:rPr>
                        <a:t>Higher model selection cost in ETC compared to ACB.</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203835">
                        <a:lnSpc>
                          <a:spcPct val="107000"/>
                        </a:lnSpc>
                        <a:spcAft>
                          <a:spcPts val="800"/>
                        </a:spcAft>
                      </a:pPr>
                      <a:r>
                        <a:rPr lang="en-IN" sz="1700" kern="0" dirty="0">
                          <a:solidFill>
                            <a:srgbClr val="000000"/>
                          </a:solidFill>
                          <a:effectLst/>
                          <a:latin typeface="Calibri" panose="020F0502020204030204" pitchFamily="34" charset="0"/>
                          <a:ea typeface="Symbol" panose="05050102010706020507" pitchFamily="18" charset="2"/>
                          <a:cs typeface="Calibri" panose="020F0502020204030204" pitchFamily="34" charset="0"/>
                        </a:rPr>
                        <a:t> </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203835" algn="just">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 </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88612198"/>
                  </a:ext>
                </a:extLst>
              </a:tr>
            </a:tbl>
          </a:graphicData>
        </a:graphic>
      </p:graphicFrame>
      <p:sp>
        <p:nvSpPr>
          <p:cNvPr id="3" name="Slide Number Placeholder 2">
            <a:extLst>
              <a:ext uri="{FF2B5EF4-FFF2-40B4-BE49-F238E27FC236}">
                <a16:creationId xmlns:a16="http://schemas.microsoft.com/office/drawing/2014/main" id="{BFD6DE48-DDCA-8934-F606-3F118C1A0670}"/>
              </a:ext>
            </a:extLst>
          </p:cNvPr>
          <p:cNvSpPr>
            <a:spLocks noGrp="1"/>
          </p:cNvSpPr>
          <p:nvPr>
            <p:ph type="sldNum" sz="quarter" idx="12"/>
          </p:nvPr>
        </p:nvSpPr>
        <p:spPr/>
        <p:txBody>
          <a:bodyPr/>
          <a:lstStyle/>
          <a:p>
            <a:fld id="{6113E31D-E2AB-40D1-8B51-AFA5AFEF393A}" type="slidenum">
              <a:rPr lang="en-US" smtClean="0"/>
              <a:t>6</a:t>
            </a:fld>
            <a:endParaRPr lang="en-US" dirty="0"/>
          </a:p>
        </p:txBody>
      </p:sp>
    </p:spTree>
    <p:extLst>
      <p:ext uri="{BB962C8B-B14F-4D97-AF65-F5344CB8AC3E}">
        <p14:creationId xmlns:p14="http://schemas.microsoft.com/office/powerpoint/2010/main" val="237231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CF230-8062-39F0-B420-B9CCE4AFFE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D482C-FC23-4FAE-6E92-F63163D59C8B}"/>
              </a:ext>
            </a:extLst>
          </p:cNvPr>
          <p:cNvSpPr>
            <a:spLocks noGrp="1"/>
          </p:cNvSpPr>
          <p:nvPr>
            <p:ph type="title"/>
          </p:nvPr>
        </p:nvSpPr>
        <p:spPr/>
        <p:txBody>
          <a:bodyPr/>
          <a:lstStyle/>
          <a:p>
            <a:r>
              <a:rPr lang="en-IN" dirty="0">
                <a:solidFill>
                  <a:schemeClr val="tx1"/>
                </a:solidFill>
              </a:rPr>
              <a:t>LITERATURE SURVEY</a:t>
            </a:r>
          </a:p>
        </p:txBody>
      </p:sp>
      <p:graphicFrame>
        <p:nvGraphicFramePr>
          <p:cNvPr id="4" name="Content Placeholder 3">
            <a:extLst>
              <a:ext uri="{FF2B5EF4-FFF2-40B4-BE49-F238E27FC236}">
                <a16:creationId xmlns:a16="http://schemas.microsoft.com/office/drawing/2014/main" id="{14ADB5EE-AC93-5C21-BFFB-980E56D6E9A3}"/>
              </a:ext>
            </a:extLst>
          </p:cNvPr>
          <p:cNvGraphicFramePr>
            <a:graphicFrameLocks noGrp="1"/>
          </p:cNvGraphicFramePr>
          <p:nvPr>
            <p:ph idx="1"/>
            <p:extLst>
              <p:ext uri="{D42A27DB-BD31-4B8C-83A1-F6EECF244321}">
                <p14:modId xmlns:p14="http://schemas.microsoft.com/office/powerpoint/2010/main" val="2418595326"/>
              </p:ext>
            </p:extLst>
          </p:nvPr>
        </p:nvGraphicFramePr>
        <p:xfrm>
          <a:off x="350982" y="1810328"/>
          <a:ext cx="11351491" cy="4577774"/>
        </p:xfrm>
        <a:graphic>
          <a:graphicData uri="http://schemas.openxmlformats.org/drawingml/2006/table">
            <a:tbl>
              <a:tblPr firstRow="1" firstCol="1" bandRow="1">
                <a:tableStyleId>{5940675A-B579-460E-94D1-54222C63F5DA}</a:tableStyleId>
              </a:tblPr>
              <a:tblGrid>
                <a:gridCol w="471054">
                  <a:extLst>
                    <a:ext uri="{9D8B030D-6E8A-4147-A177-3AD203B41FA5}">
                      <a16:colId xmlns:a16="http://schemas.microsoft.com/office/drawing/2014/main" val="3951520914"/>
                    </a:ext>
                  </a:extLst>
                </a:gridCol>
                <a:gridCol w="2780146">
                  <a:extLst>
                    <a:ext uri="{9D8B030D-6E8A-4147-A177-3AD203B41FA5}">
                      <a16:colId xmlns:a16="http://schemas.microsoft.com/office/drawing/2014/main" val="3053708678"/>
                    </a:ext>
                  </a:extLst>
                </a:gridCol>
                <a:gridCol w="1985818">
                  <a:extLst>
                    <a:ext uri="{9D8B030D-6E8A-4147-A177-3AD203B41FA5}">
                      <a16:colId xmlns:a16="http://schemas.microsoft.com/office/drawing/2014/main" val="2826327262"/>
                    </a:ext>
                  </a:extLst>
                </a:gridCol>
                <a:gridCol w="3731491">
                  <a:extLst>
                    <a:ext uri="{9D8B030D-6E8A-4147-A177-3AD203B41FA5}">
                      <a16:colId xmlns:a16="http://schemas.microsoft.com/office/drawing/2014/main" val="956164914"/>
                    </a:ext>
                  </a:extLst>
                </a:gridCol>
                <a:gridCol w="2382982">
                  <a:extLst>
                    <a:ext uri="{9D8B030D-6E8A-4147-A177-3AD203B41FA5}">
                      <a16:colId xmlns:a16="http://schemas.microsoft.com/office/drawing/2014/main" val="3996306794"/>
                    </a:ext>
                  </a:extLst>
                </a:gridCol>
              </a:tblGrid>
              <a:tr h="630001">
                <a:tc>
                  <a:txBody>
                    <a:bodyPr/>
                    <a:lstStyle/>
                    <a:p>
                      <a:pPr algn="ctr">
                        <a:lnSpc>
                          <a:spcPct val="107000"/>
                        </a:lnSpc>
                        <a:spcAft>
                          <a:spcPts val="800"/>
                        </a:spcAft>
                      </a:pPr>
                      <a:r>
                        <a:rPr lang="en-IN" sz="1700" b="1" kern="100" dirty="0">
                          <a:effectLst/>
                        </a:rPr>
                        <a:t>S.</a:t>
                      </a:r>
                    </a:p>
                    <a:p>
                      <a:pPr algn="ctr">
                        <a:lnSpc>
                          <a:spcPct val="107000"/>
                        </a:lnSpc>
                        <a:spcAft>
                          <a:spcPts val="800"/>
                        </a:spcAft>
                      </a:pPr>
                      <a:r>
                        <a:rPr lang="en-IN" sz="1700" b="1" kern="100" dirty="0">
                          <a:effectLst/>
                        </a:rPr>
                        <a:t>NO</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PAPER TITLE</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JOURNAL /</a:t>
                      </a:r>
                    </a:p>
                    <a:p>
                      <a:pPr algn="ctr">
                        <a:lnSpc>
                          <a:spcPct val="107000"/>
                        </a:lnSpc>
                        <a:spcAft>
                          <a:spcPts val="800"/>
                        </a:spcAft>
                      </a:pPr>
                      <a:r>
                        <a:rPr lang="en-IN" sz="1700" b="1" kern="100" dirty="0">
                          <a:effectLst/>
                        </a:rPr>
                        <a:t>TRANSACTIONS</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SYSTEM PROPOSED</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LIMITATIONS</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extLst>
                  <a:ext uri="{0D108BD9-81ED-4DB2-BD59-A6C34878D82A}">
                    <a16:rowId xmlns:a16="http://schemas.microsoft.com/office/drawing/2014/main" val="3243511218"/>
                  </a:ext>
                </a:extLst>
              </a:tr>
              <a:tr h="2158306">
                <a:tc>
                  <a:txBody>
                    <a:bodyPr/>
                    <a:lstStyle/>
                    <a:p>
                      <a:pPr algn="just">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5.</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700" b="1"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Performance Indicator-Based Adaptive Model Selection for Offline Data-Driven </a:t>
                      </a:r>
                      <a:r>
                        <a:rPr lang="en-IN" sz="1700" b="1" kern="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Multiobjective</a:t>
                      </a:r>
                      <a:r>
                        <a:rPr lang="en-IN" sz="1700" b="1"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Evolutionary Optimization</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Z. Liu, H. Wang and Y. Jin</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 </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IEEE Transactions on Cybernetics, vol. 53, no. 10, pp. 6263-6276,doi:10.1109/TCYB.203170344(</a:t>
                      </a:r>
                      <a:r>
                        <a:rPr lang="en-IN" sz="1700" b="1"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2023</a:t>
                      </a: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An adaptive surrogate-assisted evolutionary algorithm is used for switching between Kriging models and RBFNs based on approximation error, to solve the offline data-driven </a:t>
                      </a:r>
                      <a:r>
                        <a:rPr lang="en-IN" sz="1700" kern="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multiobjective</a:t>
                      </a: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optimization problems with up to 10 objectives and 20-30 decision variables.</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lvl="0" indent="-342900">
                        <a:lnSpc>
                          <a:spcPct val="107000"/>
                        </a:lnSpc>
                        <a:spcAft>
                          <a:spcPts val="800"/>
                        </a:spcAft>
                        <a:buFont typeface="Symbol" panose="05050102010706020507" pitchFamily="18" charset="2"/>
                        <a:buChar char=""/>
                      </a:pPr>
                      <a:r>
                        <a:rPr lang="en-IN" sz="1700" kern="100" dirty="0">
                          <a:effectLst/>
                          <a:latin typeface="Calibri" panose="020F0502020204030204" pitchFamily="34" charset="0"/>
                          <a:ea typeface="Calibri" panose="020F0502020204030204" pitchFamily="34" charset="0"/>
                          <a:cs typeface="Calibri" panose="020F0502020204030204" pitchFamily="34" charset="0"/>
                        </a:rPr>
                        <a:t>Depends only on surrogate         model quality.</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62195245"/>
                  </a:ext>
                </a:extLst>
              </a:tr>
              <a:tr h="1728274">
                <a:tc>
                  <a:txBody>
                    <a:bodyPr/>
                    <a:lstStyle/>
                    <a:p>
                      <a:pPr algn="just">
                        <a:lnSpc>
                          <a:spcPct val="107000"/>
                        </a:lnSpc>
                        <a:spcAft>
                          <a:spcPts val="800"/>
                        </a:spcAft>
                      </a:pPr>
                      <a:r>
                        <a:rPr lang="en-IN" sz="1700" kern="1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tc>
                <a:tc>
                  <a:txBody>
                    <a:bodyPr/>
                    <a:lstStyle/>
                    <a:p>
                      <a:pPr>
                        <a:lnSpc>
                          <a:spcPct val="107000"/>
                        </a:lnSpc>
                        <a:spcAft>
                          <a:spcPts val="800"/>
                        </a:spcAft>
                      </a:pPr>
                      <a:r>
                        <a:rPr lang="en-IN" sz="1700" b="1"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Automatic Title Generation for Text with Pre trained Transformer Language Model</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700" kern="100" dirty="0">
                          <a:effectLst/>
                          <a:latin typeface="Calibri" panose="020F0502020204030204" pitchFamily="34" charset="0"/>
                          <a:ea typeface="Calibri" panose="020F0502020204030204" pitchFamily="34" charset="0"/>
                          <a:cs typeface="Times New Roman" panose="02020603050405020304" pitchFamily="18" charset="0"/>
                        </a:rPr>
                        <a:t>P. Mishra, </a:t>
                      </a:r>
                      <a:r>
                        <a:rPr lang="en-IN" sz="1700" kern="100" dirty="0" err="1">
                          <a:effectLst/>
                          <a:latin typeface="Calibri" panose="020F0502020204030204" pitchFamily="34" charset="0"/>
                          <a:ea typeface="Calibri" panose="020F0502020204030204" pitchFamily="34" charset="0"/>
                          <a:cs typeface="Times New Roman" panose="02020603050405020304" pitchFamily="18" charset="0"/>
                        </a:rPr>
                        <a:t>C.Diwan</a:t>
                      </a:r>
                      <a:r>
                        <a:rPr lang="en-IN" sz="17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700" kern="100" dirty="0" err="1">
                          <a:effectLst/>
                          <a:latin typeface="Calibri" panose="020F0502020204030204" pitchFamily="34" charset="0"/>
                          <a:ea typeface="Calibri" panose="020F0502020204030204" pitchFamily="34" charset="0"/>
                          <a:cs typeface="Times New Roman" panose="02020603050405020304" pitchFamily="18" charset="0"/>
                        </a:rPr>
                        <a:t>S.Srinivasa</a:t>
                      </a:r>
                      <a:r>
                        <a:rPr lang="en-IN" sz="17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IN" sz="1700" kern="100" dirty="0" err="1">
                          <a:effectLst/>
                          <a:latin typeface="Calibri" panose="020F0502020204030204" pitchFamily="34" charset="0"/>
                          <a:ea typeface="Calibri" panose="020F0502020204030204" pitchFamily="34" charset="0"/>
                          <a:cs typeface="Times New Roman" panose="02020603050405020304" pitchFamily="18" charset="0"/>
                        </a:rPr>
                        <a:t>G.Srinivasaraghavan</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IEEE Transactions on Information Theory, vol. 50, no. 1, pp. 656-675, Jan.,doi:10.2109/TIT.2023.3458(</a:t>
                      </a:r>
                      <a:r>
                        <a:rPr lang="en-IN" sz="1700" b="1"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2024</a:t>
                      </a: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 model that adapts and generalizes using meta-learning for automatic title generation from text.</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lvl="0" indent="-342900">
                        <a:lnSpc>
                          <a:spcPct val="107000"/>
                        </a:lnSpc>
                        <a:buFont typeface="Symbol" panose="05050102010706020507" pitchFamily="18" charset="2"/>
                        <a:buChar char=""/>
                      </a:pPr>
                      <a:r>
                        <a:rPr lang="en-IN" sz="1700" kern="100" dirty="0">
                          <a:effectLst/>
                          <a:latin typeface="Calibri" panose="020F0502020204030204" pitchFamily="34" charset="0"/>
                          <a:ea typeface="Calibri" panose="020F0502020204030204" pitchFamily="34" charset="0"/>
                          <a:cs typeface="Calibri" panose="020F0502020204030204" pitchFamily="34" charset="0"/>
                        </a:rPr>
                        <a:t> Handling complex,    multi-modal task distributions.</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700" kern="100" dirty="0">
                          <a:effectLst/>
                          <a:latin typeface="Calibri" panose="020F0502020204030204" pitchFamily="34" charset="0"/>
                          <a:ea typeface="Calibri" panose="020F0502020204030204" pitchFamily="34" charset="0"/>
                          <a:cs typeface="Calibri" panose="020F0502020204030204" pitchFamily="34" charset="0"/>
                        </a:rPr>
                        <a:t>Mitigating data distribution shifts.</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203835">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 </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99235858"/>
                  </a:ext>
                </a:extLst>
              </a:tr>
            </a:tbl>
          </a:graphicData>
        </a:graphic>
      </p:graphicFrame>
      <p:sp>
        <p:nvSpPr>
          <p:cNvPr id="3" name="Slide Number Placeholder 2">
            <a:extLst>
              <a:ext uri="{FF2B5EF4-FFF2-40B4-BE49-F238E27FC236}">
                <a16:creationId xmlns:a16="http://schemas.microsoft.com/office/drawing/2014/main" id="{33DC2D5D-C346-54F2-786A-9B61365EAE09}"/>
              </a:ext>
            </a:extLst>
          </p:cNvPr>
          <p:cNvSpPr>
            <a:spLocks noGrp="1"/>
          </p:cNvSpPr>
          <p:nvPr>
            <p:ph type="sldNum" sz="quarter" idx="12"/>
          </p:nvPr>
        </p:nvSpPr>
        <p:spPr/>
        <p:txBody>
          <a:bodyPr/>
          <a:lstStyle/>
          <a:p>
            <a:fld id="{6113E31D-E2AB-40D1-8B51-AFA5AFEF393A}" type="slidenum">
              <a:rPr lang="en-US" smtClean="0"/>
              <a:t>7</a:t>
            </a:fld>
            <a:endParaRPr lang="en-US" dirty="0"/>
          </a:p>
        </p:txBody>
      </p:sp>
    </p:spTree>
    <p:extLst>
      <p:ext uri="{BB962C8B-B14F-4D97-AF65-F5344CB8AC3E}">
        <p14:creationId xmlns:p14="http://schemas.microsoft.com/office/powerpoint/2010/main" val="125644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18E64-CE60-EFD7-9D64-85E2CF9C34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C1269-3F4D-3052-13D8-DDD94173B1FB}"/>
              </a:ext>
            </a:extLst>
          </p:cNvPr>
          <p:cNvSpPr>
            <a:spLocks noGrp="1"/>
          </p:cNvSpPr>
          <p:nvPr>
            <p:ph type="title"/>
          </p:nvPr>
        </p:nvSpPr>
        <p:spPr/>
        <p:txBody>
          <a:bodyPr/>
          <a:lstStyle/>
          <a:p>
            <a:r>
              <a:rPr lang="en-IN" dirty="0">
                <a:solidFill>
                  <a:schemeClr val="tx1"/>
                </a:solidFill>
              </a:rPr>
              <a:t>LITERATURE SURVEY</a:t>
            </a:r>
          </a:p>
        </p:txBody>
      </p:sp>
      <p:graphicFrame>
        <p:nvGraphicFramePr>
          <p:cNvPr id="4" name="Content Placeholder 3">
            <a:extLst>
              <a:ext uri="{FF2B5EF4-FFF2-40B4-BE49-F238E27FC236}">
                <a16:creationId xmlns:a16="http://schemas.microsoft.com/office/drawing/2014/main" id="{126DC745-C23E-707D-FD5E-3C0EB359F48C}"/>
              </a:ext>
            </a:extLst>
          </p:cNvPr>
          <p:cNvGraphicFramePr>
            <a:graphicFrameLocks noGrp="1"/>
          </p:cNvGraphicFramePr>
          <p:nvPr>
            <p:ph idx="1"/>
            <p:extLst>
              <p:ext uri="{D42A27DB-BD31-4B8C-83A1-F6EECF244321}">
                <p14:modId xmlns:p14="http://schemas.microsoft.com/office/powerpoint/2010/main" val="2140838211"/>
              </p:ext>
            </p:extLst>
          </p:nvPr>
        </p:nvGraphicFramePr>
        <p:xfrm>
          <a:off x="350982" y="1810327"/>
          <a:ext cx="11351491" cy="4512781"/>
        </p:xfrm>
        <a:graphic>
          <a:graphicData uri="http://schemas.openxmlformats.org/drawingml/2006/table">
            <a:tbl>
              <a:tblPr firstRow="1" firstCol="1" bandRow="1">
                <a:tableStyleId>{5940675A-B579-460E-94D1-54222C63F5DA}</a:tableStyleId>
              </a:tblPr>
              <a:tblGrid>
                <a:gridCol w="443345">
                  <a:extLst>
                    <a:ext uri="{9D8B030D-6E8A-4147-A177-3AD203B41FA5}">
                      <a16:colId xmlns:a16="http://schemas.microsoft.com/office/drawing/2014/main" val="3951520914"/>
                    </a:ext>
                  </a:extLst>
                </a:gridCol>
                <a:gridCol w="2650837">
                  <a:extLst>
                    <a:ext uri="{9D8B030D-6E8A-4147-A177-3AD203B41FA5}">
                      <a16:colId xmlns:a16="http://schemas.microsoft.com/office/drawing/2014/main" val="3053708678"/>
                    </a:ext>
                  </a:extLst>
                </a:gridCol>
                <a:gridCol w="1958109">
                  <a:extLst>
                    <a:ext uri="{9D8B030D-6E8A-4147-A177-3AD203B41FA5}">
                      <a16:colId xmlns:a16="http://schemas.microsoft.com/office/drawing/2014/main" val="2826327262"/>
                    </a:ext>
                  </a:extLst>
                </a:gridCol>
                <a:gridCol w="3685309">
                  <a:extLst>
                    <a:ext uri="{9D8B030D-6E8A-4147-A177-3AD203B41FA5}">
                      <a16:colId xmlns:a16="http://schemas.microsoft.com/office/drawing/2014/main" val="956164914"/>
                    </a:ext>
                  </a:extLst>
                </a:gridCol>
                <a:gridCol w="2613891">
                  <a:extLst>
                    <a:ext uri="{9D8B030D-6E8A-4147-A177-3AD203B41FA5}">
                      <a16:colId xmlns:a16="http://schemas.microsoft.com/office/drawing/2014/main" val="3996306794"/>
                    </a:ext>
                  </a:extLst>
                </a:gridCol>
              </a:tblGrid>
              <a:tr h="655917">
                <a:tc>
                  <a:txBody>
                    <a:bodyPr/>
                    <a:lstStyle/>
                    <a:p>
                      <a:pPr algn="ctr">
                        <a:lnSpc>
                          <a:spcPct val="107000"/>
                        </a:lnSpc>
                        <a:spcAft>
                          <a:spcPts val="800"/>
                        </a:spcAft>
                      </a:pPr>
                      <a:r>
                        <a:rPr lang="en-IN" sz="1700" b="1" kern="100" dirty="0">
                          <a:effectLst/>
                        </a:rPr>
                        <a:t>S.</a:t>
                      </a:r>
                    </a:p>
                    <a:p>
                      <a:pPr algn="ctr">
                        <a:lnSpc>
                          <a:spcPct val="107000"/>
                        </a:lnSpc>
                        <a:spcAft>
                          <a:spcPts val="800"/>
                        </a:spcAft>
                      </a:pPr>
                      <a:r>
                        <a:rPr lang="en-IN" sz="1700" b="1" kern="100" dirty="0">
                          <a:effectLst/>
                        </a:rPr>
                        <a:t>NO</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PAPER TITLE</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JOURNAL /</a:t>
                      </a:r>
                    </a:p>
                    <a:p>
                      <a:pPr algn="ctr">
                        <a:lnSpc>
                          <a:spcPct val="107000"/>
                        </a:lnSpc>
                        <a:spcAft>
                          <a:spcPts val="800"/>
                        </a:spcAft>
                      </a:pPr>
                      <a:r>
                        <a:rPr lang="en-IN" sz="1700" b="1" kern="100" dirty="0">
                          <a:effectLst/>
                        </a:rPr>
                        <a:t>TRANSACTIONS</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SYSTEM PROPOSED</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LIMITATIONS</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extLst>
                  <a:ext uri="{0D108BD9-81ED-4DB2-BD59-A6C34878D82A}">
                    <a16:rowId xmlns:a16="http://schemas.microsoft.com/office/drawing/2014/main" val="3243511218"/>
                  </a:ext>
                </a:extLst>
              </a:tr>
              <a:tr h="1856374">
                <a:tc>
                  <a:txBody>
                    <a:bodyPr/>
                    <a:lstStyle/>
                    <a:p>
                      <a:pPr algn="just">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7.</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700" b="1"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Unsupervised Feature Selection via Controllable Adaptive Graph Learning and Discriminative Feature Learning</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 Huang, M. Xie and X. Yang</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7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IEEE Transactions on Neural Networks and Learning Systems, vol. 35, no. 11, pp. 15600-15614(</a:t>
                      </a:r>
                      <a:r>
                        <a:rPr lang="en-IN" sz="1700" b="1"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2024</a:t>
                      </a:r>
                      <a:r>
                        <a:rPr lang="en-IN" sz="17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7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Unsupervised feature selection faces challenges in preserving intrinsic structure and finding uncorrelated features. CAG-U and CAG-I use adaptive graph learning and discrete projection to overcome inefficiencies in high-dimensional data.</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lvl="0" indent="-342900">
                        <a:lnSpc>
                          <a:spcPct val="107000"/>
                        </a:lnSpc>
                        <a:buFont typeface="Symbol" panose="05050102010706020507" pitchFamily="18" charset="2"/>
                        <a:buChar char=""/>
                      </a:pPr>
                      <a:r>
                        <a:rPr lang="en-IN" sz="1700" kern="100" dirty="0">
                          <a:effectLst/>
                          <a:latin typeface="Calibri" panose="020F0502020204030204" pitchFamily="34" charset="0"/>
                          <a:ea typeface="Calibri" panose="020F0502020204030204" pitchFamily="34" charset="0"/>
                          <a:cs typeface="Calibri" panose="020F0502020204030204" pitchFamily="34" charset="0"/>
                        </a:rPr>
                        <a:t>Dependence on prior knowledge of subspace dimension.</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IN" sz="1700" kern="100" dirty="0">
                          <a:effectLst/>
                          <a:latin typeface="Calibri" panose="020F0502020204030204" pitchFamily="34" charset="0"/>
                          <a:ea typeface="Calibri" panose="020F0502020204030204" pitchFamily="34" charset="0"/>
                          <a:cs typeface="Calibri" panose="020F0502020204030204" pitchFamily="34" charset="0"/>
                        </a:rPr>
                        <a:t>Inefficiency in handling extremely high-dimensional datasets.</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62195245"/>
                  </a:ext>
                </a:extLst>
              </a:tr>
              <a:tr h="1785706">
                <a:tc>
                  <a:txBody>
                    <a:bodyPr/>
                    <a:lstStyle/>
                    <a:p>
                      <a:pPr algn="just">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8.</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700" b="1"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Curiosity-Driven Class-Incremental Learning via Adaptive Sample Selection</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7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Q. Hu, Y. Gao and B. Cao</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7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IEEE Transactions on Circuits and Systems for Video Technology, vol. 32, no. 12, pp. 8660-8673(</a:t>
                      </a:r>
                      <a:r>
                        <a:rPr lang="en-IN" sz="1700" b="1"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2022</a:t>
                      </a:r>
                      <a:r>
                        <a:rPr lang="en-IN" sz="17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7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 curiosity-driven class-incremental learning approach is proposed to reduce catastrophic forgetting by selectively learning informative samples based on uncertainty and novelty, improving model robustness and balance between new and old knowledge.</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lvl="0" indent="-342900">
                        <a:lnSpc>
                          <a:spcPct val="107000"/>
                        </a:lnSpc>
                        <a:buFont typeface="Symbol" panose="05050102010706020507" pitchFamily="18" charset="2"/>
                        <a:buChar char=""/>
                      </a:pPr>
                      <a:r>
                        <a:rPr lang="en-IN" sz="1700" kern="100" dirty="0">
                          <a:effectLst/>
                          <a:latin typeface="Calibri" panose="020F0502020204030204" pitchFamily="34" charset="0"/>
                          <a:ea typeface="Calibri" panose="020F0502020204030204" pitchFamily="34" charset="0"/>
                          <a:cs typeface="Calibri" panose="020F0502020204030204" pitchFamily="34" charset="0"/>
                        </a:rPr>
                        <a:t>Dependence on accurate quantification of uncertainty novelty.</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IN" sz="1700" kern="100" dirty="0">
                          <a:effectLst/>
                          <a:latin typeface="Calibri" panose="020F0502020204030204" pitchFamily="34" charset="0"/>
                          <a:ea typeface="Calibri" panose="020F0502020204030204" pitchFamily="34" charset="0"/>
                          <a:cs typeface="Calibri" panose="020F0502020204030204" pitchFamily="34" charset="0"/>
                        </a:rPr>
                        <a:t>Potential inefficiency in highly imbalanced datasets.</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88612198"/>
                  </a:ext>
                </a:extLst>
              </a:tr>
            </a:tbl>
          </a:graphicData>
        </a:graphic>
      </p:graphicFrame>
      <p:sp>
        <p:nvSpPr>
          <p:cNvPr id="3" name="Slide Number Placeholder 2">
            <a:extLst>
              <a:ext uri="{FF2B5EF4-FFF2-40B4-BE49-F238E27FC236}">
                <a16:creationId xmlns:a16="http://schemas.microsoft.com/office/drawing/2014/main" id="{80016E38-D78C-FE1E-E15A-95D53BDD24B7}"/>
              </a:ext>
            </a:extLst>
          </p:cNvPr>
          <p:cNvSpPr>
            <a:spLocks noGrp="1"/>
          </p:cNvSpPr>
          <p:nvPr>
            <p:ph type="sldNum" sz="quarter" idx="12"/>
          </p:nvPr>
        </p:nvSpPr>
        <p:spPr/>
        <p:txBody>
          <a:bodyPr/>
          <a:lstStyle/>
          <a:p>
            <a:fld id="{6113E31D-E2AB-40D1-8B51-AFA5AFEF393A}" type="slidenum">
              <a:rPr lang="en-US" smtClean="0"/>
              <a:t>8</a:t>
            </a:fld>
            <a:endParaRPr lang="en-US" dirty="0"/>
          </a:p>
        </p:txBody>
      </p:sp>
    </p:spTree>
    <p:extLst>
      <p:ext uri="{BB962C8B-B14F-4D97-AF65-F5344CB8AC3E}">
        <p14:creationId xmlns:p14="http://schemas.microsoft.com/office/powerpoint/2010/main" val="2016901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F165B-1072-E9CF-2511-514383621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D90ABE-0B1D-5EED-B148-13E131BE9916}"/>
              </a:ext>
            </a:extLst>
          </p:cNvPr>
          <p:cNvSpPr>
            <a:spLocks noGrp="1"/>
          </p:cNvSpPr>
          <p:nvPr>
            <p:ph type="title"/>
          </p:nvPr>
        </p:nvSpPr>
        <p:spPr/>
        <p:txBody>
          <a:bodyPr/>
          <a:lstStyle/>
          <a:p>
            <a:r>
              <a:rPr lang="en-IN" dirty="0">
                <a:solidFill>
                  <a:schemeClr val="tx1"/>
                </a:solidFill>
              </a:rPr>
              <a:t>LITERATURE SURVEY</a:t>
            </a:r>
          </a:p>
        </p:txBody>
      </p:sp>
      <p:graphicFrame>
        <p:nvGraphicFramePr>
          <p:cNvPr id="4" name="Content Placeholder 3">
            <a:extLst>
              <a:ext uri="{FF2B5EF4-FFF2-40B4-BE49-F238E27FC236}">
                <a16:creationId xmlns:a16="http://schemas.microsoft.com/office/drawing/2014/main" id="{537E8DD5-7133-277F-4224-9BC6B478F29B}"/>
              </a:ext>
            </a:extLst>
          </p:cNvPr>
          <p:cNvGraphicFramePr>
            <a:graphicFrameLocks noGrp="1"/>
          </p:cNvGraphicFramePr>
          <p:nvPr>
            <p:ph idx="1"/>
            <p:extLst>
              <p:ext uri="{D42A27DB-BD31-4B8C-83A1-F6EECF244321}">
                <p14:modId xmlns:p14="http://schemas.microsoft.com/office/powerpoint/2010/main" val="4130447557"/>
              </p:ext>
            </p:extLst>
          </p:nvPr>
        </p:nvGraphicFramePr>
        <p:xfrm>
          <a:off x="350982" y="1810328"/>
          <a:ext cx="11482952" cy="4517377"/>
        </p:xfrm>
        <a:graphic>
          <a:graphicData uri="http://schemas.openxmlformats.org/drawingml/2006/table">
            <a:tbl>
              <a:tblPr firstRow="1" firstCol="1" bandRow="1">
                <a:tableStyleId>{5940675A-B579-460E-94D1-54222C63F5DA}</a:tableStyleId>
              </a:tblPr>
              <a:tblGrid>
                <a:gridCol w="459423">
                  <a:extLst>
                    <a:ext uri="{9D8B030D-6E8A-4147-A177-3AD203B41FA5}">
                      <a16:colId xmlns:a16="http://schemas.microsoft.com/office/drawing/2014/main" val="3951520914"/>
                    </a:ext>
                  </a:extLst>
                </a:gridCol>
                <a:gridCol w="2482861">
                  <a:extLst>
                    <a:ext uri="{9D8B030D-6E8A-4147-A177-3AD203B41FA5}">
                      <a16:colId xmlns:a16="http://schemas.microsoft.com/office/drawing/2014/main" val="3053708678"/>
                    </a:ext>
                  </a:extLst>
                </a:gridCol>
                <a:gridCol w="1876146">
                  <a:extLst>
                    <a:ext uri="{9D8B030D-6E8A-4147-A177-3AD203B41FA5}">
                      <a16:colId xmlns:a16="http://schemas.microsoft.com/office/drawing/2014/main" val="2826327262"/>
                    </a:ext>
                  </a:extLst>
                </a:gridCol>
                <a:gridCol w="4272303">
                  <a:extLst>
                    <a:ext uri="{9D8B030D-6E8A-4147-A177-3AD203B41FA5}">
                      <a16:colId xmlns:a16="http://schemas.microsoft.com/office/drawing/2014/main" val="956164914"/>
                    </a:ext>
                  </a:extLst>
                </a:gridCol>
                <a:gridCol w="2392219">
                  <a:extLst>
                    <a:ext uri="{9D8B030D-6E8A-4147-A177-3AD203B41FA5}">
                      <a16:colId xmlns:a16="http://schemas.microsoft.com/office/drawing/2014/main" val="3996306794"/>
                    </a:ext>
                  </a:extLst>
                </a:gridCol>
              </a:tblGrid>
              <a:tr h="629039">
                <a:tc>
                  <a:txBody>
                    <a:bodyPr/>
                    <a:lstStyle/>
                    <a:p>
                      <a:pPr algn="ctr">
                        <a:lnSpc>
                          <a:spcPct val="107000"/>
                        </a:lnSpc>
                        <a:spcAft>
                          <a:spcPts val="800"/>
                        </a:spcAft>
                      </a:pPr>
                      <a:r>
                        <a:rPr lang="en-IN" sz="1700" b="1" kern="100" dirty="0">
                          <a:effectLst/>
                        </a:rPr>
                        <a:t>S.</a:t>
                      </a:r>
                    </a:p>
                    <a:p>
                      <a:pPr algn="ctr">
                        <a:lnSpc>
                          <a:spcPct val="107000"/>
                        </a:lnSpc>
                        <a:spcAft>
                          <a:spcPts val="800"/>
                        </a:spcAft>
                      </a:pPr>
                      <a:r>
                        <a:rPr lang="en-IN" sz="1700" b="1" kern="100" dirty="0">
                          <a:effectLst/>
                        </a:rPr>
                        <a:t>NO</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PAPER TITLE</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JOURNAL /</a:t>
                      </a:r>
                    </a:p>
                    <a:p>
                      <a:pPr algn="ctr">
                        <a:lnSpc>
                          <a:spcPct val="107000"/>
                        </a:lnSpc>
                        <a:spcAft>
                          <a:spcPts val="800"/>
                        </a:spcAft>
                      </a:pPr>
                      <a:r>
                        <a:rPr lang="en-IN" sz="1700" b="1" kern="100" dirty="0">
                          <a:effectLst/>
                        </a:rPr>
                        <a:t>TRANSACTIONS</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SYSTEM PROPOSED</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LIMITATIONS</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extLst>
                  <a:ext uri="{0D108BD9-81ED-4DB2-BD59-A6C34878D82A}">
                    <a16:rowId xmlns:a16="http://schemas.microsoft.com/office/drawing/2014/main" val="3243511218"/>
                  </a:ext>
                </a:extLst>
              </a:tr>
              <a:tr h="2155012">
                <a:tc>
                  <a:txBody>
                    <a:bodyPr/>
                    <a:lstStyle/>
                    <a:p>
                      <a:pPr algn="just">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9.</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700" b="1"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 Self-Adaptive Parameter Selection Trajectory Prediction Approach via Hidden Markov Models</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7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 Qiao, D. Shen, X. Wang, N. Han</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IEEE Transactions on Intelligent Transportation Systems, vol. 16, no. 1, pp. 284-2</a:t>
                      </a:r>
                      <a:r>
                        <a:rPr lang="en-US" sz="1600" kern="100" dirty="0" err="1">
                          <a:solidFill>
                            <a:schemeClr val="tx1"/>
                          </a:solidFill>
                          <a:latin typeface="Calibri" panose="020F0502020204030204" pitchFamily="34" charset="0"/>
                          <a:ea typeface="Calibri" panose="020F0502020204030204" pitchFamily="34" charset="0"/>
                          <a:cs typeface="Calibri" panose="020F0502020204030204" pitchFamily="34" charset="0"/>
                        </a:rPr>
                        <a:t>AutoML</a:t>
                      </a:r>
                      <a:r>
                        <a:rPr lang="en-US" sz="1600" kern="100" dirty="0">
                          <a:solidFill>
                            <a:schemeClr val="tx1"/>
                          </a:solidFill>
                          <a:latin typeface="Calibri" panose="020F0502020204030204" pitchFamily="34" charset="0"/>
                          <a:ea typeface="Calibri" panose="020F0502020204030204" pitchFamily="34" charset="0"/>
                          <a:cs typeface="Calibri" panose="020F0502020204030204" pitchFamily="34" charset="0"/>
                        </a:rPr>
                        <a:t>, meta-learning</a:t>
                      </a: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96(</a:t>
                      </a:r>
                      <a:r>
                        <a:rPr lang="en-IN" sz="1700" b="1"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2023</a:t>
                      </a: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 hidden Markov model-based trajectory prediction algorithm (HMTP) is proposed to improve accuracy in network-constrained environments. An enhanced version, HMTP*, introduces self-adaptive parameter selection and a density-based partitioning algorithm for better prediction efficiency.</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lvl="0" indent="-342900">
                        <a:lnSpc>
                          <a:spcPct val="107000"/>
                        </a:lnSpc>
                        <a:buFont typeface="Symbol" panose="05050102010706020507" pitchFamily="18" charset="2"/>
                        <a:buChar char=""/>
                      </a:pPr>
                      <a:r>
                        <a:rPr lang="en-IN" sz="1700" kern="100">
                          <a:effectLst/>
                          <a:latin typeface="Calibri" panose="020F0502020204030204" pitchFamily="34" charset="0"/>
                          <a:ea typeface="Calibri" panose="020F0502020204030204" pitchFamily="34" charset="0"/>
                          <a:cs typeface="Calibri" panose="020F0502020204030204" pitchFamily="34" charset="0"/>
                        </a:rPr>
                        <a:t>Sensitivity to parameter selection and tuning.</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IN" sz="1700" kern="100">
                          <a:effectLst/>
                          <a:latin typeface="Calibri" panose="020F0502020204030204" pitchFamily="34" charset="0"/>
                          <a:ea typeface="Calibri" panose="020F0502020204030204" pitchFamily="34" charset="0"/>
                          <a:cs typeface="Calibri" panose="020F0502020204030204" pitchFamily="34" charset="0"/>
                        </a:rPr>
                        <a:t>Potential inefficiency in highly dynamic environments with abrupt speed variations.</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62195245"/>
                  </a:ext>
                </a:extLst>
              </a:tr>
              <a:tr h="1667877">
                <a:tc>
                  <a:txBody>
                    <a:bodyPr/>
                    <a:lstStyle/>
                    <a:p>
                      <a:pPr algn="just">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10.</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700" b="1"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Dynamic Ensemble Selection for Imbalanced Data Streams With Concept Drift</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700" kern="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B. Jiao, Y. Guo</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7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IEEE Transactions on Neural Networks and Learning Systems, vol. 35, no. 1, pp. 1278-1291(</a:t>
                      </a:r>
                      <a:r>
                        <a:rPr lang="en-IN" sz="1700" b="1"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2024</a:t>
                      </a:r>
                      <a:r>
                        <a:rPr lang="en-IN" sz="17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IN" sz="1700" ker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 dynamic ensemble selection method (DES-ICD) is proposed for handling concept drift and class imbalance in data streams. It employs AnnSMOTE to balance data and selects base classifiers dynamically based on local performance rather than global accuracy.</a:t>
                      </a:r>
                      <a:endParaRPr lang="en-IN" sz="17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lvl="0" indent="-342900">
                        <a:lnSpc>
                          <a:spcPct val="107000"/>
                        </a:lnSpc>
                        <a:buFont typeface="Symbol" panose="05050102010706020507" pitchFamily="18" charset="2"/>
                        <a:buChar char=""/>
                      </a:pPr>
                      <a:r>
                        <a:rPr lang="en-IN" sz="1700" kern="100" dirty="0">
                          <a:effectLst/>
                          <a:latin typeface="Calibri" panose="020F0502020204030204" pitchFamily="34" charset="0"/>
                          <a:ea typeface="Calibri" panose="020F0502020204030204" pitchFamily="34" charset="0"/>
                          <a:cs typeface="Calibri" panose="020F0502020204030204" pitchFamily="34" charset="0"/>
                        </a:rPr>
                        <a:t>Increased computational complexity due to local classifier selection.</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 </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88612198"/>
                  </a:ext>
                </a:extLst>
              </a:tr>
            </a:tbl>
          </a:graphicData>
        </a:graphic>
      </p:graphicFrame>
      <p:sp>
        <p:nvSpPr>
          <p:cNvPr id="3" name="Slide Number Placeholder 2">
            <a:extLst>
              <a:ext uri="{FF2B5EF4-FFF2-40B4-BE49-F238E27FC236}">
                <a16:creationId xmlns:a16="http://schemas.microsoft.com/office/drawing/2014/main" id="{D5CBA4DD-75A1-CEB3-6AFA-8759F8D726AF}"/>
              </a:ext>
            </a:extLst>
          </p:cNvPr>
          <p:cNvSpPr>
            <a:spLocks noGrp="1"/>
          </p:cNvSpPr>
          <p:nvPr>
            <p:ph type="sldNum" sz="quarter" idx="12"/>
          </p:nvPr>
        </p:nvSpPr>
        <p:spPr/>
        <p:txBody>
          <a:bodyPr/>
          <a:lstStyle/>
          <a:p>
            <a:fld id="{6113E31D-E2AB-40D1-8B51-AFA5AFEF393A}" type="slidenum">
              <a:rPr lang="en-US" smtClean="0"/>
              <a:t>9</a:t>
            </a:fld>
            <a:endParaRPr lang="en-US" dirty="0"/>
          </a:p>
        </p:txBody>
      </p:sp>
    </p:spTree>
    <p:extLst>
      <p:ext uri="{BB962C8B-B14F-4D97-AF65-F5344CB8AC3E}">
        <p14:creationId xmlns:p14="http://schemas.microsoft.com/office/powerpoint/2010/main" val="642217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CBBDE-941A-C94D-A0FF-6750C4AAD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6E6514-D00A-485A-CE79-65C35B674F63}"/>
              </a:ext>
            </a:extLst>
          </p:cNvPr>
          <p:cNvSpPr>
            <a:spLocks noGrp="1"/>
          </p:cNvSpPr>
          <p:nvPr>
            <p:ph type="title"/>
          </p:nvPr>
        </p:nvSpPr>
        <p:spPr/>
        <p:txBody>
          <a:bodyPr/>
          <a:lstStyle/>
          <a:p>
            <a:r>
              <a:rPr lang="en-IN" dirty="0">
                <a:solidFill>
                  <a:schemeClr val="tx1"/>
                </a:solidFill>
              </a:rPr>
              <a:t>LITERATURE SURVEY</a:t>
            </a:r>
          </a:p>
        </p:txBody>
      </p:sp>
      <p:graphicFrame>
        <p:nvGraphicFramePr>
          <p:cNvPr id="4" name="Content Placeholder 3">
            <a:extLst>
              <a:ext uri="{FF2B5EF4-FFF2-40B4-BE49-F238E27FC236}">
                <a16:creationId xmlns:a16="http://schemas.microsoft.com/office/drawing/2014/main" id="{8E056EA7-E11F-02FB-C773-40BEFEAFD17D}"/>
              </a:ext>
            </a:extLst>
          </p:cNvPr>
          <p:cNvGraphicFramePr>
            <a:graphicFrameLocks noGrp="1"/>
          </p:cNvGraphicFramePr>
          <p:nvPr>
            <p:ph idx="1"/>
            <p:extLst>
              <p:ext uri="{D42A27DB-BD31-4B8C-83A1-F6EECF244321}">
                <p14:modId xmlns:p14="http://schemas.microsoft.com/office/powerpoint/2010/main" val="1994389751"/>
              </p:ext>
            </p:extLst>
          </p:nvPr>
        </p:nvGraphicFramePr>
        <p:xfrm>
          <a:off x="350982" y="1810328"/>
          <a:ext cx="11513484" cy="4466716"/>
        </p:xfrm>
        <a:graphic>
          <a:graphicData uri="http://schemas.openxmlformats.org/drawingml/2006/table">
            <a:tbl>
              <a:tblPr firstRow="1" firstCol="1" bandRow="1">
                <a:tableStyleId>{5940675A-B579-460E-94D1-54222C63F5DA}</a:tableStyleId>
              </a:tblPr>
              <a:tblGrid>
                <a:gridCol w="459423">
                  <a:extLst>
                    <a:ext uri="{9D8B030D-6E8A-4147-A177-3AD203B41FA5}">
                      <a16:colId xmlns:a16="http://schemas.microsoft.com/office/drawing/2014/main" val="3951520914"/>
                    </a:ext>
                  </a:extLst>
                </a:gridCol>
                <a:gridCol w="2513393">
                  <a:extLst>
                    <a:ext uri="{9D8B030D-6E8A-4147-A177-3AD203B41FA5}">
                      <a16:colId xmlns:a16="http://schemas.microsoft.com/office/drawing/2014/main" val="3053708678"/>
                    </a:ext>
                  </a:extLst>
                </a:gridCol>
                <a:gridCol w="1876146">
                  <a:extLst>
                    <a:ext uri="{9D8B030D-6E8A-4147-A177-3AD203B41FA5}">
                      <a16:colId xmlns:a16="http://schemas.microsoft.com/office/drawing/2014/main" val="2826327262"/>
                    </a:ext>
                  </a:extLst>
                </a:gridCol>
                <a:gridCol w="4272303">
                  <a:extLst>
                    <a:ext uri="{9D8B030D-6E8A-4147-A177-3AD203B41FA5}">
                      <a16:colId xmlns:a16="http://schemas.microsoft.com/office/drawing/2014/main" val="956164914"/>
                    </a:ext>
                  </a:extLst>
                </a:gridCol>
                <a:gridCol w="2392219">
                  <a:extLst>
                    <a:ext uri="{9D8B030D-6E8A-4147-A177-3AD203B41FA5}">
                      <a16:colId xmlns:a16="http://schemas.microsoft.com/office/drawing/2014/main" val="3996306794"/>
                    </a:ext>
                  </a:extLst>
                </a:gridCol>
              </a:tblGrid>
              <a:tr h="604014">
                <a:tc>
                  <a:txBody>
                    <a:bodyPr/>
                    <a:lstStyle/>
                    <a:p>
                      <a:pPr algn="ctr">
                        <a:lnSpc>
                          <a:spcPct val="107000"/>
                        </a:lnSpc>
                        <a:spcAft>
                          <a:spcPts val="800"/>
                        </a:spcAft>
                      </a:pPr>
                      <a:r>
                        <a:rPr lang="en-IN" sz="1700" b="1" kern="100" dirty="0">
                          <a:effectLst/>
                        </a:rPr>
                        <a:t>S.</a:t>
                      </a:r>
                    </a:p>
                    <a:p>
                      <a:pPr algn="ctr">
                        <a:lnSpc>
                          <a:spcPct val="107000"/>
                        </a:lnSpc>
                        <a:spcAft>
                          <a:spcPts val="800"/>
                        </a:spcAft>
                      </a:pPr>
                      <a:r>
                        <a:rPr lang="en-IN" sz="1700" b="1" kern="100" dirty="0">
                          <a:effectLst/>
                        </a:rPr>
                        <a:t>NO</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PAPER TITLE</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JOURNAL /</a:t>
                      </a:r>
                    </a:p>
                    <a:p>
                      <a:pPr algn="ctr">
                        <a:lnSpc>
                          <a:spcPct val="107000"/>
                        </a:lnSpc>
                        <a:spcAft>
                          <a:spcPts val="800"/>
                        </a:spcAft>
                      </a:pPr>
                      <a:r>
                        <a:rPr lang="en-IN" sz="1700" b="1" kern="100" dirty="0">
                          <a:effectLst/>
                        </a:rPr>
                        <a:t>TRANSACTIONS</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SYSTEM PROPOSED</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LIMITATIONS</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extLst>
                  <a:ext uri="{0D108BD9-81ED-4DB2-BD59-A6C34878D82A}">
                    <a16:rowId xmlns:a16="http://schemas.microsoft.com/office/drawing/2014/main" val="3243511218"/>
                  </a:ext>
                </a:extLst>
              </a:tr>
              <a:tr h="2155012">
                <a:tc>
                  <a:txBody>
                    <a:bodyPr/>
                    <a:lstStyle/>
                    <a:p>
                      <a:pPr algn="just">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11.</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700" b="1" dirty="0" err="1">
                          <a:latin typeface="+mn-lt"/>
                        </a:rPr>
                        <a:t>Modyn</a:t>
                      </a:r>
                      <a:r>
                        <a:rPr lang="en-US" sz="1700" b="1" dirty="0">
                          <a:latin typeface="+mn-lt"/>
                        </a:rPr>
                        <a:t>: </a:t>
                      </a:r>
                      <a:r>
                        <a:rPr lang="en-US" sz="1700" b="1" dirty="0" err="1">
                          <a:latin typeface="+mn-lt"/>
                        </a:rPr>
                        <a:t>DataCentric</a:t>
                      </a:r>
                      <a:r>
                        <a:rPr lang="en-US" sz="1700" b="1" dirty="0">
                          <a:latin typeface="+mn-lt"/>
                        </a:rPr>
                        <a:t> Machine Learning Pipeline Orchestration</a:t>
                      </a:r>
                    </a:p>
                    <a:p>
                      <a:pPr>
                        <a:lnSpc>
                          <a:spcPct val="107000"/>
                        </a:lnSpc>
                        <a:spcAft>
                          <a:spcPts val="800"/>
                        </a:spcAft>
                      </a:pPr>
                      <a:r>
                        <a:rPr lang="en-US" sz="1700" dirty="0">
                          <a:latin typeface="+mn-lt"/>
                        </a:rPr>
                        <a:t> M. Bother, T. </a:t>
                      </a:r>
                      <a:r>
                        <a:rPr lang="en-US" sz="1700" dirty="0" err="1">
                          <a:latin typeface="+mn-lt"/>
                        </a:rPr>
                        <a:t>Robroek</a:t>
                      </a:r>
                      <a:r>
                        <a:rPr lang="en-US" sz="1700" dirty="0">
                          <a:latin typeface="+mn-lt"/>
                        </a:rPr>
                        <a:t>, ¨ V. </a:t>
                      </a:r>
                      <a:r>
                        <a:rPr lang="en-US" sz="1700" dirty="0" err="1">
                          <a:latin typeface="+mn-lt"/>
                        </a:rPr>
                        <a:t>Gsteiger</a:t>
                      </a:r>
                      <a:r>
                        <a:rPr lang="en-US" sz="1700" dirty="0">
                          <a:latin typeface="+mn-lt"/>
                        </a:rPr>
                        <a:t>, R. Holzinger, X. Ma, P. </a:t>
                      </a:r>
                      <a:r>
                        <a:rPr lang="en-US" sz="1700" dirty="0" err="1">
                          <a:latin typeface="+mn-lt"/>
                        </a:rPr>
                        <a:t>Toz</a:t>
                      </a:r>
                      <a:r>
                        <a:rPr lang="en-US" sz="1700" dirty="0">
                          <a:latin typeface="+mn-lt"/>
                        </a:rPr>
                        <a:t>¨ un</a:t>
                      </a:r>
                      <a:endParaRPr lang="en-IN" sz="170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700" dirty="0">
                          <a:latin typeface="+mn-lt"/>
                        </a:rPr>
                        <a:t>Proc. Int. Conf. Manage. Data (SIGMOD’25), ACM, New York, NY, USA, pp. 1–30 (</a:t>
                      </a:r>
                      <a:r>
                        <a:rPr lang="en-IN" sz="1700" b="1" dirty="0">
                          <a:latin typeface="+mn-lt"/>
                        </a:rPr>
                        <a:t>2025</a:t>
                      </a:r>
                      <a:r>
                        <a:rPr lang="en-IN" sz="1700" dirty="0">
                          <a:latin typeface="+mn-lt"/>
                        </a:rPr>
                        <a:t>)</a:t>
                      </a:r>
                      <a:endParaRPr lang="en-IN" sz="170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700" dirty="0" err="1">
                          <a:latin typeface="+mn-lt"/>
                        </a:rPr>
                        <a:t>Modyn</a:t>
                      </a:r>
                      <a:r>
                        <a:rPr lang="en-US" sz="1700" dirty="0">
                          <a:latin typeface="+mn-lt"/>
                        </a:rPr>
                        <a:t>, a data-centric ML platform, enables continuous model training on growing datasets by applying data selection and triggering policies to optimize retraining costs. </a:t>
                      </a:r>
                      <a:endParaRPr lang="en-IN" sz="170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342900" lvl="0" indent="-342900">
                        <a:lnSpc>
                          <a:spcPct val="107000"/>
                        </a:lnSpc>
                        <a:buFont typeface="Symbol" panose="05050102010706020507" pitchFamily="18" charset="2"/>
                        <a:buChar char=""/>
                      </a:pPr>
                      <a:r>
                        <a:rPr lang="en-US" sz="1700" dirty="0">
                          <a:latin typeface="+mn-lt"/>
                        </a:rPr>
                        <a:t>Effectiveness of data selection policies depends heavily on the quality and representativeness of the data.</a:t>
                      </a:r>
                      <a:endParaRPr lang="en-IN" sz="1700" kern="1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62195245"/>
                  </a:ext>
                </a:extLst>
              </a:tr>
              <a:tr h="1667877">
                <a:tc>
                  <a:txBody>
                    <a:bodyPr/>
                    <a:lstStyle/>
                    <a:p>
                      <a:pPr algn="just">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12.</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700" b="1" dirty="0">
                          <a:latin typeface="+mn-lt"/>
                        </a:rPr>
                        <a:t>Advances and Challenges in Meta-Learning: A Technical Review </a:t>
                      </a:r>
                    </a:p>
                    <a:p>
                      <a:pPr algn="just">
                        <a:lnSpc>
                          <a:spcPct val="107000"/>
                        </a:lnSpc>
                        <a:spcAft>
                          <a:spcPts val="800"/>
                        </a:spcAft>
                      </a:pPr>
                      <a:r>
                        <a:rPr lang="en-US" sz="1700" dirty="0" err="1">
                          <a:latin typeface="+mn-lt"/>
                        </a:rPr>
                        <a:t>A.Vettoruzzo,M.R</a:t>
                      </a:r>
                      <a:r>
                        <a:rPr lang="en-US" sz="1700" dirty="0">
                          <a:latin typeface="+mn-lt"/>
                        </a:rPr>
                        <a:t>. </a:t>
                      </a:r>
                      <a:r>
                        <a:rPr lang="en-US" sz="1700" dirty="0" err="1">
                          <a:latin typeface="+mn-lt"/>
                        </a:rPr>
                        <a:t>Bouguelia</a:t>
                      </a:r>
                      <a:r>
                        <a:rPr lang="en-US" sz="1700" dirty="0">
                          <a:latin typeface="+mn-lt"/>
                        </a:rPr>
                        <a:t>, J. </a:t>
                      </a:r>
                      <a:r>
                        <a:rPr lang="en-US" sz="1700" dirty="0" err="1">
                          <a:latin typeface="+mn-lt"/>
                        </a:rPr>
                        <a:t>Vanschoren</a:t>
                      </a:r>
                      <a:endParaRPr lang="en-IN" sz="1700" kern="100" dirty="0">
                        <a:effectLst/>
                        <a:latin typeface="+mn-lt"/>
                        <a:ea typeface="Calibri" panose="020F0502020204030204" pitchFamily="34" charset="0"/>
                        <a:cs typeface="Times New Roman" panose="02020603050405020304" pitchFamily="18" charset="0"/>
                      </a:endParaRPr>
                    </a:p>
                  </a:txBody>
                  <a:tcPr marL="29113" marR="29113" marT="0" marB="0"/>
                </a:tc>
                <a:tc>
                  <a:txBody>
                    <a:bodyPr/>
                    <a:lstStyle/>
                    <a:p>
                      <a:pPr algn="just">
                        <a:lnSpc>
                          <a:spcPct val="107000"/>
                        </a:lnSpc>
                        <a:spcAft>
                          <a:spcPts val="800"/>
                        </a:spcAft>
                      </a:pPr>
                      <a:r>
                        <a:rPr lang="en-IN" sz="1700" dirty="0">
                          <a:latin typeface="+mn-lt"/>
                        </a:rPr>
                        <a:t>IEEE Transactions on Pattern Analysis and Machine Intelligence, vol. 46, no. 7, pp. 4763- 4779 (</a:t>
                      </a:r>
                      <a:r>
                        <a:rPr lang="en-IN" sz="1700" b="1" dirty="0">
                          <a:latin typeface="+mn-lt"/>
                        </a:rPr>
                        <a:t>2024</a:t>
                      </a:r>
                      <a:r>
                        <a:rPr lang="en-IN" sz="1700" dirty="0">
                          <a:latin typeface="+mn-lt"/>
                        </a:rPr>
                        <a:t>) </a:t>
                      </a:r>
                      <a:endParaRPr lang="en-IN" sz="1700" kern="100" dirty="0">
                        <a:effectLst/>
                        <a:latin typeface="+mn-lt"/>
                        <a:ea typeface="Calibri" panose="020F0502020204030204" pitchFamily="34" charset="0"/>
                        <a:cs typeface="Times New Roman" panose="02020603050405020304" pitchFamily="18" charset="0"/>
                      </a:endParaRPr>
                    </a:p>
                  </a:txBody>
                  <a:tcPr marL="29113" marR="29113" marT="0" marB="0"/>
                </a:tc>
                <a:tc>
                  <a:txBody>
                    <a:bodyPr/>
                    <a:lstStyle/>
                    <a:p>
                      <a:pPr algn="just">
                        <a:lnSpc>
                          <a:spcPct val="107000"/>
                        </a:lnSpc>
                        <a:spcAft>
                          <a:spcPts val="800"/>
                        </a:spcAft>
                      </a:pPr>
                      <a:r>
                        <a:rPr lang="en-US" sz="1700" dirty="0">
                          <a:latin typeface="+mn-lt"/>
                        </a:rPr>
                        <a:t>A meta-learning system to enhance model adaptation and generalization across diverse tasks, particularly in data scarce scenarios. It integrates multi-task learning, transfer learning, and continual learning to improve efficiency and performance.</a:t>
                      </a:r>
                      <a:endParaRPr lang="en-IN" sz="1700" kern="100" dirty="0">
                        <a:effectLst/>
                        <a:latin typeface="+mn-lt"/>
                        <a:ea typeface="Calibri" panose="020F0502020204030204" pitchFamily="34" charset="0"/>
                        <a:cs typeface="Times New Roman" panose="02020603050405020304" pitchFamily="18" charset="0"/>
                      </a:endParaRPr>
                    </a:p>
                  </a:txBody>
                  <a:tcPr marL="29113" marR="29113" marT="0" marB="0"/>
                </a:tc>
                <a:tc>
                  <a:txBody>
                    <a:bodyPr/>
                    <a:lstStyle/>
                    <a:p>
                      <a:pPr marL="342900" lvl="0" indent="-342900" algn="just">
                        <a:lnSpc>
                          <a:spcPct val="107000"/>
                        </a:lnSpc>
                        <a:spcAft>
                          <a:spcPts val="800"/>
                        </a:spcAft>
                        <a:buFont typeface="Symbol" panose="05050102010706020507" pitchFamily="18" charset="2"/>
                        <a:buChar char=""/>
                      </a:pPr>
                      <a:r>
                        <a:rPr lang="en-US" sz="1700" dirty="0">
                          <a:latin typeface="+mn-lt"/>
                        </a:rPr>
                        <a:t>Adaptation to data distribution shifts in dynamic environments</a:t>
                      </a:r>
                      <a:endParaRPr lang="en-IN" sz="1700" kern="100" dirty="0">
                        <a:effectLst/>
                        <a:latin typeface="+mn-lt"/>
                        <a:ea typeface="Calibri" panose="020F0502020204030204" pitchFamily="34" charset="0"/>
                        <a:cs typeface="Times New Roman" panose="02020603050405020304" pitchFamily="18" charset="0"/>
                      </a:endParaRPr>
                    </a:p>
                  </a:txBody>
                  <a:tcPr marL="29113" marR="29113" marT="0" marB="0"/>
                </a:tc>
                <a:extLst>
                  <a:ext uri="{0D108BD9-81ED-4DB2-BD59-A6C34878D82A}">
                    <a16:rowId xmlns:a16="http://schemas.microsoft.com/office/drawing/2014/main" val="2088612198"/>
                  </a:ext>
                </a:extLst>
              </a:tr>
            </a:tbl>
          </a:graphicData>
        </a:graphic>
      </p:graphicFrame>
      <p:sp>
        <p:nvSpPr>
          <p:cNvPr id="3" name="Slide Number Placeholder 2">
            <a:extLst>
              <a:ext uri="{FF2B5EF4-FFF2-40B4-BE49-F238E27FC236}">
                <a16:creationId xmlns:a16="http://schemas.microsoft.com/office/drawing/2014/main" id="{68C53059-1DE6-6255-CC87-4DEE6E832CFC}"/>
              </a:ext>
            </a:extLst>
          </p:cNvPr>
          <p:cNvSpPr>
            <a:spLocks noGrp="1"/>
          </p:cNvSpPr>
          <p:nvPr>
            <p:ph type="sldNum" sz="quarter" idx="12"/>
          </p:nvPr>
        </p:nvSpPr>
        <p:spPr/>
        <p:txBody>
          <a:bodyPr/>
          <a:lstStyle/>
          <a:p>
            <a:fld id="{6113E31D-E2AB-40D1-8B51-AFA5AFEF393A}" type="slidenum">
              <a:rPr lang="en-US" smtClean="0"/>
              <a:t>10</a:t>
            </a:fld>
            <a:endParaRPr lang="en-US" dirty="0"/>
          </a:p>
        </p:txBody>
      </p:sp>
    </p:spTree>
    <p:extLst>
      <p:ext uri="{BB962C8B-B14F-4D97-AF65-F5344CB8AC3E}">
        <p14:creationId xmlns:p14="http://schemas.microsoft.com/office/powerpoint/2010/main" val="4183815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49350-6377-F553-3B40-3216E3D4A5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F36FF0-7321-AE16-21FC-6746B6AB2FCE}"/>
              </a:ext>
            </a:extLst>
          </p:cNvPr>
          <p:cNvSpPr>
            <a:spLocks noGrp="1"/>
          </p:cNvSpPr>
          <p:nvPr>
            <p:ph type="title"/>
          </p:nvPr>
        </p:nvSpPr>
        <p:spPr/>
        <p:txBody>
          <a:bodyPr/>
          <a:lstStyle/>
          <a:p>
            <a:r>
              <a:rPr lang="en-IN" dirty="0">
                <a:solidFill>
                  <a:schemeClr val="tx1"/>
                </a:solidFill>
              </a:rPr>
              <a:t>LITERATURE SURVEY</a:t>
            </a:r>
          </a:p>
        </p:txBody>
      </p:sp>
      <p:graphicFrame>
        <p:nvGraphicFramePr>
          <p:cNvPr id="4" name="Content Placeholder 3">
            <a:extLst>
              <a:ext uri="{FF2B5EF4-FFF2-40B4-BE49-F238E27FC236}">
                <a16:creationId xmlns:a16="http://schemas.microsoft.com/office/drawing/2014/main" id="{95F42F14-2501-E235-55DA-385F4184F18B}"/>
              </a:ext>
            </a:extLst>
          </p:cNvPr>
          <p:cNvGraphicFramePr>
            <a:graphicFrameLocks noGrp="1"/>
          </p:cNvGraphicFramePr>
          <p:nvPr>
            <p:ph idx="1"/>
            <p:extLst>
              <p:ext uri="{D42A27DB-BD31-4B8C-83A1-F6EECF244321}">
                <p14:modId xmlns:p14="http://schemas.microsoft.com/office/powerpoint/2010/main" val="1439794855"/>
              </p:ext>
            </p:extLst>
          </p:nvPr>
        </p:nvGraphicFramePr>
        <p:xfrm>
          <a:off x="350982" y="1810328"/>
          <a:ext cx="11471564" cy="4551630"/>
        </p:xfrm>
        <a:graphic>
          <a:graphicData uri="http://schemas.openxmlformats.org/drawingml/2006/table">
            <a:tbl>
              <a:tblPr firstRow="1" firstCol="1" bandRow="1">
                <a:tableStyleId>{5940675A-B579-460E-94D1-54222C63F5DA}</a:tableStyleId>
              </a:tblPr>
              <a:tblGrid>
                <a:gridCol w="448035">
                  <a:extLst>
                    <a:ext uri="{9D8B030D-6E8A-4147-A177-3AD203B41FA5}">
                      <a16:colId xmlns:a16="http://schemas.microsoft.com/office/drawing/2014/main" val="3951520914"/>
                    </a:ext>
                  </a:extLst>
                </a:gridCol>
                <a:gridCol w="2498660">
                  <a:extLst>
                    <a:ext uri="{9D8B030D-6E8A-4147-A177-3AD203B41FA5}">
                      <a16:colId xmlns:a16="http://schemas.microsoft.com/office/drawing/2014/main" val="3053708678"/>
                    </a:ext>
                  </a:extLst>
                </a:gridCol>
                <a:gridCol w="1857983">
                  <a:extLst>
                    <a:ext uri="{9D8B030D-6E8A-4147-A177-3AD203B41FA5}">
                      <a16:colId xmlns:a16="http://schemas.microsoft.com/office/drawing/2014/main" val="2826327262"/>
                    </a:ext>
                  </a:extLst>
                </a:gridCol>
                <a:gridCol w="4274667">
                  <a:extLst>
                    <a:ext uri="{9D8B030D-6E8A-4147-A177-3AD203B41FA5}">
                      <a16:colId xmlns:a16="http://schemas.microsoft.com/office/drawing/2014/main" val="956164914"/>
                    </a:ext>
                  </a:extLst>
                </a:gridCol>
                <a:gridCol w="2392219">
                  <a:extLst>
                    <a:ext uri="{9D8B030D-6E8A-4147-A177-3AD203B41FA5}">
                      <a16:colId xmlns:a16="http://schemas.microsoft.com/office/drawing/2014/main" val="3996306794"/>
                    </a:ext>
                  </a:extLst>
                </a:gridCol>
              </a:tblGrid>
              <a:tr h="629039">
                <a:tc>
                  <a:txBody>
                    <a:bodyPr/>
                    <a:lstStyle/>
                    <a:p>
                      <a:pPr algn="ctr">
                        <a:lnSpc>
                          <a:spcPct val="107000"/>
                        </a:lnSpc>
                        <a:spcAft>
                          <a:spcPts val="800"/>
                        </a:spcAft>
                      </a:pPr>
                      <a:r>
                        <a:rPr lang="en-IN" sz="1700" b="1" kern="100" dirty="0">
                          <a:effectLst/>
                        </a:rPr>
                        <a:t>S.</a:t>
                      </a:r>
                    </a:p>
                    <a:p>
                      <a:pPr algn="ctr">
                        <a:lnSpc>
                          <a:spcPct val="107000"/>
                        </a:lnSpc>
                        <a:spcAft>
                          <a:spcPts val="800"/>
                        </a:spcAft>
                      </a:pPr>
                      <a:r>
                        <a:rPr lang="en-IN" sz="1700" b="1" kern="100" dirty="0">
                          <a:effectLst/>
                        </a:rPr>
                        <a:t>NO</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PAPER TITLE</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JOURNAL /</a:t>
                      </a:r>
                    </a:p>
                    <a:p>
                      <a:pPr algn="ctr">
                        <a:lnSpc>
                          <a:spcPct val="107000"/>
                        </a:lnSpc>
                        <a:spcAft>
                          <a:spcPts val="800"/>
                        </a:spcAft>
                      </a:pPr>
                      <a:r>
                        <a:rPr lang="en-IN" sz="1700" b="1" kern="100" dirty="0">
                          <a:effectLst/>
                        </a:rPr>
                        <a:t>TRANSACTIONS</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SYSTEM PROPOSED</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rPr>
                        <a:t>LIMITATIONS</a:t>
                      </a:r>
                      <a:endParaRPr lang="en-IN" sz="17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extLst>
                  <a:ext uri="{0D108BD9-81ED-4DB2-BD59-A6C34878D82A}">
                    <a16:rowId xmlns:a16="http://schemas.microsoft.com/office/drawing/2014/main" val="3243511218"/>
                  </a:ext>
                </a:extLst>
              </a:tr>
              <a:tr h="2155012">
                <a:tc>
                  <a:txBody>
                    <a:bodyPr/>
                    <a:lstStyle/>
                    <a:p>
                      <a:pPr algn="just">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13.</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700" b="1" dirty="0"/>
                        <a:t>Online </a:t>
                      </a:r>
                      <a:r>
                        <a:rPr lang="en-US" sz="1700" b="1" dirty="0" err="1"/>
                        <a:t>AutoML</a:t>
                      </a:r>
                      <a:r>
                        <a:rPr lang="en-US" sz="1700" b="1" dirty="0"/>
                        <a:t>: An Adaptive </a:t>
                      </a:r>
                      <a:r>
                        <a:rPr lang="en-US" sz="1700" b="1" dirty="0" err="1"/>
                        <a:t>AutoML</a:t>
                      </a:r>
                      <a:r>
                        <a:rPr lang="en-US" sz="1700" b="1" dirty="0"/>
                        <a:t> Framework for Online Learning </a:t>
                      </a:r>
                    </a:p>
                    <a:p>
                      <a:pPr algn="just">
                        <a:lnSpc>
                          <a:spcPct val="107000"/>
                        </a:lnSpc>
                        <a:spcAft>
                          <a:spcPts val="800"/>
                        </a:spcAft>
                      </a:pPr>
                      <a:r>
                        <a:rPr lang="en-US" sz="1700" dirty="0"/>
                        <a:t>B. Celik, P. Singh, J. </a:t>
                      </a:r>
                      <a:r>
                        <a:rPr lang="en-US" sz="1700" dirty="0" err="1"/>
                        <a:t>Vanschoren</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just">
                        <a:lnSpc>
                          <a:spcPct val="107000"/>
                        </a:lnSpc>
                        <a:spcAft>
                          <a:spcPts val="800"/>
                        </a:spcAft>
                      </a:pPr>
                      <a:r>
                        <a:rPr lang="en-US" sz="1700" dirty="0"/>
                        <a:t>Machine Learning, vol. 112, no. 6, pp. 1897–1921, </a:t>
                      </a:r>
                      <a:r>
                        <a:rPr lang="en-US" sz="1700" dirty="0" err="1"/>
                        <a:t>doi</a:t>
                      </a:r>
                      <a:r>
                        <a:rPr lang="en-US" sz="1700" dirty="0"/>
                        <a:t>: 10.1007/s10994- 022-06262-0 (</a:t>
                      </a:r>
                      <a:r>
                        <a:rPr lang="en-US" sz="1700" b="1" dirty="0"/>
                        <a:t>2023</a:t>
                      </a:r>
                      <a:r>
                        <a:rPr lang="en-US" sz="1700" dirty="0"/>
                        <a:t>) </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algn="just">
                        <a:lnSpc>
                          <a:spcPct val="107000"/>
                        </a:lnSpc>
                        <a:spcAft>
                          <a:spcPts val="800"/>
                        </a:spcAft>
                      </a:pPr>
                      <a:r>
                        <a:rPr lang="en-US" sz="1700" dirty="0"/>
                        <a:t>An adaptive Online Automated Machine Learning (OAML) system that continuously optimizes learning pipelines in dynamic environments with evolving data distributions.</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tc>
                  <a:txBody>
                    <a:bodyPr/>
                    <a:lstStyle/>
                    <a:p>
                      <a:pPr marL="342900" lvl="0" indent="-342900" algn="just">
                        <a:lnSpc>
                          <a:spcPct val="107000"/>
                        </a:lnSpc>
                        <a:spcAft>
                          <a:spcPts val="800"/>
                        </a:spcAft>
                        <a:buFont typeface="Symbol" panose="05050102010706020507" pitchFamily="18" charset="2"/>
                        <a:buChar char=""/>
                      </a:pPr>
                      <a:r>
                        <a:rPr lang="en-US" sz="1700" dirty="0"/>
                        <a:t>Inefficiencies in handling highly complex or largescale data streams</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9113" marR="29113" marT="0" marB="0"/>
                </a:tc>
                <a:extLst>
                  <a:ext uri="{0D108BD9-81ED-4DB2-BD59-A6C34878D82A}">
                    <a16:rowId xmlns:a16="http://schemas.microsoft.com/office/drawing/2014/main" val="3462195245"/>
                  </a:ext>
                </a:extLst>
              </a:tr>
              <a:tr h="1667877">
                <a:tc>
                  <a:txBody>
                    <a:bodyPr/>
                    <a:lstStyle/>
                    <a:p>
                      <a:pPr algn="just">
                        <a:lnSpc>
                          <a:spcPct val="107000"/>
                        </a:lnSpc>
                        <a:spcAft>
                          <a:spcPts val="800"/>
                        </a:spcAft>
                      </a:pPr>
                      <a:r>
                        <a:rPr lang="en-IN" sz="1700" kern="100" dirty="0">
                          <a:effectLst/>
                          <a:latin typeface="Calibri" panose="020F0502020204030204" pitchFamily="34" charset="0"/>
                          <a:ea typeface="Calibri" panose="020F0502020204030204" pitchFamily="34" charset="0"/>
                          <a:cs typeface="Calibri" panose="020F0502020204030204" pitchFamily="34" charset="0"/>
                        </a:rPr>
                        <a:t>14.</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700" b="1" dirty="0"/>
                        <a:t>Adaptive Model Selection Framework: An Application to Airline Pricing</a:t>
                      </a:r>
                    </a:p>
                    <a:p>
                      <a:pPr>
                        <a:lnSpc>
                          <a:spcPct val="107000"/>
                        </a:lnSpc>
                        <a:spcAft>
                          <a:spcPts val="800"/>
                        </a:spcAft>
                      </a:pPr>
                      <a:r>
                        <a:rPr lang="en-US" sz="1700" dirty="0"/>
                        <a:t>N. Shukla, A. </a:t>
                      </a:r>
                      <a:r>
                        <a:rPr lang="en-US" sz="1700" dirty="0" err="1"/>
                        <a:t>Kolbeinsson</a:t>
                      </a:r>
                      <a:r>
                        <a:rPr lang="en-US" sz="1700" dirty="0"/>
                        <a:t>, L. Marla, K. </a:t>
                      </a:r>
                      <a:r>
                        <a:rPr lang="en-US" sz="1700" dirty="0" err="1"/>
                        <a:t>Yellepeddi</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700" dirty="0"/>
                        <a:t>Journal of Machine Learning Research (JMLR), arXiv:1905.08874v1 [</a:t>
                      </a:r>
                      <a:r>
                        <a:rPr lang="en-US" sz="1700" dirty="0" err="1"/>
                        <a:t>cs.LG</a:t>
                      </a:r>
                      <a:r>
                        <a:rPr lang="en-US" sz="1700" dirty="0"/>
                        <a:t>], pp. 1-25 (</a:t>
                      </a:r>
                      <a:r>
                        <a:rPr lang="en-US" sz="1700" b="1" dirty="0"/>
                        <a:t>2019</a:t>
                      </a:r>
                      <a:r>
                        <a:rPr lang="en-US" sz="1700" dirty="0"/>
                        <a:t>) </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700" dirty="0"/>
                        <a:t>An adaptive meta-decision framework using Thompson sampling to dynamically route customer requests to different airline pricing models.</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lvl="0" indent="-342900">
                        <a:lnSpc>
                          <a:spcPct val="107000"/>
                        </a:lnSpc>
                        <a:buFont typeface="Symbol" panose="05050102010706020507" pitchFamily="18" charset="2"/>
                        <a:buChar char=""/>
                      </a:pPr>
                      <a:r>
                        <a:rPr lang="en-US" sz="1700" dirty="0"/>
                        <a:t>Assumes a consistent data stream and prior knowledge.</a:t>
                      </a:r>
                      <a:r>
                        <a:rPr lang="en-IN" sz="1700" kern="100" dirty="0">
                          <a:effectLst/>
                          <a:latin typeface="Calibri" panose="020F0502020204030204" pitchFamily="34" charset="0"/>
                          <a:ea typeface="Calibri" panose="020F0502020204030204" pitchFamily="34" charset="0"/>
                          <a:cs typeface="Calibri" panose="020F0502020204030204" pitchFamily="34" charset="0"/>
                        </a:rPr>
                        <a:t> </a:t>
                      </a:r>
                      <a:endParaRPr lang="en-IN" sz="17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88612198"/>
                  </a:ext>
                </a:extLst>
              </a:tr>
            </a:tbl>
          </a:graphicData>
        </a:graphic>
      </p:graphicFrame>
      <p:sp>
        <p:nvSpPr>
          <p:cNvPr id="3" name="Slide Number Placeholder 2">
            <a:extLst>
              <a:ext uri="{FF2B5EF4-FFF2-40B4-BE49-F238E27FC236}">
                <a16:creationId xmlns:a16="http://schemas.microsoft.com/office/drawing/2014/main" id="{AF9CCBD4-CB7A-EB77-5A62-6A32E3E52393}"/>
              </a:ext>
            </a:extLst>
          </p:cNvPr>
          <p:cNvSpPr>
            <a:spLocks noGrp="1"/>
          </p:cNvSpPr>
          <p:nvPr>
            <p:ph type="sldNum" sz="quarter" idx="12"/>
          </p:nvPr>
        </p:nvSpPr>
        <p:spPr/>
        <p:txBody>
          <a:bodyPr/>
          <a:lstStyle/>
          <a:p>
            <a:fld id="{6113E31D-E2AB-40D1-8B51-AFA5AFEF393A}" type="slidenum">
              <a:rPr lang="en-US" smtClean="0"/>
              <a:t>11</a:t>
            </a:fld>
            <a:endParaRPr lang="en-US" dirty="0"/>
          </a:p>
        </p:txBody>
      </p:sp>
    </p:spTree>
    <p:extLst>
      <p:ext uri="{BB962C8B-B14F-4D97-AF65-F5344CB8AC3E}">
        <p14:creationId xmlns:p14="http://schemas.microsoft.com/office/powerpoint/2010/main" val="4053525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158C6-A9E2-D5F7-C6A9-7FB32A91C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A9EAB7-208E-974C-CCD0-33B9132E003E}"/>
              </a:ext>
            </a:extLst>
          </p:cNvPr>
          <p:cNvSpPr>
            <a:spLocks noGrp="1"/>
          </p:cNvSpPr>
          <p:nvPr>
            <p:ph type="title"/>
          </p:nvPr>
        </p:nvSpPr>
        <p:spPr/>
        <p:txBody>
          <a:bodyPr/>
          <a:lstStyle/>
          <a:p>
            <a:r>
              <a:rPr lang="en-IN" dirty="0">
                <a:solidFill>
                  <a:schemeClr val="tx1"/>
                </a:solidFill>
              </a:rPr>
              <a:t>LITERATURE SURVEY</a:t>
            </a:r>
          </a:p>
        </p:txBody>
      </p:sp>
      <p:graphicFrame>
        <p:nvGraphicFramePr>
          <p:cNvPr id="4" name="Content Placeholder 3">
            <a:extLst>
              <a:ext uri="{FF2B5EF4-FFF2-40B4-BE49-F238E27FC236}">
                <a16:creationId xmlns:a16="http://schemas.microsoft.com/office/drawing/2014/main" id="{7D57F220-FC56-96A0-BB69-63AC85A3FB23}"/>
              </a:ext>
            </a:extLst>
          </p:cNvPr>
          <p:cNvGraphicFramePr>
            <a:graphicFrameLocks noGrp="1"/>
          </p:cNvGraphicFramePr>
          <p:nvPr>
            <p:ph idx="1"/>
            <p:extLst>
              <p:ext uri="{D42A27DB-BD31-4B8C-83A1-F6EECF244321}">
                <p14:modId xmlns:p14="http://schemas.microsoft.com/office/powerpoint/2010/main" val="1229527306"/>
              </p:ext>
            </p:extLst>
          </p:nvPr>
        </p:nvGraphicFramePr>
        <p:xfrm>
          <a:off x="350982" y="1810328"/>
          <a:ext cx="11471564" cy="2424472"/>
        </p:xfrm>
        <a:graphic>
          <a:graphicData uri="http://schemas.openxmlformats.org/drawingml/2006/table">
            <a:tbl>
              <a:tblPr firstRow="1" firstCol="1" bandRow="1">
                <a:tableStyleId>{5940675A-B579-460E-94D1-54222C63F5DA}</a:tableStyleId>
              </a:tblPr>
              <a:tblGrid>
                <a:gridCol w="448035">
                  <a:extLst>
                    <a:ext uri="{9D8B030D-6E8A-4147-A177-3AD203B41FA5}">
                      <a16:colId xmlns:a16="http://schemas.microsoft.com/office/drawing/2014/main" val="3951520914"/>
                    </a:ext>
                  </a:extLst>
                </a:gridCol>
                <a:gridCol w="2482861">
                  <a:extLst>
                    <a:ext uri="{9D8B030D-6E8A-4147-A177-3AD203B41FA5}">
                      <a16:colId xmlns:a16="http://schemas.microsoft.com/office/drawing/2014/main" val="3053708678"/>
                    </a:ext>
                  </a:extLst>
                </a:gridCol>
                <a:gridCol w="1876146">
                  <a:extLst>
                    <a:ext uri="{9D8B030D-6E8A-4147-A177-3AD203B41FA5}">
                      <a16:colId xmlns:a16="http://schemas.microsoft.com/office/drawing/2014/main" val="2826327262"/>
                    </a:ext>
                  </a:extLst>
                </a:gridCol>
                <a:gridCol w="4272303">
                  <a:extLst>
                    <a:ext uri="{9D8B030D-6E8A-4147-A177-3AD203B41FA5}">
                      <a16:colId xmlns:a16="http://schemas.microsoft.com/office/drawing/2014/main" val="956164914"/>
                    </a:ext>
                  </a:extLst>
                </a:gridCol>
                <a:gridCol w="2392219">
                  <a:extLst>
                    <a:ext uri="{9D8B030D-6E8A-4147-A177-3AD203B41FA5}">
                      <a16:colId xmlns:a16="http://schemas.microsoft.com/office/drawing/2014/main" val="3996306794"/>
                    </a:ext>
                  </a:extLst>
                </a:gridCol>
              </a:tblGrid>
              <a:tr h="497523">
                <a:tc>
                  <a:txBody>
                    <a:bodyPr/>
                    <a:lstStyle/>
                    <a:p>
                      <a:pPr algn="ctr">
                        <a:lnSpc>
                          <a:spcPct val="107000"/>
                        </a:lnSpc>
                        <a:spcAft>
                          <a:spcPts val="800"/>
                        </a:spcAft>
                      </a:pPr>
                      <a:r>
                        <a:rPr lang="en-IN" sz="1700" b="1" kern="100" dirty="0">
                          <a:effectLst/>
                          <a:latin typeface="+mn-lt"/>
                        </a:rPr>
                        <a:t>S.</a:t>
                      </a:r>
                    </a:p>
                    <a:p>
                      <a:pPr algn="ctr">
                        <a:lnSpc>
                          <a:spcPct val="107000"/>
                        </a:lnSpc>
                        <a:spcAft>
                          <a:spcPts val="800"/>
                        </a:spcAft>
                      </a:pPr>
                      <a:r>
                        <a:rPr lang="en-IN" sz="1700" b="1" kern="100" dirty="0">
                          <a:effectLst/>
                          <a:latin typeface="+mn-lt"/>
                        </a:rPr>
                        <a:t>NO</a:t>
                      </a:r>
                      <a:endParaRPr lang="en-IN" sz="1700" b="1" kern="100" dirty="0">
                        <a:effectLst/>
                        <a:latin typeface="+mn-lt"/>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latin typeface="+mn-lt"/>
                        </a:rPr>
                        <a:t>PAPER TITLE</a:t>
                      </a:r>
                      <a:endParaRPr lang="en-IN" sz="1700" b="1" kern="100" dirty="0">
                        <a:effectLst/>
                        <a:latin typeface="+mn-lt"/>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latin typeface="+mn-lt"/>
                        </a:rPr>
                        <a:t>JOURNAL /</a:t>
                      </a:r>
                    </a:p>
                    <a:p>
                      <a:pPr algn="ctr">
                        <a:lnSpc>
                          <a:spcPct val="107000"/>
                        </a:lnSpc>
                        <a:spcAft>
                          <a:spcPts val="800"/>
                        </a:spcAft>
                      </a:pPr>
                      <a:r>
                        <a:rPr lang="en-IN" sz="1700" b="1" kern="100" dirty="0">
                          <a:effectLst/>
                          <a:latin typeface="+mn-lt"/>
                        </a:rPr>
                        <a:t>TRANSACTIONS</a:t>
                      </a:r>
                      <a:endParaRPr lang="en-IN" sz="1700" b="1" kern="100" dirty="0">
                        <a:effectLst/>
                        <a:latin typeface="+mn-lt"/>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latin typeface="+mn-lt"/>
                        </a:rPr>
                        <a:t>SYSTEM PROPOSED</a:t>
                      </a:r>
                      <a:endParaRPr lang="en-IN" sz="1700" b="1" kern="100" dirty="0">
                        <a:effectLst/>
                        <a:latin typeface="+mn-lt"/>
                        <a:ea typeface="Calibri" panose="020F0502020204030204" pitchFamily="34" charset="0"/>
                        <a:cs typeface="Times New Roman" panose="02020603050405020304" pitchFamily="18" charset="0"/>
                      </a:endParaRPr>
                    </a:p>
                  </a:txBody>
                  <a:tcPr marL="29113" marR="29113" marT="0" marB="0"/>
                </a:tc>
                <a:tc>
                  <a:txBody>
                    <a:bodyPr/>
                    <a:lstStyle/>
                    <a:p>
                      <a:pPr algn="ctr">
                        <a:lnSpc>
                          <a:spcPct val="107000"/>
                        </a:lnSpc>
                        <a:spcAft>
                          <a:spcPts val="800"/>
                        </a:spcAft>
                      </a:pPr>
                      <a:r>
                        <a:rPr lang="en-IN" sz="1700" b="1" kern="100" dirty="0">
                          <a:effectLst/>
                          <a:latin typeface="+mn-lt"/>
                        </a:rPr>
                        <a:t>LIMITATIONS</a:t>
                      </a:r>
                      <a:endParaRPr lang="en-IN" sz="1700" b="1" kern="100" dirty="0">
                        <a:effectLst/>
                        <a:latin typeface="+mn-lt"/>
                        <a:ea typeface="Calibri" panose="020F0502020204030204" pitchFamily="34" charset="0"/>
                        <a:cs typeface="Times New Roman" panose="02020603050405020304" pitchFamily="18" charset="0"/>
                      </a:endParaRPr>
                    </a:p>
                  </a:txBody>
                  <a:tcPr marL="29113" marR="29113" marT="0" marB="0"/>
                </a:tc>
                <a:extLst>
                  <a:ext uri="{0D108BD9-81ED-4DB2-BD59-A6C34878D82A}">
                    <a16:rowId xmlns:a16="http://schemas.microsoft.com/office/drawing/2014/main" val="3243511218"/>
                  </a:ext>
                </a:extLst>
              </a:tr>
              <a:tr h="1780645">
                <a:tc>
                  <a:txBody>
                    <a:bodyPr/>
                    <a:lstStyle/>
                    <a:p>
                      <a:pPr algn="just">
                        <a:lnSpc>
                          <a:spcPct val="107000"/>
                        </a:lnSpc>
                        <a:spcAft>
                          <a:spcPts val="800"/>
                        </a:spcAft>
                      </a:pPr>
                      <a:r>
                        <a:rPr lang="en-IN" sz="1700" kern="100" dirty="0">
                          <a:effectLst/>
                          <a:latin typeface="+mn-lt"/>
                          <a:ea typeface="Calibri" panose="020F0502020204030204" pitchFamily="34" charset="0"/>
                          <a:cs typeface="Calibri" panose="020F0502020204030204" pitchFamily="34" charset="0"/>
                        </a:rPr>
                        <a:t>15.</a:t>
                      </a:r>
                      <a:endParaRPr lang="en-IN" sz="170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700" b="1" dirty="0">
                          <a:latin typeface="+mn-lt"/>
                        </a:rPr>
                        <a:t>Multitask Learning with Meta-Learning: Optimizing Learning of Multiple Related Tasks </a:t>
                      </a:r>
                    </a:p>
                    <a:p>
                      <a:pPr>
                        <a:lnSpc>
                          <a:spcPct val="107000"/>
                        </a:lnSpc>
                        <a:spcAft>
                          <a:spcPts val="800"/>
                        </a:spcAft>
                      </a:pPr>
                      <a:r>
                        <a:rPr lang="en-US" sz="1700" dirty="0">
                          <a:latin typeface="+mn-lt"/>
                        </a:rPr>
                        <a:t>A. Ruder, M. E. Peters, M. L. M. Asano</a:t>
                      </a:r>
                      <a:endParaRPr lang="en-IN" sz="1700" kern="1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algn="just" defTabSz="914400" rtl="0" eaLnBrk="1" latinLnBrk="0" hangingPunct="1">
                        <a:lnSpc>
                          <a:spcPct val="107000"/>
                        </a:lnSpc>
                        <a:spcAft>
                          <a:spcPts val="800"/>
                        </a:spcAft>
                      </a:pPr>
                      <a:r>
                        <a:rPr lang="en-US" sz="1700" kern="0" dirty="0">
                          <a:solidFill>
                            <a:srgbClr val="000000"/>
                          </a:solidFill>
                          <a:effectLst/>
                          <a:latin typeface="Calibri" panose="020F0502020204030204" pitchFamily="34" charset="0"/>
                          <a:cs typeface="Calibri" panose="020F0502020204030204" pitchFamily="34" charset="0"/>
                        </a:rPr>
                        <a:t>Journal of Machine Learning Research, vol. 20, no. 1, pp. 1897-1921 (2023) </a:t>
                      </a:r>
                      <a:endParaRPr lang="en-IN" sz="17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algn="just" defTabSz="914400" rtl="0" eaLnBrk="1" latinLnBrk="0" hangingPunct="1">
                        <a:lnSpc>
                          <a:spcPct val="107000"/>
                        </a:lnSpc>
                        <a:spcAft>
                          <a:spcPts val="800"/>
                        </a:spcAft>
                      </a:pPr>
                      <a:r>
                        <a:rPr lang="en-US" sz="1700" kern="0" dirty="0">
                          <a:solidFill>
                            <a:srgbClr val="000000"/>
                          </a:solidFill>
                          <a:effectLst/>
                          <a:latin typeface="Calibri" panose="020F0502020204030204" pitchFamily="34" charset="0"/>
                          <a:cs typeface="Calibri" panose="020F0502020204030204" pitchFamily="34" charset="0"/>
                        </a:rPr>
                        <a:t>A multitask learning framework optimized through meta learning, enhancing generalization across a wide array of tasks and datasets.</a:t>
                      </a:r>
                      <a:endParaRPr lang="en-IN" sz="17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lvl="0" indent="-342900" algn="just" defTabSz="914400" rtl="0" eaLnBrk="1" latinLnBrk="0" hangingPunct="1">
                        <a:lnSpc>
                          <a:spcPct val="107000"/>
                        </a:lnSpc>
                        <a:spcAft>
                          <a:spcPts val="800"/>
                        </a:spcAft>
                        <a:buFont typeface="Symbol" panose="05050102010706020507" pitchFamily="18" charset="2"/>
                        <a:buChar char=""/>
                      </a:pPr>
                      <a:r>
                        <a:rPr lang="en-US" sz="1700" kern="0" dirty="0">
                          <a:solidFill>
                            <a:srgbClr val="000000"/>
                          </a:solidFill>
                          <a:effectLst/>
                          <a:latin typeface="Calibri" panose="020F0502020204030204" pitchFamily="34" charset="0"/>
                          <a:cs typeface="Calibri" panose="020F0502020204030204" pitchFamily="34" charset="0"/>
                        </a:rPr>
                        <a:t>High dependence on prior data quality and representativeness for successful multitask learning. </a:t>
                      </a:r>
                      <a:endParaRPr lang="en-IN" sz="1700" kern="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462195245"/>
                  </a:ext>
                </a:extLst>
              </a:tr>
            </a:tbl>
          </a:graphicData>
        </a:graphic>
      </p:graphicFrame>
      <p:sp>
        <p:nvSpPr>
          <p:cNvPr id="3" name="Slide Number Placeholder 2">
            <a:extLst>
              <a:ext uri="{FF2B5EF4-FFF2-40B4-BE49-F238E27FC236}">
                <a16:creationId xmlns:a16="http://schemas.microsoft.com/office/drawing/2014/main" id="{34C0CD75-EB71-9AA8-1902-DFB54F01EA1C}"/>
              </a:ext>
            </a:extLst>
          </p:cNvPr>
          <p:cNvSpPr>
            <a:spLocks noGrp="1"/>
          </p:cNvSpPr>
          <p:nvPr>
            <p:ph type="sldNum" sz="quarter" idx="12"/>
          </p:nvPr>
        </p:nvSpPr>
        <p:spPr/>
        <p:txBody>
          <a:bodyPr/>
          <a:lstStyle/>
          <a:p>
            <a:fld id="{6113E31D-E2AB-40D1-8B51-AFA5AFEF393A}" type="slidenum">
              <a:rPr lang="en-US" smtClean="0"/>
              <a:t>12</a:t>
            </a:fld>
            <a:endParaRPr lang="en-US" dirty="0"/>
          </a:p>
        </p:txBody>
      </p:sp>
    </p:spTree>
    <p:extLst>
      <p:ext uri="{BB962C8B-B14F-4D97-AF65-F5344CB8AC3E}">
        <p14:creationId xmlns:p14="http://schemas.microsoft.com/office/powerpoint/2010/main" val="1863176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A1120-B7D3-C32F-521D-B98AA5E8B4F1}"/>
              </a:ext>
            </a:extLst>
          </p:cNvPr>
          <p:cNvSpPr>
            <a:spLocks noGrp="1"/>
          </p:cNvSpPr>
          <p:nvPr>
            <p:ph type="title"/>
          </p:nvPr>
        </p:nvSpPr>
        <p:spPr/>
        <p:txBody>
          <a:bodyPr/>
          <a:lstStyle/>
          <a:p>
            <a:r>
              <a:rPr lang="en-IN" dirty="0">
                <a:solidFill>
                  <a:schemeClr val="tx1"/>
                </a:solidFill>
              </a:rPr>
              <a:t>RESEARCH GAP IDENTIFIED</a:t>
            </a:r>
          </a:p>
        </p:txBody>
      </p:sp>
      <p:sp>
        <p:nvSpPr>
          <p:cNvPr id="3" name="Content Placeholder 2">
            <a:extLst>
              <a:ext uri="{FF2B5EF4-FFF2-40B4-BE49-F238E27FC236}">
                <a16:creationId xmlns:a16="http://schemas.microsoft.com/office/drawing/2014/main" id="{A4AA17C6-0EAF-19A8-A05C-D53FEB68BC5A}"/>
              </a:ext>
            </a:extLst>
          </p:cNvPr>
          <p:cNvSpPr>
            <a:spLocks noGrp="1"/>
          </p:cNvSpPr>
          <p:nvPr>
            <p:ph idx="1"/>
          </p:nvPr>
        </p:nvSpPr>
        <p:spPr>
          <a:xfrm>
            <a:off x="1097280" y="1828798"/>
            <a:ext cx="10058400" cy="4742599"/>
          </a:xfrm>
        </p:spPr>
        <p:txBody>
          <a:bodyPr>
            <a:normAutofit fontScale="92500"/>
          </a:bodyPr>
          <a:lstStyle/>
          <a:p>
            <a:pPr algn="just">
              <a:lnSpc>
                <a:spcPct val="150000"/>
              </a:lnSpc>
              <a:buSzPts val="1000"/>
              <a:buFont typeface="Wingdings" panose="05000000000000000000" pitchFamily="2" charset="2"/>
              <a:buChar char="Ø"/>
              <a:tabLst>
                <a:tab pos="228600" algn="l"/>
              </a:tabLst>
            </a:pPr>
            <a:r>
              <a:rPr lang="en-IN" sz="2100" dirty="0">
                <a:solidFill>
                  <a:schemeClr val="tx1"/>
                </a:solidFill>
              </a:rPr>
              <a:t>Existing</a:t>
            </a:r>
            <a:r>
              <a:rPr lang="en-IN" sz="2100" kern="100" dirty="0">
                <a:solidFill>
                  <a:schemeClr val="tx1"/>
                </a:solidFill>
                <a:effectLst/>
                <a:ea typeface="Calibri" panose="020F0502020204030204" pitchFamily="34" charset="0"/>
                <a:cs typeface="Times New Roman" panose="02020603050405020304" pitchFamily="18" charset="0"/>
              </a:rPr>
              <a:t> meta-learning systems struggle to adapt efficiently in highly diverse environments where data distributions change frequently.</a:t>
            </a:r>
          </a:p>
          <a:p>
            <a:pPr algn="just">
              <a:lnSpc>
                <a:spcPct val="150000"/>
              </a:lnSpc>
              <a:buSzPts val="1000"/>
              <a:buFont typeface="Wingdings" panose="05000000000000000000" pitchFamily="2" charset="2"/>
              <a:buChar char="Ø"/>
              <a:tabLst>
                <a:tab pos="228600" algn="l"/>
              </a:tabLst>
            </a:pPr>
            <a:r>
              <a:rPr lang="en-US" sz="2100" dirty="0">
                <a:solidFill>
                  <a:schemeClr val="tx1"/>
                </a:solidFill>
              </a:rPr>
              <a:t>Many </a:t>
            </a:r>
            <a:r>
              <a:rPr lang="en-US" sz="2100" dirty="0" err="1">
                <a:solidFill>
                  <a:schemeClr val="tx1"/>
                </a:solidFill>
              </a:rPr>
              <a:t>AutoML</a:t>
            </a:r>
            <a:r>
              <a:rPr lang="en-US" sz="2100" dirty="0">
                <a:solidFill>
                  <a:schemeClr val="tx1"/>
                </a:solidFill>
              </a:rPr>
              <a:t> models operate as "black boxes," limiting user insight into how models are selected and optimized. </a:t>
            </a:r>
            <a:endParaRPr lang="en-IN" sz="2100" kern="100" dirty="0">
              <a:solidFill>
                <a:schemeClr val="tx1"/>
              </a:solidFill>
              <a:effectLst/>
              <a:ea typeface="Calibri" panose="020F0502020204030204" pitchFamily="34" charset="0"/>
              <a:cs typeface="Times New Roman" panose="02020603050405020304" pitchFamily="18" charset="0"/>
            </a:endParaRPr>
          </a:p>
          <a:p>
            <a:pPr algn="just">
              <a:lnSpc>
                <a:spcPct val="150000"/>
              </a:lnSpc>
              <a:buSzPts val="1000"/>
              <a:buFont typeface="Wingdings" panose="05000000000000000000" pitchFamily="2" charset="2"/>
              <a:buChar char="Ø"/>
              <a:tabLst>
                <a:tab pos="228600" algn="l"/>
              </a:tabLst>
            </a:pPr>
            <a:r>
              <a:rPr lang="en-IN" sz="2100" kern="100" dirty="0">
                <a:solidFill>
                  <a:schemeClr val="tx1"/>
                </a:solidFill>
                <a:effectLst/>
                <a:ea typeface="Calibri" panose="020F0502020204030204" pitchFamily="34" charset="0"/>
                <a:cs typeface="Times New Roman" panose="02020603050405020304" pitchFamily="18" charset="0"/>
              </a:rPr>
              <a:t>Current meta-learning methods lack precision in handling diverse and complex multi-modal tasks.</a:t>
            </a:r>
          </a:p>
          <a:p>
            <a:pPr algn="just">
              <a:lnSpc>
                <a:spcPct val="150000"/>
              </a:lnSpc>
              <a:buSzPts val="1000"/>
              <a:buFont typeface="Wingdings" panose="05000000000000000000" pitchFamily="2" charset="2"/>
              <a:buChar char="Ø"/>
              <a:tabLst>
                <a:tab pos="228600" algn="l"/>
              </a:tabLst>
            </a:pPr>
            <a:r>
              <a:rPr lang="en-US" sz="2100" dirty="0">
                <a:solidFill>
                  <a:schemeClr val="tx1"/>
                </a:solidFill>
              </a:rPr>
              <a:t>Adaptive model selection systems often suffer from high computational costs and inefficiencies due to exhaustive hyperparameter tuning.</a:t>
            </a:r>
          </a:p>
          <a:p>
            <a:pPr algn="just">
              <a:lnSpc>
                <a:spcPct val="150000"/>
              </a:lnSpc>
              <a:buSzPts val="1000"/>
              <a:buFont typeface="Wingdings" panose="05000000000000000000" pitchFamily="2" charset="2"/>
              <a:buChar char="Ø"/>
              <a:tabLst>
                <a:tab pos="228600" algn="l"/>
              </a:tabLst>
            </a:pPr>
            <a:r>
              <a:rPr lang="en-IN" sz="2100" kern="100" dirty="0">
                <a:solidFill>
                  <a:schemeClr val="tx1"/>
                </a:solidFill>
                <a:effectLst/>
                <a:ea typeface="Calibri" panose="020F0502020204030204" pitchFamily="34" charset="0"/>
                <a:cs typeface="Times New Roman" panose="02020603050405020304" pitchFamily="18" charset="0"/>
              </a:rPr>
              <a:t>Performance inefficiencies due to </a:t>
            </a:r>
            <a:r>
              <a:rPr lang="en-IN" sz="21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high complexity.</a:t>
            </a:r>
          </a:p>
          <a:p>
            <a:pPr>
              <a:lnSpc>
                <a:spcPct val="150000"/>
              </a:lnSpc>
            </a:pPr>
            <a:endParaRPr lang="en-IN" sz="1800" dirty="0"/>
          </a:p>
        </p:txBody>
      </p:sp>
      <p:sp>
        <p:nvSpPr>
          <p:cNvPr id="4" name="Slide Number Placeholder 3">
            <a:extLst>
              <a:ext uri="{FF2B5EF4-FFF2-40B4-BE49-F238E27FC236}">
                <a16:creationId xmlns:a16="http://schemas.microsoft.com/office/drawing/2014/main" id="{5857705E-B173-D572-3910-5230EAC023E0}"/>
              </a:ext>
            </a:extLst>
          </p:cNvPr>
          <p:cNvSpPr>
            <a:spLocks noGrp="1"/>
          </p:cNvSpPr>
          <p:nvPr>
            <p:ph type="sldNum" sz="quarter" idx="12"/>
          </p:nvPr>
        </p:nvSpPr>
        <p:spPr/>
        <p:txBody>
          <a:bodyPr/>
          <a:lstStyle/>
          <a:p>
            <a:fld id="{6113E31D-E2AB-40D1-8B51-AFA5AFEF393A}" type="slidenum">
              <a:rPr lang="en-US" smtClean="0"/>
              <a:t>13</a:t>
            </a:fld>
            <a:endParaRPr lang="en-US" dirty="0"/>
          </a:p>
        </p:txBody>
      </p:sp>
    </p:spTree>
    <p:extLst>
      <p:ext uri="{BB962C8B-B14F-4D97-AF65-F5344CB8AC3E}">
        <p14:creationId xmlns:p14="http://schemas.microsoft.com/office/powerpoint/2010/main" val="2533828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B5794-D5E8-86D2-B4F0-0D2BB1C80F61}"/>
              </a:ext>
            </a:extLst>
          </p:cNvPr>
          <p:cNvSpPr>
            <a:spLocks noGrp="1"/>
          </p:cNvSpPr>
          <p:nvPr>
            <p:ph type="title"/>
          </p:nvPr>
        </p:nvSpPr>
        <p:spPr/>
        <p:txBody>
          <a:bodyPr/>
          <a:lstStyle/>
          <a:p>
            <a:r>
              <a:rPr lang="en-IN" dirty="0">
                <a:solidFill>
                  <a:schemeClr val="tx1"/>
                </a:solidFill>
              </a:rPr>
              <a:t>OBJECTIVES</a:t>
            </a:r>
          </a:p>
        </p:txBody>
      </p:sp>
      <p:sp>
        <p:nvSpPr>
          <p:cNvPr id="3" name="Content Placeholder 2">
            <a:extLst>
              <a:ext uri="{FF2B5EF4-FFF2-40B4-BE49-F238E27FC236}">
                <a16:creationId xmlns:a16="http://schemas.microsoft.com/office/drawing/2014/main" id="{7AB83455-8916-EDD6-5DC4-0BEADCDCA7C2}"/>
              </a:ext>
            </a:extLst>
          </p:cNvPr>
          <p:cNvSpPr>
            <a:spLocks noGrp="1"/>
          </p:cNvSpPr>
          <p:nvPr>
            <p:ph idx="1"/>
          </p:nvPr>
        </p:nvSpPr>
        <p:spPr>
          <a:xfrm>
            <a:off x="1154083" y="1737361"/>
            <a:ext cx="10058400" cy="4722424"/>
          </a:xfrm>
        </p:spPr>
        <p:txBody>
          <a:bodyPr>
            <a:normAutofit/>
          </a:bodyPr>
          <a:lstStyle/>
          <a:p>
            <a:pPr>
              <a:lnSpc>
                <a:spcPct val="150000"/>
              </a:lnSpc>
              <a:buFont typeface="Arial" panose="020B0604020202020204" pitchFamily="34" charset="0"/>
              <a:buChar char="•"/>
            </a:pPr>
            <a:r>
              <a:rPr lang="en-US" sz="1800" dirty="0">
                <a:solidFill>
                  <a:schemeClr val="tx1"/>
                </a:solidFill>
              </a:rPr>
              <a:t>To automate and streamline ML workflows by optimizing dataset ingestion, preprocessing, and exploratory data analysis, ensuring efficient data handling and preparation.</a:t>
            </a:r>
          </a:p>
          <a:p>
            <a:pPr>
              <a:lnSpc>
                <a:spcPct val="150000"/>
              </a:lnSpc>
              <a:buFont typeface="Arial" panose="020B0604020202020204" pitchFamily="34" charset="0"/>
              <a:buChar char="•"/>
            </a:pPr>
            <a:r>
              <a:rPr lang="en-US" sz="1800" dirty="0">
                <a:solidFill>
                  <a:schemeClr val="tx1"/>
                </a:solidFill>
              </a:rPr>
              <a:t>To improve model selection and hyperparameter tuning by integrating automated techniques like Grid Search and </a:t>
            </a:r>
            <a:r>
              <a:rPr lang="en-US" sz="1800" dirty="0" err="1">
                <a:solidFill>
                  <a:schemeClr val="tx1"/>
                </a:solidFill>
              </a:rPr>
              <a:t>PyCaret’s</a:t>
            </a:r>
            <a:r>
              <a:rPr lang="en-US" sz="1800" dirty="0">
                <a:solidFill>
                  <a:schemeClr val="tx1"/>
                </a:solidFill>
              </a:rPr>
              <a:t> tuning framework, enhancing predictive accuracy while reducing computational overhead.</a:t>
            </a:r>
          </a:p>
          <a:p>
            <a:pPr>
              <a:lnSpc>
                <a:spcPct val="150000"/>
              </a:lnSpc>
              <a:buFont typeface="Arial" panose="020B0604020202020204" pitchFamily="34" charset="0"/>
              <a:buChar char="•"/>
            </a:pPr>
            <a:r>
              <a:rPr lang="en-US" sz="1800" dirty="0">
                <a:solidFill>
                  <a:schemeClr val="tx1"/>
                </a:solidFill>
              </a:rPr>
              <a:t>To support multi-modal data processing by extending </a:t>
            </a:r>
            <a:r>
              <a:rPr lang="en-US" sz="1800" dirty="0" err="1">
                <a:solidFill>
                  <a:schemeClr val="tx1"/>
                </a:solidFill>
              </a:rPr>
              <a:t>AutoML</a:t>
            </a:r>
            <a:r>
              <a:rPr lang="en-US" sz="1800" dirty="0">
                <a:solidFill>
                  <a:schemeClr val="tx1"/>
                </a:solidFill>
              </a:rPr>
              <a:t> capabilities to handle structured tabular data and unstructured image-based datasets seamlessly.</a:t>
            </a:r>
          </a:p>
          <a:p>
            <a:pPr>
              <a:lnSpc>
                <a:spcPct val="150000"/>
              </a:lnSpc>
              <a:buFont typeface="Arial" panose="020B0604020202020204" pitchFamily="34" charset="0"/>
              <a:buChar char="•"/>
            </a:pPr>
            <a:r>
              <a:rPr lang="en-US" sz="1800" dirty="0">
                <a:solidFill>
                  <a:schemeClr val="tx1"/>
                </a:solidFill>
              </a:rPr>
              <a:t>To establish a scalable foundation for adaptive learning pipelines, facilitating future automation of model deployment, real-time updates, and advanced analytics.</a:t>
            </a:r>
          </a:p>
        </p:txBody>
      </p:sp>
      <p:sp>
        <p:nvSpPr>
          <p:cNvPr id="4" name="Slide Number Placeholder 3">
            <a:extLst>
              <a:ext uri="{FF2B5EF4-FFF2-40B4-BE49-F238E27FC236}">
                <a16:creationId xmlns:a16="http://schemas.microsoft.com/office/drawing/2014/main" id="{F83D1E94-968E-1BB6-FE0E-795EF7FCBC2D}"/>
              </a:ext>
            </a:extLst>
          </p:cNvPr>
          <p:cNvSpPr>
            <a:spLocks noGrp="1"/>
          </p:cNvSpPr>
          <p:nvPr>
            <p:ph type="sldNum" sz="quarter" idx="12"/>
          </p:nvPr>
        </p:nvSpPr>
        <p:spPr/>
        <p:txBody>
          <a:bodyPr/>
          <a:lstStyle/>
          <a:p>
            <a:fld id="{6113E31D-E2AB-40D1-8B51-AFA5AFEF393A}" type="slidenum">
              <a:rPr lang="en-US" smtClean="0"/>
              <a:t>14</a:t>
            </a:fld>
            <a:endParaRPr lang="en-US" dirty="0"/>
          </a:p>
        </p:txBody>
      </p:sp>
    </p:spTree>
    <p:extLst>
      <p:ext uri="{BB962C8B-B14F-4D97-AF65-F5344CB8AC3E}">
        <p14:creationId xmlns:p14="http://schemas.microsoft.com/office/powerpoint/2010/main" val="2784394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D60C1-737E-C47F-7EE1-47DDE16907A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405E6C-9ADC-F9AD-C619-BB154AE43C65}"/>
              </a:ext>
            </a:extLst>
          </p:cNvPr>
          <p:cNvSpPr>
            <a:spLocks noGrp="1"/>
          </p:cNvSpPr>
          <p:nvPr>
            <p:ph type="sldNum" sz="quarter" idx="12"/>
          </p:nvPr>
        </p:nvSpPr>
        <p:spPr/>
        <p:txBody>
          <a:bodyPr/>
          <a:lstStyle/>
          <a:p>
            <a:fld id="{4FAB73BC-B049-4115-A692-8D63A059BFB8}" type="slidenum">
              <a:rPr lang="en-US" smtClean="0"/>
              <a:pPr/>
              <a:t>15</a:t>
            </a:fld>
            <a:endParaRPr lang="en-US" dirty="0"/>
          </a:p>
        </p:txBody>
      </p:sp>
      <p:sp>
        <p:nvSpPr>
          <p:cNvPr id="6" name="TextBox 5">
            <a:extLst>
              <a:ext uri="{FF2B5EF4-FFF2-40B4-BE49-F238E27FC236}">
                <a16:creationId xmlns:a16="http://schemas.microsoft.com/office/drawing/2014/main" id="{B291F8F6-1C3E-DC52-0411-E84663AAB25F}"/>
              </a:ext>
            </a:extLst>
          </p:cNvPr>
          <p:cNvSpPr txBox="1"/>
          <p:nvPr/>
        </p:nvSpPr>
        <p:spPr>
          <a:xfrm>
            <a:off x="765128" y="242698"/>
            <a:ext cx="6096000" cy="830997"/>
          </a:xfrm>
          <a:prstGeom prst="rect">
            <a:avLst/>
          </a:prstGeom>
          <a:noFill/>
        </p:spPr>
        <p:txBody>
          <a:bodyPr wrap="square">
            <a:spAutoFit/>
          </a:bodyPr>
          <a:lstStyle/>
          <a:p>
            <a:pPr algn="ctr"/>
            <a:r>
              <a:rPr lang="en-IN" sz="4800" spc="-50" dirty="0">
                <a:latin typeface="+mj-lt"/>
                <a:ea typeface="+mj-ea"/>
                <a:cs typeface="+mj-cs"/>
              </a:rPr>
              <a:t>DATASET DESCRIPTION</a:t>
            </a:r>
          </a:p>
        </p:txBody>
      </p:sp>
      <p:sp>
        <p:nvSpPr>
          <p:cNvPr id="10" name="TextBox 9">
            <a:extLst>
              <a:ext uri="{FF2B5EF4-FFF2-40B4-BE49-F238E27FC236}">
                <a16:creationId xmlns:a16="http://schemas.microsoft.com/office/drawing/2014/main" id="{65C19FC6-DF33-CB1A-866D-AB2CC60EBA39}"/>
              </a:ext>
            </a:extLst>
          </p:cNvPr>
          <p:cNvSpPr txBox="1"/>
          <p:nvPr/>
        </p:nvSpPr>
        <p:spPr>
          <a:xfrm>
            <a:off x="979517" y="1735721"/>
            <a:ext cx="4709056" cy="5134739"/>
          </a:xfrm>
          <a:prstGeom prst="rect">
            <a:avLst/>
          </a:prstGeom>
          <a:noFill/>
        </p:spPr>
        <p:txBody>
          <a:bodyPr wrap="square">
            <a:spAutoFit/>
          </a:bodyPr>
          <a:lstStyle/>
          <a:p>
            <a:pPr>
              <a:lnSpc>
                <a:spcPct val="150000"/>
              </a:lnSpc>
            </a:pPr>
            <a:r>
              <a:rPr lang="en-US" dirty="0"/>
              <a:t> </a:t>
            </a:r>
            <a:r>
              <a:rPr lang="en-US" b="1" dirty="0"/>
              <a:t>A. Tabular/Text Dataset</a:t>
            </a:r>
          </a:p>
          <a:p>
            <a:pPr marL="285750" indent="-285750" algn="just">
              <a:lnSpc>
                <a:spcPct val="150000"/>
              </a:lnSpc>
              <a:buClr>
                <a:schemeClr val="accent1"/>
              </a:buClr>
              <a:buFont typeface="Arial" panose="020B0604020202020204" pitchFamily="34" charset="0"/>
              <a:buChar char="•"/>
            </a:pPr>
            <a:r>
              <a:rPr lang="en-US" dirty="0"/>
              <a:t>The tabular dataset is obtained from Kaggle and consists of 250 records of Amazon sales transactions(2025), including details about the products sold, customers, payment methods, and order statuses. It includes 11 parameters such as</a:t>
            </a:r>
          </a:p>
          <a:p>
            <a:pPr defTabSz="914400">
              <a:spcBef>
                <a:spcPts val="1200"/>
              </a:spcBef>
              <a:spcAft>
                <a:spcPts val="200"/>
              </a:spcAft>
              <a:buClr>
                <a:schemeClr val="accent1"/>
              </a:buClr>
              <a:buSzPct val="100000"/>
            </a:pPr>
            <a:endParaRPr lang="en-US" dirty="0"/>
          </a:p>
          <a:p>
            <a:pPr marL="91440" indent="-91440" defTabSz="914400">
              <a:spcBef>
                <a:spcPts val="1200"/>
              </a:spcBef>
              <a:spcAft>
                <a:spcPts val="200"/>
              </a:spcAft>
              <a:buClr>
                <a:schemeClr val="accent1"/>
              </a:buClr>
              <a:buSzPct val="100000"/>
              <a:buFont typeface="Arial" panose="020B0604020202020204" pitchFamily="34" charset="0"/>
              <a:buChar char="•"/>
            </a:pPr>
            <a:endParaRPr lang="en-US" dirty="0"/>
          </a:p>
          <a:p>
            <a:pPr marL="91440" indent="-91440" defTabSz="914400">
              <a:spcBef>
                <a:spcPts val="1200"/>
              </a:spcBef>
              <a:spcAft>
                <a:spcPts val="200"/>
              </a:spcAft>
              <a:buClr>
                <a:schemeClr val="accent1"/>
              </a:buClr>
              <a:buSzPct val="100000"/>
              <a:buFont typeface="Arial" panose="020B0604020202020204" pitchFamily="34" charset="0"/>
              <a:buChar char="•"/>
            </a:pPr>
            <a:endParaRPr lang="en-US" dirty="0"/>
          </a:p>
          <a:p>
            <a:pPr marL="91440" indent="-91440" defTabSz="914400">
              <a:spcBef>
                <a:spcPts val="1200"/>
              </a:spcBef>
              <a:spcAft>
                <a:spcPts val="200"/>
              </a:spcAft>
              <a:buClr>
                <a:schemeClr val="accent1"/>
              </a:buClr>
              <a:buSzPct val="100000"/>
              <a:buFont typeface="Arial" panose="020B0604020202020204" pitchFamily="34" charset="0"/>
              <a:buChar char="•"/>
            </a:pPr>
            <a:endParaRPr lang="en-US" dirty="0"/>
          </a:p>
          <a:p>
            <a:endParaRPr lang="en-US" sz="2000" dirty="0"/>
          </a:p>
        </p:txBody>
      </p:sp>
      <p:cxnSp>
        <p:nvCxnSpPr>
          <p:cNvPr id="12" name="Straight Connector 11">
            <a:extLst>
              <a:ext uri="{FF2B5EF4-FFF2-40B4-BE49-F238E27FC236}">
                <a16:creationId xmlns:a16="http://schemas.microsoft.com/office/drawing/2014/main" id="{64E7C8DD-9EDE-39B0-A294-B910BABF4744}"/>
              </a:ext>
            </a:extLst>
          </p:cNvPr>
          <p:cNvCxnSpPr>
            <a:cxnSpLocks/>
          </p:cNvCxnSpPr>
          <p:nvPr/>
        </p:nvCxnSpPr>
        <p:spPr>
          <a:xfrm>
            <a:off x="1091380" y="1073695"/>
            <a:ext cx="108744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AF4F139C-0E87-8C04-3C6D-42FA92F2C774}"/>
              </a:ext>
            </a:extLst>
          </p:cNvPr>
          <p:cNvPicPr>
            <a:picLocks noChangeAspect="1"/>
          </p:cNvPicPr>
          <p:nvPr/>
        </p:nvPicPr>
        <p:blipFill>
          <a:blip r:embed="rId2"/>
          <a:stretch>
            <a:fillRect/>
          </a:stretch>
        </p:blipFill>
        <p:spPr>
          <a:xfrm>
            <a:off x="5800436" y="1146640"/>
            <a:ext cx="6108216" cy="4988848"/>
          </a:xfrm>
          <a:prstGeom prst="rect">
            <a:avLst/>
          </a:prstGeom>
        </p:spPr>
      </p:pic>
    </p:spTree>
    <p:extLst>
      <p:ext uri="{BB962C8B-B14F-4D97-AF65-F5344CB8AC3E}">
        <p14:creationId xmlns:p14="http://schemas.microsoft.com/office/powerpoint/2010/main" val="2035383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AC525-90D6-63EF-6D9F-426F57BCCA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2F1012-36EA-9D9B-8ABC-F6BF04810A2B}"/>
              </a:ext>
            </a:extLst>
          </p:cNvPr>
          <p:cNvSpPr>
            <a:spLocks noGrp="1"/>
          </p:cNvSpPr>
          <p:nvPr>
            <p:ph type="sldNum" sz="quarter" idx="12"/>
          </p:nvPr>
        </p:nvSpPr>
        <p:spPr/>
        <p:txBody>
          <a:bodyPr/>
          <a:lstStyle/>
          <a:p>
            <a:fld id="{4FAB73BC-B049-4115-A692-8D63A059BFB8}" type="slidenum">
              <a:rPr lang="en-US" smtClean="0"/>
              <a:pPr/>
              <a:t>16</a:t>
            </a:fld>
            <a:endParaRPr lang="en-US" dirty="0"/>
          </a:p>
        </p:txBody>
      </p:sp>
      <p:sp>
        <p:nvSpPr>
          <p:cNvPr id="6" name="TextBox 5">
            <a:extLst>
              <a:ext uri="{FF2B5EF4-FFF2-40B4-BE49-F238E27FC236}">
                <a16:creationId xmlns:a16="http://schemas.microsoft.com/office/drawing/2014/main" id="{216C2174-219B-54C2-7714-A6C7F5C5410D}"/>
              </a:ext>
            </a:extLst>
          </p:cNvPr>
          <p:cNvSpPr txBox="1"/>
          <p:nvPr/>
        </p:nvSpPr>
        <p:spPr>
          <a:xfrm>
            <a:off x="765128" y="242698"/>
            <a:ext cx="6096000" cy="830997"/>
          </a:xfrm>
          <a:prstGeom prst="rect">
            <a:avLst/>
          </a:prstGeom>
          <a:noFill/>
        </p:spPr>
        <p:txBody>
          <a:bodyPr wrap="square">
            <a:spAutoFit/>
          </a:bodyPr>
          <a:lstStyle/>
          <a:p>
            <a:pPr algn="ctr"/>
            <a:r>
              <a:rPr lang="en-IN" sz="4800" spc="-50" dirty="0">
                <a:latin typeface="+mj-lt"/>
                <a:ea typeface="+mj-ea"/>
                <a:cs typeface="+mj-cs"/>
              </a:rPr>
              <a:t>DATASET DESCRIPTION</a:t>
            </a:r>
          </a:p>
        </p:txBody>
      </p:sp>
      <p:cxnSp>
        <p:nvCxnSpPr>
          <p:cNvPr id="12" name="Straight Connector 11">
            <a:extLst>
              <a:ext uri="{FF2B5EF4-FFF2-40B4-BE49-F238E27FC236}">
                <a16:creationId xmlns:a16="http://schemas.microsoft.com/office/drawing/2014/main" id="{2E5182F9-B774-FF8B-854D-62AA020402DD}"/>
              </a:ext>
            </a:extLst>
          </p:cNvPr>
          <p:cNvCxnSpPr>
            <a:cxnSpLocks/>
          </p:cNvCxnSpPr>
          <p:nvPr/>
        </p:nvCxnSpPr>
        <p:spPr>
          <a:xfrm>
            <a:off x="1091380" y="1073695"/>
            <a:ext cx="108744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44BC9843-5C5B-F8DE-834E-EC1F57487AC7}"/>
              </a:ext>
            </a:extLst>
          </p:cNvPr>
          <p:cNvPicPr>
            <a:picLocks noChangeAspect="1"/>
          </p:cNvPicPr>
          <p:nvPr/>
        </p:nvPicPr>
        <p:blipFill>
          <a:blip r:embed="rId2"/>
          <a:stretch>
            <a:fillRect/>
          </a:stretch>
        </p:blipFill>
        <p:spPr>
          <a:xfrm>
            <a:off x="1269631" y="1514841"/>
            <a:ext cx="9431066" cy="3677163"/>
          </a:xfrm>
          <a:prstGeom prst="rect">
            <a:avLst/>
          </a:prstGeom>
          <a:ln>
            <a:solidFill>
              <a:schemeClr val="tx1"/>
            </a:solidFill>
          </a:ln>
        </p:spPr>
      </p:pic>
    </p:spTree>
    <p:extLst>
      <p:ext uri="{BB962C8B-B14F-4D97-AF65-F5344CB8AC3E}">
        <p14:creationId xmlns:p14="http://schemas.microsoft.com/office/powerpoint/2010/main" val="3244279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45106-C3D0-C9C3-A092-B38DEA47064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0A3459-C87E-87DC-B37C-598EE6A4EE42}"/>
              </a:ext>
            </a:extLst>
          </p:cNvPr>
          <p:cNvSpPr>
            <a:spLocks noGrp="1"/>
          </p:cNvSpPr>
          <p:nvPr>
            <p:ph type="sldNum" sz="quarter" idx="12"/>
          </p:nvPr>
        </p:nvSpPr>
        <p:spPr/>
        <p:txBody>
          <a:bodyPr/>
          <a:lstStyle/>
          <a:p>
            <a:fld id="{4FAB73BC-B049-4115-A692-8D63A059BFB8}" type="slidenum">
              <a:rPr lang="en-US" smtClean="0"/>
              <a:pPr/>
              <a:t>17</a:t>
            </a:fld>
            <a:endParaRPr lang="en-US" dirty="0"/>
          </a:p>
        </p:txBody>
      </p:sp>
      <p:sp>
        <p:nvSpPr>
          <p:cNvPr id="6" name="TextBox 5">
            <a:extLst>
              <a:ext uri="{FF2B5EF4-FFF2-40B4-BE49-F238E27FC236}">
                <a16:creationId xmlns:a16="http://schemas.microsoft.com/office/drawing/2014/main" id="{9800BD26-CBCF-A811-9EA0-5C5A7666A4F4}"/>
              </a:ext>
            </a:extLst>
          </p:cNvPr>
          <p:cNvSpPr txBox="1"/>
          <p:nvPr/>
        </p:nvSpPr>
        <p:spPr>
          <a:xfrm>
            <a:off x="240890" y="365809"/>
            <a:ext cx="6096000" cy="707886"/>
          </a:xfrm>
          <a:prstGeom prst="rect">
            <a:avLst/>
          </a:prstGeom>
          <a:noFill/>
        </p:spPr>
        <p:txBody>
          <a:bodyPr wrap="square">
            <a:spAutoFit/>
          </a:bodyPr>
          <a:lstStyle/>
          <a:p>
            <a:pPr algn="ctr"/>
            <a:r>
              <a:rPr lang="en-IN" sz="4000" spc="-50" dirty="0">
                <a:latin typeface="+mj-lt"/>
                <a:ea typeface="+mj-ea"/>
                <a:cs typeface="+mj-cs"/>
              </a:rPr>
              <a:t>DATASET DESCRIPTION</a:t>
            </a:r>
          </a:p>
        </p:txBody>
      </p:sp>
      <p:sp>
        <p:nvSpPr>
          <p:cNvPr id="10" name="TextBox 9">
            <a:extLst>
              <a:ext uri="{FF2B5EF4-FFF2-40B4-BE49-F238E27FC236}">
                <a16:creationId xmlns:a16="http://schemas.microsoft.com/office/drawing/2014/main" id="{04306D01-16F7-51AE-87CF-8AB19B888FC8}"/>
              </a:ext>
            </a:extLst>
          </p:cNvPr>
          <p:cNvSpPr txBox="1"/>
          <p:nvPr/>
        </p:nvSpPr>
        <p:spPr>
          <a:xfrm>
            <a:off x="1018233" y="1765013"/>
            <a:ext cx="4413493" cy="3199337"/>
          </a:xfrm>
          <a:prstGeom prst="rect">
            <a:avLst/>
          </a:prstGeom>
          <a:noFill/>
        </p:spPr>
        <p:txBody>
          <a:bodyPr wrap="square">
            <a:spAutoFit/>
          </a:bodyPr>
          <a:lstStyle/>
          <a:p>
            <a:pPr>
              <a:lnSpc>
                <a:spcPct val="150000"/>
              </a:lnSpc>
            </a:pPr>
            <a:r>
              <a:rPr lang="en-US" sz="2000" b="1" dirty="0"/>
              <a:t>B. Image Dataset</a:t>
            </a:r>
          </a:p>
          <a:p>
            <a:pPr marL="342900" indent="-342900" algn="just">
              <a:lnSpc>
                <a:spcPct val="150000"/>
              </a:lnSpc>
              <a:buClr>
                <a:schemeClr val="accent1"/>
              </a:buClr>
              <a:buFont typeface="Arial" panose="020B0604020202020204" pitchFamily="34" charset="0"/>
              <a:buChar char="•"/>
            </a:pPr>
            <a:r>
              <a:rPr lang="en-US" dirty="0"/>
              <a:t>The image dataset is obtained from Kaggle and consists of 32,412 records of information about product listings from an e-commerce platform(2021). It includes 9 parameters such as </a:t>
            </a:r>
          </a:p>
          <a:p>
            <a:pPr defTabSz="914400">
              <a:lnSpc>
                <a:spcPct val="150000"/>
              </a:lnSpc>
              <a:spcBef>
                <a:spcPts val="1200"/>
              </a:spcBef>
              <a:spcAft>
                <a:spcPts val="200"/>
              </a:spcAft>
              <a:buClr>
                <a:schemeClr val="accent1"/>
              </a:buClr>
              <a:buSzPct val="100000"/>
            </a:pPr>
            <a:endParaRPr lang="en-US" sz="2000" dirty="0"/>
          </a:p>
        </p:txBody>
      </p:sp>
      <p:cxnSp>
        <p:nvCxnSpPr>
          <p:cNvPr id="12" name="Straight Connector 11">
            <a:extLst>
              <a:ext uri="{FF2B5EF4-FFF2-40B4-BE49-F238E27FC236}">
                <a16:creationId xmlns:a16="http://schemas.microsoft.com/office/drawing/2014/main" id="{D9BF0D7D-CF52-0ED2-74C9-F354E7636147}"/>
              </a:ext>
            </a:extLst>
          </p:cNvPr>
          <p:cNvCxnSpPr>
            <a:cxnSpLocks/>
          </p:cNvCxnSpPr>
          <p:nvPr/>
        </p:nvCxnSpPr>
        <p:spPr>
          <a:xfrm>
            <a:off x="1091380" y="1073695"/>
            <a:ext cx="108744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12280AA-C248-FD31-2CCA-BFA7DCC885DE}"/>
              </a:ext>
            </a:extLst>
          </p:cNvPr>
          <p:cNvPicPr>
            <a:picLocks noChangeAspect="1"/>
          </p:cNvPicPr>
          <p:nvPr/>
        </p:nvPicPr>
        <p:blipFill>
          <a:blip r:embed="rId2"/>
          <a:stretch>
            <a:fillRect/>
          </a:stretch>
        </p:blipFill>
        <p:spPr>
          <a:xfrm>
            <a:off x="5431726" y="1119505"/>
            <a:ext cx="6534132" cy="4969162"/>
          </a:xfrm>
          <a:prstGeom prst="rect">
            <a:avLst/>
          </a:prstGeom>
        </p:spPr>
      </p:pic>
    </p:spTree>
    <p:extLst>
      <p:ext uri="{BB962C8B-B14F-4D97-AF65-F5344CB8AC3E}">
        <p14:creationId xmlns:p14="http://schemas.microsoft.com/office/powerpoint/2010/main" val="3760220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F1176-A8B6-6F51-C369-7B08B4425E9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70DDD5-3BA1-6884-7186-B45D77EDBEFB}"/>
              </a:ext>
            </a:extLst>
          </p:cNvPr>
          <p:cNvSpPr>
            <a:spLocks noGrp="1"/>
          </p:cNvSpPr>
          <p:nvPr>
            <p:ph type="sldNum" sz="quarter" idx="12"/>
          </p:nvPr>
        </p:nvSpPr>
        <p:spPr/>
        <p:txBody>
          <a:bodyPr/>
          <a:lstStyle/>
          <a:p>
            <a:fld id="{4FAB73BC-B049-4115-A692-8D63A059BFB8}" type="slidenum">
              <a:rPr lang="en-US" smtClean="0"/>
              <a:pPr/>
              <a:t>18</a:t>
            </a:fld>
            <a:endParaRPr lang="en-US" dirty="0"/>
          </a:p>
        </p:txBody>
      </p:sp>
      <p:sp>
        <p:nvSpPr>
          <p:cNvPr id="6" name="TextBox 5">
            <a:extLst>
              <a:ext uri="{FF2B5EF4-FFF2-40B4-BE49-F238E27FC236}">
                <a16:creationId xmlns:a16="http://schemas.microsoft.com/office/drawing/2014/main" id="{469A368D-5CF3-8407-017A-DD6D13CD5256}"/>
              </a:ext>
            </a:extLst>
          </p:cNvPr>
          <p:cNvSpPr txBox="1"/>
          <p:nvPr/>
        </p:nvSpPr>
        <p:spPr>
          <a:xfrm>
            <a:off x="320756" y="365809"/>
            <a:ext cx="6096000" cy="707886"/>
          </a:xfrm>
          <a:prstGeom prst="rect">
            <a:avLst/>
          </a:prstGeom>
          <a:noFill/>
        </p:spPr>
        <p:txBody>
          <a:bodyPr wrap="square">
            <a:spAutoFit/>
          </a:bodyPr>
          <a:lstStyle/>
          <a:p>
            <a:pPr algn="ctr"/>
            <a:r>
              <a:rPr lang="en-IN" sz="4000" spc="-50" dirty="0">
                <a:latin typeface="+mj-lt"/>
                <a:ea typeface="+mj-ea"/>
                <a:cs typeface="+mj-cs"/>
              </a:rPr>
              <a:t>DATASET DESCRIPTION</a:t>
            </a:r>
          </a:p>
        </p:txBody>
      </p:sp>
      <p:cxnSp>
        <p:nvCxnSpPr>
          <p:cNvPr id="12" name="Straight Connector 11">
            <a:extLst>
              <a:ext uri="{FF2B5EF4-FFF2-40B4-BE49-F238E27FC236}">
                <a16:creationId xmlns:a16="http://schemas.microsoft.com/office/drawing/2014/main" id="{6A907E52-24C8-F47D-9C9C-1017060EFD0F}"/>
              </a:ext>
            </a:extLst>
          </p:cNvPr>
          <p:cNvCxnSpPr>
            <a:cxnSpLocks/>
          </p:cNvCxnSpPr>
          <p:nvPr/>
        </p:nvCxnSpPr>
        <p:spPr>
          <a:xfrm>
            <a:off x="979517" y="1073695"/>
            <a:ext cx="108744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D6D48BE-808C-3628-F7EF-5DFB8154F20B}"/>
              </a:ext>
            </a:extLst>
          </p:cNvPr>
          <p:cNvPicPr>
            <a:picLocks noChangeAspect="1"/>
          </p:cNvPicPr>
          <p:nvPr/>
        </p:nvPicPr>
        <p:blipFill>
          <a:blip r:embed="rId2"/>
          <a:stretch>
            <a:fillRect/>
          </a:stretch>
        </p:blipFill>
        <p:spPr>
          <a:xfrm>
            <a:off x="979515" y="1566602"/>
            <a:ext cx="10874480" cy="3724795"/>
          </a:xfrm>
          <a:prstGeom prst="rect">
            <a:avLst/>
          </a:prstGeom>
          <a:ln>
            <a:solidFill>
              <a:schemeClr val="tx1"/>
            </a:solidFill>
          </a:ln>
        </p:spPr>
      </p:pic>
    </p:spTree>
    <p:extLst>
      <p:ext uri="{BB962C8B-B14F-4D97-AF65-F5344CB8AC3E}">
        <p14:creationId xmlns:p14="http://schemas.microsoft.com/office/powerpoint/2010/main" val="2155931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2790C0-3A6B-846A-8CD1-AD3BA01788F9}"/>
              </a:ext>
            </a:extLst>
          </p:cNvPr>
          <p:cNvSpPr>
            <a:spLocks noGrp="1"/>
          </p:cNvSpPr>
          <p:nvPr>
            <p:ph type="sldNum" sz="quarter" idx="12"/>
          </p:nvPr>
        </p:nvSpPr>
        <p:spPr/>
        <p:txBody>
          <a:bodyPr/>
          <a:lstStyle/>
          <a:p>
            <a:fld id="{4FAB73BC-B049-4115-A692-8D63A059BFB8}" type="slidenum">
              <a:rPr lang="en-US" smtClean="0"/>
              <a:pPr/>
              <a:t>19</a:t>
            </a:fld>
            <a:endParaRPr lang="en-US" dirty="0"/>
          </a:p>
        </p:txBody>
      </p:sp>
      <p:sp>
        <p:nvSpPr>
          <p:cNvPr id="7" name="TextBox 6">
            <a:extLst>
              <a:ext uri="{FF2B5EF4-FFF2-40B4-BE49-F238E27FC236}">
                <a16:creationId xmlns:a16="http://schemas.microsoft.com/office/drawing/2014/main" id="{8081B627-287E-EA0A-0489-877E14678181}"/>
              </a:ext>
            </a:extLst>
          </p:cNvPr>
          <p:cNvSpPr txBox="1"/>
          <p:nvPr/>
        </p:nvSpPr>
        <p:spPr>
          <a:xfrm>
            <a:off x="4443390" y="519971"/>
            <a:ext cx="3158137" cy="584775"/>
          </a:xfrm>
          <a:prstGeom prst="rect">
            <a:avLst/>
          </a:prstGeom>
          <a:noFill/>
        </p:spPr>
        <p:txBody>
          <a:bodyPr wrap="square">
            <a:spAutoFit/>
          </a:bodyPr>
          <a:lstStyle/>
          <a:p>
            <a:r>
              <a:rPr lang="en-IN" sz="3200" dirty="0"/>
              <a:t>BLOCK DIAGRAM</a:t>
            </a:r>
          </a:p>
        </p:txBody>
      </p:sp>
      <p:pic>
        <p:nvPicPr>
          <p:cNvPr id="5" name="Picture 4">
            <a:extLst>
              <a:ext uri="{FF2B5EF4-FFF2-40B4-BE49-F238E27FC236}">
                <a16:creationId xmlns:a16="http://schemas.microsoft.com/office/drawing/2014/main" id="{CB8090B2-08B6-FA20-BECE-A5ABA8EAC008}"/>
              </a:ext>
            </a:extLst>
          </p:cNvPr>
          <p:cNvPicPr>
            <a:picLocks noChangeAspect="1"/>
          </p:cNvPicPr>
          <p:nvPr/>
        </p:nvPicPr>
        <p:blipFill>
          <a:blip r:embed="rId3"/>
          <a:srcRect l="20227" t="35421" r="19924" b="33737"/>
          <a:stretch/>
        </p:blipFill>
        <p:spPr>
          <a:xfrm>
            <a:off x="2261985" y="1974273"/>
            <a:ext cx="7296727" cy="3038763"/>
          </a:xfrm>
          <a:prstGeom prst="rect">
            <a:avLst/>
          </a:prstGeom>
        </p:spPr>
      </p:pic>
      <p:sp>
        <p:nvSpPr>
          <p:cNvPr id="6" name="TextBox 5">
            <a:extLst>
              <a:ext uri="{FF2B5EF4-FFF2-40B4-BE49-F238E27FC236}">
                <a16:creationId xmlns:a16="http://schemas.microsoft.com/office/drawing/2014/main" id="{9AD1C8D1-87A4-8393-B1BC-09B093D077F3}"/>
              </a:ext>
            </a:extLst>
          </p:cNvPr>
          <p:cNvSpPr txBox="1"/>
          <p:nvPr/>
        </p:nvSpPr>
        <p:spPr>
          <a:xfrm>
            <a:off x="1496291" y="5227782"/>
            <a:ext cx="9060873" cy="646331"/>
          </a:xfrm>
          <a:prstGeom prst="rect">
            <a:avLst/>
          </a:prstGeom>
          <a:noFill/>
        </p:spPr>
        <p:txBody>
          <a:bodyPr wrap="square" rtlCol="0">
            <a:spAutoFit/>
          </a:bodyPr>
          <a:lstStyle/>
          <a:p>
            <a:pPr algn="ctr"/>
            <a:r>
              <a:rPr lang="en-IN" dirty="0"/>
              <a:t>Block diagram illustrating </a:t>
            </a:r>
            <a:r>
              <a:rPr lang="en-US" dirty="0"/>
              <a:t>components of the </a:t>
            </a:r>
            <a:r>
              <a:rPr lang="en-US" dirty="0" err="1"/>
              <a:t>AutoML</a:t>
            </a:r>
            <a:r>
              <a:rPr lang="en-US" dirty="0"/>
              <a:t>-driven predictive analysis framework, showcasing model selection, evaluation, and optimization</a:t>
            </a:r>
            <a:endParaRPr lang="en-IN" dirty="0"/>
          </a:p>
        </p:txBody>
      </p:sp>
    </p:spTree>
    <p:extLst>
      <p:ext uri="{BB962C8B-B14F-4D97-AF65-F5344CB8AC3E}">
        <p14:creationId xmlns:p14="http://schemas.microsoft.com/office/powerpoint/2010/main" val="991605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3CA7B-88F1-266E-E130-09562F6369E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905015-6BFC-A581-3D93-91610F098211}"/>
              </a:ext>
            </a:extLst>
          </p:cNvPr>
          <p:cNvSpPr>
            <a:spLocks noGrp="1"/>
          </p:cNvSpPr>
          <p:nvPr>
            <p:ph type="sldNum" sz="quarter" idx="12"/>
          </p:nvPr>
        </p:nvSpPr>
        <p:spPr/>
        <p:txBody>
          <a:bodyPr/>
          <a:lstStyle/>
          <a:p>
            <a:fld id="{4FAB73BC-B049-4115-A692-8D63A059BFB8}" type="slidenum">
              <a:rPr lang="en-US" smtClean="0"/>
              <a:pPr/>
              <a:t>20</a:t>
            </a:fld>
            <a:endParaRPr lang="en-US" dirty="0"/>
          </a:p>
        </p:txBody>
      </p:sp>
      <p:sp>
        <p:nvSpPr>
          <p:cNvPr id="7" name="TextBox 6">
            <a:extLst>
              <a:ext uri="{FF2B5EF4-FFF2-40B4-BE49-F238E27FC236}">
                <a16:creationId xmlns:a16="http://schemas.microsoft.com/office/drawing/2014/main" id="{EA789DA2-09A4-24A9-28CB-9E4BD884D4B9}"/>
              </a:ext>
            </a:extLst>
          </p:cNvPr>
          <p:cNvSpPr txBox="1"/>
          <p:nvPr/>
        </p:nvSpPr>
        <p:spPr>
          <a:xfrm>
            <a:off x="4041989" y="67831"/>
            <a:ext cx="4495020" cy="584775"/>
          </a:xfrm>
          <a:prstGeom prst="rect">
            <a:avLst/>
          </a:prstGeom>
          <a:noFill/>
        </p:spPr>
        <p:txBody>
          <a:bodyPr wrap="square">
            <a:spAutoFit/>
          </a:bodyPr>
          <a:lstStyle/>
          <a:p>
            <a:r>
              <a:rPr lang="en-IN" sz="3200" dirty="0"/>
              <a:t>ARCHITECTURE DIAGRAM</a:t>
            </a:r>
          </a:p>
        </p:txBody>
      </p:sp>
      <p:pic>
        <p:nvPicPr>
          <p:cNvPr id="6" name="Picture 5">
            <a:extLst>
              <a:ext uri="{FF2B5EF4-FFF2-40B4-BE49-F238E27FC236}">
                <a16:creationId xmlns:a16="http://schemas.microsoft.com/office/drawing/2014/main" id="{A252092F-5AE2-F2C6-DCF0-3FDD4DEC43A0}"/>
              </a:ext>
            </a:extLst>
          </p:cNvPr>
          <p:cNvPicPr>
            <a:picLocks noChangeAspect="1"/>
          </p:cNvPicPr>
          <p:nvPr/>
        </p:nvPicPr>
        <p:blipFill>
          <a:blip r:embed="rId2"/>
          <a:stretch>
            <a:fillRect/>
          </a:stretch>
        </p:blipFill>
        <p:spPr>
          <a:xfrm>
            <a:off x="694572" y="824345"/>
            <a:ext cx="6128327" cy="5216237"/>
          </a:xfrm>
          <a:prstGeom prst="rect">
            <a:avLst/>
          </a:prstGeom>
        </p:spPr>
      </p:pic>
      <p:sp>
        <p:nvSpPr>
          <p:cNvPr id="8" name="TextBox 7">
            <a:extLst>
              <a:ext uri="{FF2B5EF4-FFF2-40B4-BE49-F238E27FC236}">
                <a16:creationId xmlns:a16="http://schemas.microsoft.com/office/drawing/2014/main" id="{6511FFB0-5F64-7D7A-8AA7-477781096198}"/>
              </a:ext>
            </a:extLst>
          </p:cNvPr>
          <p:cNvSpPr txBox="1"/>
          <p:nvPr/>
        </p:nvSpPr>
        <p:spPr>
          <a:xfrm>
            <a:off x="7001164" y="1720272"/>
            <a:ext cx="4424218" cy="3277820"/>
          </a:xfrm>
          <a:prstGeom prst="rect">
            <a:avLst/>
          </a:prstGeom>
          <a:noFill/>
        </p:spPr>
        <p:txBody>
          <a:bodyPr wrap="square" rtlCol="0">
            <a:spAutoFit/>
          </a:bodyPr>
          <a:lstStyle/>
          <a:p>
            <a:pPr marL="285750" indent="-285750" algn="just">
              <a:lnSpc>
                <a:spcPct val="150000"/>
              </a:lnSpc>
              <a:buClr>
                <a:schemeClr val="accent1"/>
              </a:buClr>
              <a:buFont typeface="Arial" panose="020B0604020202020204" pitchFamily="34" charset="0"/>
              <a:buChar char="•"/>
            </a:pPr>
            <a:r>
              <a:rPr lang="en-US" dirty="0"/>
              <a:t>Architecture diagram illustrating the structured workflow of the </a:t>
            </a:r>
            <a:r>
              <a:rPr lang="en-US" dirty="0" err="1"/>
              <a:t>AutoML</a:t>
            </a:r>
            <a:r>
              <a:rPr lang="en-US" dirty="0"/>
              <a:t>-driven predictive analysis system.</a:t>
            </a:r>
          </a:p>
          <a:p>
            <a:pPr marL="285750" indent="-285750" algn="just">
              <a:lnSpc>
                <a:spcPct val="150000"/>
              </a:lnSpc>
              <a:buClr>
                <a:schemeClr val="accent1"/>
              </a:buClr>
              <a:buFont typeface="Arial" panose="020B0604020202020204" pitchFamily="34" charset="0"/>
              <a:buChar char="•"/>
            </a:pPr>
            <a:r>
              <a:rPr lang="en-US" dirty="0"/>
              <a:t>It outlines the workflow from dataset preprocessing to hyperparameter tuning and model comparison, incorporating </a:t>
            </a:r>
            <a:r>
              <a:rPr lang="en-US" dirty="0" err="1"/>
              <a:t>LightGBM</a:t>
            </a:r>
            <a:r>
              <a:rPr lang="en-US" dirty="0"/>
              <a:t> as a meta-learner. </a:t>
            </a:r>
          </a:p>
          <a:p>
            <a:endParaRPr lang="en-IN" dirty="0"/>
          </a:p>
        </p:txBody>
      </p:sp>
    </p:spTree>
    <p:extLst>
      <p:ext uri="{BB962C8B-B14F-4D97-AF65-F5344CB8AC3E}">
        <p14:creationId xmlns:p14="http://schemas.microsoft.com/office/powerpoint/2010/main" val="3090023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E89E7-5DBF-6B7A-31BF-F1B203DD2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B08FC4-63C2-B159-3581-159586FD8BBB}"/>
              </a:ext>
            </a:extLst>
          </p:cNvPr>
          <p:cNvSpPr>
            <a:spLocks noGrp="1"/>
          </p:cNvSpPr>
          <p:nvPr>
            <p:ph type="title"/>
          </p:nvPr>
        </p:nvSpPr>
        <p:spPr>
          <a:xfrm>
            <a:off x="1154083" y="263527"/>
            <a:ext cx="10058400" cy="1450757"/>
          </a:xfrm>
        </p:spPr>
        <p:txBody>
          <a:bodyPr/>
          <a:lstStyle/>
          <a:p>
            <a:r>
              <a:rPr lang="en-IN" dirty="0">
                <a:solidFill>
                  <a:schemeClr val="tx1"/>
                </a:solidFill>
              </a:rPr>
              <a:t>EXPERIMENTAL SETUP</a:t>
            </a:r>
          </a:p>
        </p:txBody>
      </p:sp>
      <p:sp>
        <p:nvSpPr>
          <p:cNvPr id="3" name="Content Placeholder 2">
            <a:extLst>
              <a:ext uri="{FF2B5EF4-FFF2-40B4-BE49-F238E27FC236}">
                <a16:creationId xmlns:a16="http://schemas.microsoft.com/office/drawing/2014/main" id="{E3D44C7E-741A-E715-76A2-28EE9577041B}"/>
              </a:ext>
            </a:extLst>
          </p:cNvPr>
          <p:cNvSpPr>
            <a:spLocks noGrp="1"/>
          </p:cNvSpPr>
          <p:nvPr>
            <p:ph idx="1"/>
          </p:nvPr>
        </p:nvSpPr>
        <p:spPr>
          <a:xfrm>
            <a:off x="1154083" y="1864919"/>
            <a:ext cx="10411229" cy="4444230"/>
          </a:xfrm>
        </p:spPr>
        <p:txBody>
          <a:bodyPr>
            <a:noAutofit/>
          </a:bodyPr>
          <a:lstStyle/>
          <a:p>
            <a:pPr>
              <a:lnSpc>
                <a:spcPct val="100000"/>
              </a:lnSpc>
            </a:pPr>
            <a:r>
              <a:rPr lang="en-IN" sz="1800" b="1" dirty="0">
                <a:solidFill>
                  <a:schemeClr val="tx1"/>
                </a:solidFill>
              </a:rPr>
              <a:t>A. Environment and tools</a:t>
            </a:r>
          </a:p>
          <a:p>
            <a:pPr>
              <a:lnSpc>
                <a:spcPct val="100000"/>
              </a:lnSpc>
            </a:pPr>
            <a:r>
              <a:rPr lang="en-IN" sz="1800" dirty="0">
                <a:solidFill>
                  <a:schemeClr val="tx1"/>
                </a:solidFill>
              </a:rPr>
              <a:t>     VS Code, Python 3.9, scikit-learn, </a:t>
            </a:r>
            <a:r>
              <a:rPr lang="en-IN" sz="1800" dirty="0" err="1">
                <a:solidFill>
                  <a:schemeClr val="tx1"/>
                </a:solidFill>
              </a:rPr>
              <a:t>XGBoost</a:t>
            </a:r>
            <a:r>
              <a:rPr lang="en-IN" sz="1800" dirty="0">
                <a:solidFill>
                  <a:schemeClr val="tx1"/>
                </a:solidFill>
              </a:rPr>
              <a:t>, </a:t>
            </a:r>
            <a:r>
              <a:rPr lang="en-IN" sz="1800" dirty="0" err="1">
                <a:solidFill>
                  <a:schemeClr val="tx1"/>
                </a:solidFill>
              </a:rPr>
              <a:t>LightGBM</a:t>
            </a:r>
            <a:r>
              <a:rPr lang="en-IN" sz="1800" dirty="0">
                <a:solidFill>
                  <a:schemeClr val="tx1"/>
                </a:solidFill>
              </a:rPr>
              <a:t>, </a:t>
            </a:r>
            <a:r>
              <a:rPr lang="en-IN" sz="1800" dirty="0" err="1">
                <a:solidFill>
                  <a:schemeClr val="tx1"/>
                </a:solidFill>
              </a:rPr>
              <a:t>CatBoost</a:t>
            </a:r>
            <a:r>
              <a:rPr lang="en-IN" sz="1800" dirty="0">
                <a:solidFill>
                  <a:schemeClr val="tx1"/>
                </a:solidFill>
              </a:rPr>
              <a:t>, NumPy 1.23.5, pandas, </a:t>
            </a:r>
          </a:p>
          <a:p>
            <a:pPr>
              <a:lnSpc>
                <a:spcPct val="100000"/>
              </a:lnSpc>
            </a:pPr>
            <a:r>
              <a:rPr lang="en-IN" sz="1800" dirty="0" err="1">
                <a:solidFill>
                  <a:schemeClr val="tx1"/>
                </a:solidFill>
              </a:rPr>
              <a:t>ydata</a:t>
            </a:r>
            <a:r>
              <a:rPr lang="en-IN" sz="1800" dirty="0">
                <a:solidFill>
                  <a:schemeClr val="tx1"/>
                </a:solidFill>
              </a:rPr>
              <a:t>-profiling. </a:t>
            </a:r>
            <a:r>
              <a:rPr lang="en-US" sz="1800" dirty="0">
                <a:solidFill>
                  <a:schemeClr val="tx1"/>
                </a:solidFill>
              </a:rPr>
              <a:t> </a:t>
            </a:r>
          </a:p>
          <a:p>
            <a:pPr>
              <a:lnSpc>
                <a:spcPct val="100000"/>
              </a:lnSpc>
            </a:pPr>
            <a:r>
              <a:rPr lang="en-US" sz="1800" b="1" dirty="0">
                <a:solidFill>
                  <a:schemeClr val="tx1"/>
                </a:solidFill>
              </a:rPr>
              <a:t>B. </a:t>
            </a:r>
            <a:r>
              <a:rPr lang="en-IN" sz="1800" b="1" dirty="0">
                <a:solidFill>
                  <a:schemeClr val="tx1"/>
                </a:solidFill>
              </a:rPr>
              <a:t>Model</a:t>
            </a:r>
          </a:p>
          <a:p>
            <a:pPr>
              <a:lnSpc>
                <a:spcPct val="100000"/>
              </a:lnSpc>
              <a:buFont typeface="Arial" panose="020B0604020202020204" pitchFamily="34" charset="0"/>
              <a:buChar char="•"/>
            </a:pPr>
            <a:r>
              <a:rPr lang="en-IN" sz="1800" b="1" dirty="0">
                <a:solidFill>
                  <a:schemeClr val="tx1"/>
                </a:solidFill>
              </a:rPr>
              <a:t> </a:t>
            </a:r>
            <a:r>
              <a:rPr lang="en-IN" sz="1800" dirty="0">
                <a:solidFill>
                  <a:schemeClr val="tx1"/>
                </a:solidFill>
              </a:rPr>
              <a:t>Logistic Regression</a:t>
            </a:r>
          </a:p>
          <a:p>
            <a:pPr>
              <a:lnSpc>
                <a:spcPct val="100000"/>
              </a:lnSpc>
              <a:buFont typeface="Arial" panose="020B0604020202020204" pitchFamily="34" charset="0"/>
              <a:buChar char="•"/>
            </a:pPr>
            <a:r>
              <a:rPr lang="en-IN" sz="1800" dirty="0">
                <a:solidFill>
                  <a:schemeClr val="tx1"/>
                </a:solidFill>
              </a:rPr>
              <a:t>K-Nearest </a:t>
            </a:r>
            <a:r>
              <a:rPr lang="en-IN" sz="1800" dirty="0" err="1">
                <a:solidFill>
                  <a:schemeClr val="tx1"/>
                </a:solidFill>
              </a:rPr>
              <a:t>Neighbors</a:t>
            </a:r>
            <a:r>
              <a:rPr lang="en-IN" sz="1800" dirty="0">
                <a:solidFill>
                  <a:schemeClr val="tx1"/>
                </a:solidFill>
              </a:rPr>
              <a:t> (KNN) </a:t>
            </a:r>
          </a:p>
          <a:p>
            <a:pPr>
              <a:lnSpc>
                <a:spcPct val="100000"/>
              </a:lnSpc>
              <a:buFont typeface="Arial" panose="020B0604020202020204" pitchFamily="34" charset="0"/>
              <a:buChar char="•"/>
            </a:pPr>
            <a:r>
              <a:rPr lang="en-IN" sz="1800" dirty="0" err="1">
                <a:solidFill>
                  <a:schemeClr val="tx1"/>
                </a:solidFill>
              </a:rPr>
              <a:t>ClassifierNaive</a:t>
            </a:r>
            <a:r>
              <a:rPr lang="en-IN" sz="1800" dirty="0">
                <a:solidFill>
                  <a:schemeClr val="tx1"/>
                </a:solidFill>
              </a:rPr>
              <a:t> Bayes (</a:t>
            </a:r>
            <a:r>
              <a:rPr lang="en-IN" sz="1800" dirty="0" err="1">
                <a:solidFill>
                  <a:schemeClr val="tx1"/>
                </a:solidFill>
              </a:rPr>
              <a:t>GaussianNB</a:t>
            </a:r>
            <a:r>
              <a:rPr lang="en-IN" sz="1800" dirty="0">
                <a:solidFill>
                  <a:schemeClr val="tx1"/>
                </a:solidFill>
              </a:rPr>
              <a:t>)</a:t>
            </a:r>
          </a:p>
          <a:p>
            <a:pPr>
              <a:lnSpc>
                <a:spcPct val="100000"/>
              </a:lnSpc>
              <a:buFont typeface="Arial" panose="020B0604020202020204" pitchFamily="34" charset="0"/>
              <a:buChar char="•"/>
            </a:pPr>
            <a:r>
              <a:rPr lang="en-IN" sz="1800" dirty="0">
                <a:solidFill>
                  <a:schemeClr val="tx1"/>
                </a:solidFill>
              </a:rPr>
              <a:t>Decision Tree Classifier</a:t>
            </a:r>
          </a:p>
          <a:p>
            <a:pPr>
              <a:lnSpc>
                <a:spcPct val="100000"/>
              </a:lnSpc>
              <a:buFont typeface="Arial" panose="020B0604020202020204" pitchFamily="34" charset="0"/>
              <a:buChar char="•"/>
            </a:pPr>
            <a:r>
              <a:rPr lang="en-IN" sz="1800" dirty="0">
                <a:solidFill>
                  <a:schemeClr val="tx1"/>
                </a:solidFill>
              </a:rPr>
              <a:t>Random Forest</a:t>
            </a:r>
          </a:p>
          <a:p>
            <a:pPr>
              <a:lnSpc>
                <a:spcPct val="100000"/>
              </a:lnSpc>
            </a:pPr>
            <a:endParaRPr lang="en-IN" sz="2200" b="1" dirty="0">
              <a:solidFill>
                <a:schemeClr val="tx1"/>
              </a:solidFill>
            </a:endParaRPr>
          </a:p>
        </p:txBody>
      </p:sp>
      <p:sp>
        <p:nvSpPr>
          <p:cNvPr id="4" name="Slide Number Placeholder 3">
            <a:extLst>
              <a:ext uri="{FF2B5EF4-FFF2-40B4-BE49-F238E27FC236}">
                <a16:creationId xmlns:a16="http://schemas.microsoft.com/office/drawing/2014/main" id="{EE097E87-9417-5C29-736F-00DCCF1639DB}"/>
              </a:ext>
            </a:extLst>
          </p:cNvPr>
          <p:cNvSpPr>
            <a:spLocks noGrp="1"/>
          </p:cNvSpPr>
          <p:nvPr>
            <p:ph type="sldNum" sz="quarter" idx="12"/>
          </p:nvPr>
        </p:nvSpPr>
        <p:spPr/>
        <p:txBody>
          <a:bodyPr/>
          <a:lstStyle/>
          <a:p>
            <a:fld id="{6113E31D-E2AB-40D1-8B51-AFA5AFEF393A}" type="slidenum">
              <a:rPr lang="en-US" smtClean="0"/>
              <a:t>21</a:t>
            </a:fld>
            <a:endParaRPr lang="en-US" dirty="0"/>
          </a:p>
        </p:txBody>
      </p:sp>
    </p:spTree>
    <p:extLst>
      <p:ext uri="{BB962C8B-B14F-4D97-AF65-F5344CB8AC3E}">
        <p14:creationId xmlns:p14="http://schemas.microsoft.com/office/powerpoint/2010/main" val="9119780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0C1AC-5D63-DBFC-49DC-614EA78AFE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057F7-A2C7-E459-9109-D789D4A6FF6D}"/>
              </a:ext>
            </a:extLst>
          </p:cNvPr>
          <p:cNvSpPr>
            <a:spLocks noGrp="1"/>
          </p:cNvSpPr>
          <p:nvPr>
            <p:ph type="title"/>
          </p:nvPr>
        </p:nvSpPr>
        <p:spPr>
          <a:xfrm>
            <a:off x="1154083" y="263527"/>
            <a:ext cx="10058400" cy="1450757"/>
          </a:xfrm>
        </p:spPr>
        <p:txBody>
          <a:bodyPr/>
          <a:lstStyle/>
          <a:p>
            <a:r>
              <a:rPr lang="en-IN" dirty="0">
                <a:solidFill>
                  <a:schemeClr val="tx1"/>
                </a:solidFill>
              </a:rPr>
              <a:t>EXPERIMENTAL SETUP</a:t>
            </a:r>
          </a:p>
        </p:txBody>
      </p:sp>
      <p:sp>
        <p:nvSpPr>
          <p:cNvPr id="3" name="Content Placeholder 2">
            <a:extLst>
              <a:ext uri="{FF2B5EF4-FFF2-40B4-BE49-F238E27FC236}">
                <a16:creationId xmlns:a16="http://schemas.microsoft.com/office/drawing/2014/main" id="{27A646A6-A8B3-DFB6-40E6-DBE6ABBA62AE}"/>
              </a:ext>
            </a:extLst>
          </p:cNvPr>
          <p:cNvSpPr>
            <a:spLocks noGrp="1"/>
          </p:cNvSpPr>
          <p:nvPr>
            <p:ph idx="1"/>
          </p:nvPr>
        </p:nvSpPr>
        <p:spPr>
          <a:xfrm>
            <a:off x="1097279" y="1845734"/>
            <a:ext cx="10411229" cy="4444230"/>
          </a:xfrm>
        </p:spPr>
        <p:txBody>
          <a:bodyPr>
            <a:noAutofit/>
          </a:bodyPr>
          <a:lstStyle/>
          <a:p>
            <a:pPr>
              <a:lnSpc>
                <a:spcPct val="100000"/>
              </a:lnSpc>
              <a:buFont typeface="Arial" panose="020B0604020202020204" pitchFamily="34" charset="0"/>
              <a:buChar char="•"/>
            </a:pPr>
            <a:r>
              <a:rPr lang="en-IN" sz="1800" dirty="0">
                <a:solidFill>
                  <a:schemeClr val="tx1"/>
                </a:solidFill>
              </a:rPr>
              <a:t>Linear Regression</a:t>
            </a:r>
          </a:p>
          <a:p>
            <a:pPr>
              <a:lnSpc>
                <a:spcPct val="100000"/>
              </a:lnSpc>
              <a:buFont typeface="Arial" panose="020B0604020202020204" pitchFamily="34" charset="0"/>
              <a:buChar char="•"/>
            </a:pPr>
            <a:r>
              <a:rPr lang="en-IN" sz="1800" dirty="0">
                <a:solidFill>
                  <a:schemeClr val="tx1"/>
                </a:solidFill>
              </a:rPr>
              <a:t>Lasso Regression</a:t>
            </a:r>
          </a:p>
          <a:p>
            <a:pPr>
              <a:lnSpc>
                <a:spcPct val="100000"/>
              </a:lnSpc>
              <a:buFont typeface="Arial" panose="020B0604020202020204" pitchFamily="34" charset="0"/>
              <a:buChar char="•"/>
            </a:pPr>
            <a:r>
              <a:rPr lang="en-IN" sz="1800" dirty="0">
                <a:solidFill>
                  <a:schemeClr val="tx1"/>
                </a:solidFill>
              </a:rPr>
              <a:t>Ridge Regression</a:t>
            </a:r>
          </a:p>
          <a:p>
            <a:pPr>
              <a:lnSpc>
                <a:spcPct val="100000"/>
              </a:lnSpc>
              <a:buFont typeface="Arial" panose="020B0604020202020204" pitchFamily="34" charset="0"/>
              <a:buChar char="•"/>
            </a:pPr>
            <a:r>
              <a:rPr lang="en-IN" sz="1800" dirty="0">
                <a:solidFill>
                  <a:schemeClr val="tx1"/>
                </a:solidFill>
              </a:rPr>
              <a:t>Least Angle Regression (LARS)</a:t>
            </a:r>
          </a:p>
          <a:p>
            <a:pPr>
              <a:lnSpc>
                <a:spcPct val="100000"/>
              </a:lnSpc>
              <a:buFont typeface="Arial" panose="020B0604020202020204" pitchFamily="34" charset="0"/>
              <a:buChar char="•"/>
            </a:pPr>
            <a:r>
              <a:rPr lang="en-IN" sz="1800" dirty="0">
                <a:solidFill>
                  <a:schemeClr val="tx1"/>
                </a:solidFill>
              </a:rPr>
              <a:t>Orthogonal Matching Pursuit (OMP)</a:t>
            </a:r>
          </a:p>
          <a:p>
            <a:pPr>
              <a:lnSpc>
                <a:spcPct val="100000"/>
              </a:lnSpc>
              <a:buFont typeface="Arial" panose="020B0604020202020204" pitchFamily="34" charset="0"/>
              <a:buChar char="•"/>
            </a:pPr>
            <a:r>
              <a:rPr lang="en-IN" sz="1800" dirty="0">
                <a:solidFill>
                  <a:schemeClr val="tx1"/>
                </a:solidFill>
              </a:rPr>
              <a:t>Bayesian </a:t>
            </a:r>
            <a:r>
              <a:rPr lang="en-IN" sz="1800" dirty="0" err="1">
                <a:solidFill>
                  <a:schemeClr val="tx1"/>
                </a:solidFill>
              </a:rPr>
              <a:t>RidgeHuber</a:t>
            </a:r>
            <a:r>
              <a:rPr lang="en-IN" sz="1800" dirty="0">
                <a:solidFill>
                  <a:schemeClr val="tx1"/>
                </a:solidFill>
              </a:rPr>
              <a:t> </a:t>
            </a:r>
          </a:p>
          <a:p>
            <a:pPr>
              <a:lnSpc>
                <a:spcPct val="100000"/>
              </a:lnSpc>
              <a:buFont typeface="Arial" panose="020B0604020202020204" pitchFamily="34" charset="0"/>
              <a:buChar char="•"/>
            </a:pPr>
            <a:r>
              <a:rPr lang="en-IN" sz="1800" dirty="0" err="1">
                <a:solidFill>
                  <a:schemeClr val="tx1"/>
                </a:solidFill>
              </a:rPr>
              <a:t>RegressorPassive</a:t>
            </a:r>
            <a:r>
              <a:rPr lang="en-IN" sz="1800" dirty="0">
                <a:solidFill>
                  <a:schemeClr val="tx1"/>
                </a:solidFill>
              </a:rPr>
              <a:t> </a:t>
            </a:r>
          </a:p>
          <a:p>
            <a:pPr>
              <a:lnSpc>
                <a:spcPct val="100000"/>
              </a:lnSpc>
              <a:buFont typeface="Arial" panose="020B0604020202020204" pitchFamily="34" charset="0"/>
              <a:buChar char="•"/>
            </a:pPr>
            <a:r>
              <a:rPr lang="en-IN" sz="1800" dirty="0">
                <a:solidFill>
                  <a:schemeClr val="tx1"/>
                </a:solidFill>
              </a:rPr>
              <a:t>Aggressive Regressor</a:t>
            </a:r>
            <a:endParaRPr lang="en-IN" sz="1800" b="1" dirty="0">
              <a:solidFill>
                <a:schemeClr val="tx1"/>
              </a:solidFill>
            </a:endParaRPr>
          </a:p>
        </p:txBody>
      </p:sp>
      <p:sp>
        <p:nvSpPr>
          <p:cNvPr id="4" name="Slide Number Placeholder 3">
            <a:extLst>
              <a:ext uri="{FF2B5EF4-FFF2-40B4-BE49-F238E27FC236}">
                <a16:creationId xmlns:a16="http://schemas.microsoft.com/office/drawing/2014/main" id="{C311901E-AE92-365B-FC54-500420298CC6}"/>
              </a:ext>
            </a:extLst>
          </p:cNvPr>
          <p:cNvSpPr>
            <a:spLocks noGrp="1"/>
          </p:cNvSpPr>
          <p:nvPr>
            <p:ph type="sldNum" sz="quarter" idx="12"/>
          </p:nvPr>
        </p:nvSpPr>
        <p:spPr/>
        <p:txBody>
          <a:bodyPr/>
          <a:lstStyle/>
          <a:p>
            <a:fld id="{6113E31D-E2AB-40D1-8B51-AFA5AFEF393A}" type="slidenum">
              <a:rPr lang="en-US" smtClean="0"/>
              <a:t>22</a:t>
            </a:fld>
            <a:endParaRPr lang="en-US" dirty="0"/>
          </a:p>
        </p:txBody>
      </p:sp>
    </p:spTree>
    <p:extLst>
      <p:ext uri="{BB962C8B-B14F-4D97-AF65-F5344CB8AC3E}">
        <p14:creationId xmlns:p14="http://schemas.microsoft.com/office/powerpoint/2010/main" val="32494616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E2BF6-A0BB-0CCC-4974-621128621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B6A6C-3DA1-B7BD-0F55-58BBB852FEE8}"/>
              </a:ext>
            </a:extLst>
          </p:cNvPr>
          <p:cNvSpPr>
            <a:spLocks noGrp="1"/>
          </p:cNvSpPr>
          <p:nvPr>
            <p:ph type="title"/>
          </p:nvPr>
        </p:nvSpPr>
        <p:spPr>
          <a:xfrm>
            <a:off x="1154083" y="263527"/>
            <a:ext cx="10058400" cy="1450757"/>
          </a:xfrm>
        </p:spPr>
        <p:txBody>
          <a:bodyPr/>
          <a:lstStyle/>
          <a:p>
            <a:r>
              <a:rPr lang="en-IN" dirty="0">
                <a:solidFill>
                  <a:schemeClr val="tx1"/>
                </a:solidFill>
              </a:rPr>
              <a:t>EXPERIMENTAL SETUP</a:t>
            </a:r>
          </a:p>
        </p:txBody>
      </p:sp>
      <p:sp>
        <p:nvSpPr>
          <p:cNvPr id="3" name="Content Placeholder 2">
            <a:extLst>
              <a:ext uri="{FF2B5EF4-FFF2-40B4-BE49-F238E27FC236}">
                <a16:creationId xmlns:a16="http://schemas.microsoft.com/office/drawing/2014/main" id="{A84B06A5-8BD8-12D3-845D-D0B04EF9366D}"/>
              </a:ext>
            </a:extLst>
          </p:cNvPr>
          <p:cNvSpPr>
            <a:spLocks noGrp="1"/>
          </p:cNvSpPr>
          <p:nvPr>
            <p:ph idx="1"/>
          </p:nvPr>
        </p:nvSpPr>
        <p:spPr>
          <a:xfrm>
            <a:off x="1097279" y="1845734"/>
            <a:ext cx="10411229" cy="4444230"/>
          </a:xfrm>
        </p:spPr>
        <p:txBody>
          <a:bodyPr>
            <a:noAutofit/>
          </a:bodyPr>
          <a:lstStyle/>
          <a:p>
            <a:pPr>
              <a:lnSpc>
                <a:spcPct val="100000"/>
              </a:lnSpc>
            </a:pPr>
            <a:r>
              <a:rPr lang="en-IN" b="1" dirty="0">
                <a:solidFill>
                  <a:schemeClr val="tx1"/>
                </a:solidFill>
              </a:rPr>
              <a:t>C. </a:t>
            </a:r>
            <a:r>
              <a:rPr lang="en-IN" sz="1800" b="1" dirty="0">
                <a:solidFill>
                  <a:schemeClr val="tx1"/>
                </a:solidFill>
              </a:rPr>
              <a:t>EVALUATION METRICS</a:t>
            </a:r>
          </a:p>
          <a:p>
            <a:pPr>
              <a:lnSpc>
                <a:spcPct val="100000"/>
              </a:lnSpc>
            </a:pPr>
            <a:r>
              <a:rPr lang="en-IN" sz="1800" dirty="0">
                <a:solidFill>
                  <a:schemeClr val="tx1"/>
                </a:solidFill>
              </a:rPr>
              <a:t>     </a:t>
            </a:r>
            <a:r>
              <a:rPr lang="en-IN" sz="1800" b="1" dirty="0">
                <a:solidFill>
                  <a:schemeClr val="tx1"/>
                </a:solidFill>
              </a:rPr>
              <a:t>Accuracy: </a:t>
            </a:r>
            <a:r>
              <a:rPr lang="en-IN" sz="1800" dirty="0">
                <a:solidFill>
                  <a:schemeClr val="tx1"/>
                </a:solidFill>
              </a:rPr>
              <a:t>Accuracy measures the proportion of correctly classified samples over the total number of samples. It is computed as: </a:t>
            </a:r>
          </a:p>
          <a:p>
            <a:pPr>
              <a:lnSpc>
                <a:spcPct val="100000"/>
              </a:lnSpc>
            </a:pPr>
            <a:endParaRPr lang="en-IN" sz="1800" dirty="0">
              <a:solidFill>
                <a:schemeClr val="tx1"/>
              </a:solidFill>
            </a:endParaRPr>
          </a:p>
          <a:p>
            <a:pPr>
              <a:lnSpc>
                <a:spcPct val="100000"/>
              </a:lnSpc>
            </a:pPr>
            <a:endParaRPr lang="en-IN" sz="1800" dirty="0">
              <a:solidFill>
                <a:schemeClr val="tx1"/>
              </a:solidFill>
            </a:endParaRPr>
          </a:p>
          <a:p>
            <a:pPr>
              <a:lnSpc>
                <a:spcPct val="100000"/>
              </a:lnSpc>
            </a:pPr>
            <a:r>
              <a:rPr lang="en-IN" sz="1800" b="1" dirty="0">
                <a:solidFill>
                  <a:schemeClr val="tx1"/>
                </a:solidFill>
              </a:rPr>
              <a:t>    Precision, Recall, and F1-Score: </a:t>
            </a:r>
            <a:r>
              <a:rPr lang="en-IN" sz="1800" dirty="0">
                <a:solidFill>
                  <a:schemeClr val="tx1"/>
                </a:solidFill>
              </a:rPr>
              <a:t>These metrics provide detailed insight into model performance, especially for imbalanced data</a:t>
            </a:r>
            <a:r>
              <a:rPr lang="en-IN" sz="1800" dirty="0"/>
              <a:t>. </a:t>
            </a:r>
            <a:endParaRPr lang="en-IN" sz="1800" b="1" dirty="0">
              <a:solidFill>
                <a:schemeClr val="tx1"/>
              </a:solidFill>
            </a:endParaRPr>
          </a:p>
          <a:p>
            <a:pPr>
              <a:lnSpc>
                <a:spcPct val="100000"/>
              </a:lnSpc>
            </a:pPr>
            <a:endParaRPr lang="en-IN" sz="2200" b="1" dirty="0">
              <a:solidFill>
                <a:schemeClr val="tx1"/>
              </a:solidFill>
            </a:endParaRPr>
          </a:p>
        </p:txBody>
      </p:sp>
      <p:sp>
        <p:nvSpPr>
          <p:cNvPr id="4" name="Slide Number Placeholder 3">
            <a:extLst>
              <a:ext uri="{FF2B5EF4-FFF2-40B4-BE49-F238E27FC236}">
                <a16:creationId xmlns:a16="http://schemas.microsoft.com/office/drawing/2014/main" id="{1109E835-3C16-D124-6B07-5BE9B05112E2}"/>
              </a:ext>
            </a:extLst>
          </p:cNvPr>
          <p:cNvSpPr>
            <a:spLocks noGrp="1"/>
          </p:cNvSpPr>
          <p:nvPr>
            <p:ph type="sldNum" sz="quarter" idx="12"/>
          </p:nvPr>
        </p:nvSpPr>
        <p:spPr/>
        <p:txBody>
          <a:bodyPr/>
          <a:lstStyle/>
          <a:p>
            <a:fld id="{6113E31D-E2AB-40D1-8B51-AFA5AFEF393A}" type="slidenum">
              <a:rPr lang="en-US" smtClean="0"/>
              <a:t>23</a:t>
            </a:fld>
            <a:endParaRPr lang="en-US" dirty="0"/>
          </a:p>
        </p:txBody>
      </p:sp>
      <p:pic>
        <p:nvPicPr>
          <p:cNvPr id="6" name="Picture 5">
            <a:extLst>
              <a:ext uri="{FF2B5EF4-FFF2-40B4-BE49-F238E27FC236}">
                <a16:creationId xmlns:a16="http://schemas.microsoft.com/office/drawing/2014/main" id="{60086FA7-78BC-FA18-C0CA-EFE10690E60C}"/>
              </a:ext>
            </a:extLst>
          </p:cNvPr>
          <p:cNvPicPr>
            <a:picLocks noChangeAspect="1"/>
          </p:cNvPicPr>
          <p:nvPr/>
        </p:nvPicPr>
        <p:blipFill>
          <a:blip r:embed="rId2"/>
          <a:stretch>
            <a:fillRect/>
          </a:stretch>
        </p:blipFill>
        <p:spPr>
          <a:xfrm>
            <a:off x="3566098" y="3038420"/>
            <a:ext cx="3536665" cy="781159"/>
          </a:xfrm>
          <a:prstGeom prst="rect">
            <a:avLst/>
          </a:prstGeom>
        </p:spPr>
      </p:pic>
      <p:pic>
        <p:nvPicPr>
          <p:cNvPr id="10" name="Picture 9">
            <a:extLst>
              <a:ext uri="{FF2B5EF4-FFF2-40B4-BE49-F238E27FC236}">
                <a16:creationId xmlns:a16="http://schemas.microsoft.com/office/drawing/2014/main" id="{1ED7E497-BF49-5FDC-14F2-CE1F29538FCC}"/>
              </a:ext>
            </a:extLst>
          </p:cNvPr>
          <p:cNvPicPr>
            <a:picLocks noChangeAspect="1"/>
          </p:cNvPicPr>
          <p:nvPr/>
        </p:nvPicPr>
        <p:blipFill>
          <a:blip r:embed="rId3"/>
          <a:stretch>
            <a:fillRect/>
          </a:stretch>
        </p:blipFill>
        <p:spPr>
          <a:xfrm>
            <a:off x="2590365" y="4793672"/>
            <a:ext cx="2772162" cy="1496291"/>
          </a:xfrm>
          <a:prstGeom prst="rect">
            <a:avLst/>
          </a:prstGeom>
        </p:spPr>
      </p:pic>
      <p:pic>
        <p:nvPicPr>
          <p:cNvPr id="12" name="Picture 11">
            <a:extLst>
              <a:ext uri="{FF2B5EF4-FFF2-40B4-BE49-F238E27FC236}">
                <a16:creationId xmlns:a16="http://schemas.microsoft.com/office/drawing/2014/main" id="{4F4A9F74-6659-16DD-9DB4-B178076DEF8E}"/>
              </a:ext>
            </a:extLst>
          </p:cNvPr>
          <p:cNvPicPr>
            <a:picLocks noChangeAspect="1"/>
          </p:cNvPicPr>
          <p:nvPr/>
        </p:nvPicPr>
        <p:blipFill>
          <a:blip r:embed="rId4"/>
          <a:stretch>
            <a:fillRect/>
          </a:stretch>
        </p:blipFill>
        <p:spPr>
          <a:xfrm>
            <a:off x="5895031" y="5012265"/>
            <a:ext cx="3191320" cy="762106"/>
          </a:xfrm>
          <a:prstGeom prst="rect">
            <a:avLst/>
          </a:prstGeom>
        </p:spPr>
      </p:pic>
    </p:spTree>
    <p:extLst>
      <p:ext uri="{BB962C8B-B14F-4D97-AF65-F5344CB8AC3E}">
        <p14:creationId xmlns:p14="http://schemas.microsoft.com/office/powerpoint/2010/main" val="3746525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82789-0C1D-E163-39BF-91C8FC3A16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0E47E-4330-211E-1CDA-B9BB9C34663F}"/>
              </a:ext>
            </a:extLst>
          </p:cNvPr>
          <p:cNvSpPr>
            <a:spLocks noGrp="1"/>
          </p:cNvSpPr>
          <p:nvPr>
            <p:ph type="title"/>
          </p:nvPr>
        </p:nvSpPr>
        <p:spPr>
          <a:xfrm>
            <a:off x="1154083" y="263527"/>
            <a:ext cx="10058400" cy="1450757"/>
          </a:xfrm>
        </p:spPr>
        <p:txBody>
          <a:bodyPr/>
          <a:lstStyle/>
          <a:p>
            <a:r>
              <a:rPr lang="en-IN" dirty="0">
                <a:solidFill>
                  <a:schemeClr val="tx1"/>
                </a:solidFill>
              </a:rPr>
              <a:t>EXPERIMENTAL SETUP</a:t>
            </a:r>
          </a:p>
        </p:txBody>
      </p:sp>
      <p:sp>
        <p:nvSpPr>
          <p:cNvPr id="3" name="Content Placeholder 2">
            <a:extLst>
              <a:ext uri="{FF2B5EF4-FFF2-40B4-BE49-F238E27FC236}">
                <a16:creationId xmlns:a16="http://schemas.microsoft.com/office/drawing/2014/main" id="{1D35DE89-4077-7FCA-57DD-DBF78D9DBD85}"/>
              </a:ext>
            </a:extLst>
          </p:cNvPr>
          <p:cNvSpPr>
            <a:spLocks noGrp="1"/>
          </p:cNvSpPr>
          <p:nvPr>
            <p:ph idx="1"/>
          </p:nvPr>
        </p:nvSpPr>
        <p:spPr>
          <a:xfrm>
            <a:off x="1097279" y="1845734"/>
            <a:ext cx="10411229" cy="4444230"/>
          </a:xfrm>
        </p:spPr>
        <p:txBody>
          <a:bodyPr>
            <a:noAutofit/>
          </a:bodyPr>
          <a:lstStyle/>
          <a:p>
            <a:pPr>
              <a:lnSpc>
                <a:spcPct val="100000"/>
              </a:lnSpc>
            </a:pPr>
            <a:r>
              <a:rPr lang="en-US" sz="1800" b="1" dirty="0">
                <a:solidFill>
                  <a:schemeClr val="tx1"/>
                </a:solidFill>
              </a:rPr>
              <a:t>       Matthews Correlation Coefficient (MCC): </a:t>
            </a:r>
            <a:r>
              <a:rPr lang="en-US" sz="1800" dirty="0">
                <a:solidFill>
                  <a:schemeClr val="tx1"/>
                </a:solidFill>
              </a:rPr>
              <a:t>MCC is a robust metric that considers all values from the confusion matrix and is particularly useful for imbalanced classes.</a:t>
            </a:r>
          </a:p>
          <a:p>
            <a:pPr>
              <a:lnSpc>
                <a:spcPct val="100000"/>
              </a:lnSpc>
            </a:pPr>
            <a:endParaRPr lang="en-US" sz="1800" dirty="0">
              <a:solidFill>
                <a:schemeClr val="tx1"/>
              </a:solidFill>
            </a:endParaRPr>
          </a:p>
          <a:p>
            <a:pPr>
              <a:lnSpc>
                <a:spcPct val="100000"/>
              </a:lnSpc>
            </a:pPr>
            <a:endParaRPr lang="en-US" sz="1800" dirty="0">
              <a:solidFill>
                <a:schemeClr val="tx1"/>
              </a:solidFill>
            </a:endParaRPr>
          </a:p>
          <a:p>
            <a:pPr>
              <a:lnSpc>
                <a:spcPct val="100000"/>
              </a:lnSpc>
            </a:pPr>
            <a:r>
              <a:rPr lang="en-US" sz="1800" dirty="0">
                <a:solidFill>
                  <a:schemeClr val="tx1"/>
                </a:solidFill>
              </a:rPr>
              <a:t>       </a:t>
            </a:r>
            <a:r>
              <a:rPr lang="en-US" sz="1800" b="1" dirty="0">
                <a:solidFill>
                  <a:schemeClr val="tx1"/>
                </a:solidFill>
              </a:rPr>
              <a:t>Training Time (TT): </a:t>
            </a:r>
            <a:r>
              <a:rPr lang="en-US" sz="1800" dirty="0">
                <a:solidFill>
                  <a:schemeClr val="tx1"/>
                </a:solidFill>
              </a:rPr>
              <a:t>The time (in seconds or minutes) required to train the model. It is used to compare computational efficiency among models.</a:t>
            </a:r>
          </a:p>
          <a:p>
            <a:pPr>
              <a:lnSpc>
                <a:spcPct val="100000"/>
              </a:lnSpc>
            </a:pPr>
            <a:r>
              <a:rPr lang="en-IN" sz="1800" b="1" dirty="0">
                <a:solidFill>
                  <a:schemeClr val="tx1"/>
                </a:solidFill>
              </a:rPr>
              <a:t>        Confusion Matrix: </a:t>
            </a:r>
            <a:r>
              <a:rPr lang="en-IN" sz="1800" dirty="0">
                <a:solidFill>
                  <a:schemeClr val="tx1"/>
                </a:solidFill>
              </a:rPr>
              <a:t>The confusion matrix summarizes prediction results by comparing predicted and actual labels. It includes true positives (TP), false positives (FP), true negatives (TN), and false negatives (FN). </a:t>
            </a:r>
          </a:p>
          <a:p>
            <a:pPr>
              <a:lnSpc>
                <a:spcPct val="100000"/>
              </a:lnSpc>
            </a:pPr>
            <a:r>
              <a:rPr lang="en-IN" sz="1800" b="1" dirty="0">
                <a:solidFill>
                  <a:schemeClr val="tx1"/>
                </a:solidFill>
              </a:rPr>
              <a:t>         Kappa : </a:t>
            </a:r>
            <a:r>
              <a:rPr lang="en-US" sz="1800" dirty="0">
                <a:solidFill>
                  <a:schemeClr val="tx1"/>
                </a:solidFill>
              </a:rPr>
              <a:t>Kappa measures the agreement between predicted and actual classifications while adjusting for chance. It is useful in imbalanced datasets, where higher values indicate stronger model reliability.</a:t>
            </a:r>
          </a:p>
          <a:p>
            <a:pPr>
              <a:lnSpc>
                <a:spcPct val="100000"/>
              </a:lnSpc>
            </a:pPr>
            <a:endParaRPr lang="en-IN" b="1" dirty="0">
              <a:solidFill>
                <a:schemeClr val="tx1"/>
              </a:solidFill>
            </a:endParaRPr>
          </a:p>
        </p:txBody>
      </p:sp>
      <p:sp>
        <p:nvSpPr>
          <p:cNvPr id="4" name="Slide Number Placeholder 3">
            <a:extLst>
              <a:ext uri="{FF2B5EF4-FFF2-40B4-BE49-F238E27FC236}">
                <a16:creationId xmlns:a16="http://schemas.microsoft.com/office/drawing/2014/main" id="{8E9699C6-920E-EE23-474F-0F402B05CD4C}"/>
              </a:ext>
            </a:extLst>
          </p:cNvPr>
          <p:cNvSpPr>
            <a:spLocks noGrp="1"/>
          </p:cNvSpPr>
          <p:nvPr>
            <p:ph type="sldNum" sz="quarter" idx="12"/>
          </p:nvPr>
        </p:nvSpPr>
        <p:spPr/>
        <p:txBody>
          <a:bodyPr/>
          <a:lstStyle/>
          <a:p>
            <a:fld id="{6113E31D-E2AB-40D1-8B51-AFA5AFEF393A}" type="slidenum">
              <a:rPr lang="en-US" smtClean="0"/>
              <a:t>24</a:t>
            </a:fld>
            <a:endParaRPr lang="en-US" dirty="0"/>
          </a:p>
        </p:txBody>
      </p:sp>
      <p:pic>
        <p:nvPicPr>
          <p:cNvPr id="7" name="Picture 6">
            <a:extLst>
              <a:ext uri="{FF2B5EF4-FFF2-40B4-BE49-F238E27FC236}">
                <a16:creationId xmlns:a16="http://schemas.microsoft.com/office/drawing/2014/main" id="{B24B806A-6790-A96B-33C0-4C5AAF99ABF0}"/>
              </a:ext>
            </a:extLst>
          </p:cNvPr>
          <p:cNvPicPr>
            <a:picLocks noChangeAspect="1"/>
          </p:cNvPicPr>
          <p:nvPr/>
        </p:nvPicPr>
        <p:blipFill>
          <a:blip r:embed="rId2"/>
          <a:stretch>
            <a:fillRect/>
          </a:stretch>
        </p:blipFill>
        <p:spPr>
          <a:xfrm>
            <a:off x="2742732" y="2571630"/>
            <a:ext cx="6706536" cy="857370"/>
          </a:xfrm>
          <a:prstGeom prst="rect">
            <a:avLst/>
          </a:prstGeom>
        </p:spPr>
      </p:pic>
      <p:pic>
        <p:nvPicPr>
          <p:cNvPr id="6" name="Picture 5">
            <a:extLst>
              <a:ext uri="{FF2B5EF4-FFF2-40B4-BE49-F238E27FC236}">
                <a16:creationId xmlns:a16="http://schemas.microsoft.com/office/drawing/2014/main" id="{F40F1E07-EBA6-D51C-617D-615F0923CCEC}"/>
              </a:ext>
            </a:extLst>
          </p:cNvPr>
          <p:cNvPicPr>
            <a:picLocks noChangeAspect="1"/>
          </p:cNvPicPr>
          <p:nvPr/>
        </p:nvPicPr>
        <p:blipFill>
          <a:blip r:embed="rId3"/>
          <a:stretch>
            <a:fillRect/>
          </a:stretch>
        </p:blipFill>
        <p:spPr>
          <a:xfrm>
            <a:off x="5236353" y="5629378"/>
            <a:ext cx="1561611" cy="447737"/>
          </a:xfrm>
          <a:prstGeom prst="rect">
            <a:avLst/>
          </a:prstGeom>
        </p:spPr>
      </p:pic>
    </p:spTree>
    <p:extLst>
      <p:ext uri="{BB962C8B-B14F-4D97-AF65-F5344CB8AC3E}">
        <p14:creationId xmlns:p14="http://schemas.microsoft.com/office/powerpoint/2010/main" val="15932219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19139-3585-B32D-2A05-A3A1F9675B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75182F-94C0-F3D2-CEB9-7E3946F9E56F}"/>
              </a:ext>
            </a:extLst>
          </p:cNvPr>
          <p:cNvSpPr>
            <a:spLocks noGrp="1"/>
          </p:cNvSpPr>
          <p:nvPr>
            <p:ph type="title"/>
          </p:nvPr>
        </p:nvSpPr>
        <p:spPr/>
        <p:txBody>
          <a:bodyPr/>
          <a:lstStyle/>
          <a:p>
            <a:r>
              <a:rPr lang="en-IN" dirty="0">
                <a:solidFill>
                  <a:schemeClr val="tx1"/>
                </a:solidFill>
              </a:rPr>
              <a:t>PROJECT MODULES AND DESCRIPTION</a:t>
            </a:r>
          </a:p>
        </p:txBody>
      </p:sp>
      <p:sp>
        <p:nvSpPr>
          <p:cNvPr id="3" name="Content Placeholder 2">
            <a:extLst>
              <a:ext uri="{FF2B5EF4-FFF2-40B4-BE49-F238E27FC236}">
                <a16:creationId xmlns:a16="http://schemas.microsoft.com/office/drawing/2014/main" id="{BC33E153-E0E1-6830-D71D-FBC024D31ABB}"/>
              </a:ext>
            </a:extLst>
          </p:cNvPr>
          <p:cNvSpPr>
            <a:spLocks noGrp="1"/>
          </p:cNvSpPr>
          <p:nvPr>
            <p:ph idx="1"/>
          </p:nvPr>
        </p:nvSpPr>
        <p:spPr>
          <a:xfrm>
            <a:off x="1097280" y="1845733"/>
            <a:ext cx="10605094" cy="4725664"/>
          </a:xfrm>
        </p:spPr>
        <p:txBody>
          <a:bodyPr>
            <a:normAutofit/>
          </a:bodyPr>
          <a:lstStyle/>
          <a:p>
            <a:r>
              <a:rPr lang="en-IN" sz="2800" dirty="0"/>
              <a:t> </a:t>
            </a:r>
            <a:r>
              <a:rPr lang="en-IN" sz="1800" b="1" dirty="0">
                <a:solidFill>
                  <a:schemeClr val="tx1"/>
                </a:solidFill>
              </a:rPr>
              <a:t>A. Data ingestion and preprocessing</a:t>
            </a:r>
          </a:p>
          <a:p>
            <a:r>
              <a:rPr lang="en-IN" sz="1800" b="1" dirty="0">
                <a:solidFill>
                  <a:schemeClr val="tx1"/>
                </a:solidFill>
              </a:rPr>
              <a:t> Input: </a:t>
            </a:r>
            <a:r>
              <a:rPr lang="en-IN" sz="1800" dirty="0">
                <a:solidFill>
                  <a:schemeClr val="tx1"/>
                </a:solidFill>
              </a:rPr>
              <a:t>User-uploaded dataset file (.csv or .xlsx) via </a:t>
            </a:r>
            <a:r>
              <a:rPr lang="en-IN" sz="1800" dirty="0" err="1">
                <a:solidFill>
                  <a:schemeClr val="tx1"/>
                </a:solidFill>
              </a:rPr>
              <a:t>Streamlit</a:t>
            </a:r>
            <a:r>
              <a:rPr lang="en-IN" sz="1800" dirty="0">
                <a:solidFill>
                  <a:schemeClr val="tx1"/>
                </a:solidFill>
              </a:rPr>
              <a:t> File Uploader.</a:t>
            </a:r>
          </a:p>
          <a:p>
            <a:r>
              <a:rPr lang="en-IN" sz="1800" dirty="0">
                <a:solidFill>
                  <a:schemeClr val="tx1"/>
                </a:solidFill>
              </a:rPr>
              <a:t> </a:t>
            </a:r>
            <a:r>
              <a:rPr lang="en-IN" sz="1800" b="1" dirty="0">
                <a:solidFill>
                  <a:schemeClr val="tx1"/>
                </a:solidFill>
              </a:rPr>
              <a:t>Processing:</a:t>
            </a:r>
          </a:p>
          <a:p>
            <a:pPr>
              <a:buFont typeface="Arial" panose="020B0604020202020204" pitchFamily="34" charset="0"/>
              <a:buChar char="•"/>
            </a:pPr>
            <a:r>
              <a:rPr lang="en-IN" sz="1800" b="1" dirty="0">
                <a:solidFill>
                  <a:schemeClr val="tx1"/>
                </a:solidFill>
              </a:rPr>
              <a:t> </a:t>
            </a:r>
            <a:r>
              <a:rPr lang="en-IN" sz="1800" dirty="0">
                <a:solidFill>
                  <a:schemeClr val="tx1"/>
                </a:solidFill>
              </a:rPr>
              <a:t>Validates the uploaded file type and reads it into a Pandas </a:t>
            </a:r>
            <a:r>
              <a:rPr lang="en-IN" sz="1800" dirty="0" err="1">
                <a:solidFill>
                  <a:schemeClr val="tx1"/>
                </a:solidFill>
              </a:rPr>
              <a:t>DataFrame</a:t>
            </a:r>
            <a:r>
              <a:rPr lang="en-IN" sz="1800" dirty="0">
                <a:solidFill>
                  <a:schemeClr val="tx1"/>
                </a:solidFill>
              </a:rPr>
              <a:t>.</a:t>
            </a:r>
          </a:p>
          <a:p>
            <a:pPr>
              <a:buFont typeface="Arial" panose="020B0604020202020204" pitchFamily="34" charset="0"/>
              <a:buChar char="•"/>
            </a:pPr>
            <a:r>
              <a:rPr lang="en-IN" sz="1800" dirty="0">
                <a:solidFill>
                  <a:schemeClr val="tx1"/>
                </a:solidFill>
              </a:rPr>
              <a:t> Saves the validated </a:t>
            </a:r>
            <a:r>
              <a:rPr lang="en-IN" sz="1800" dirty="0" err="1">
                <a:solidFill>
                  <a:schemeClr val="tx1"/>
                </a:solidFill>
              </a:rPr>
              <a:t>DataFrame</a:t>
            </a:r>
            <a:r>
              <a:rPr lang="en-IN" sz="1800" dirty="0">
                <a:solidFill>
                  <a:schemeClr val="tx1"/>
                </a:solidFill>
              </a:rPr>
              <a:t> as source data.csv for later access.</a:t>
            </a:r>
          </a:p>
          <a:p>
            <a:pPr>
              <a:buFont typeface="Arial" panose="020B0604020202020204" pitchFamily="34" charset="0"/>
              <a:buChar char="•"/>
            </a:pPr>
            <a:r>
              <a:rPr lang="en-IN" sz="1800" dirty="0">
                <a:solidFill>
                  <a:schemeClr val="tx1"/>
                </a:solidFill>
              </a:rPr>
              <a:t> Standardizes column names and fills missing values in categorical columns with default placeholders.</a:t>
            </a:r>
          </a:p>
          <a:p>
            <a:pPr>
              <a:buFont typeface="Arial" panose="020B0604020202020204" pitchFamily="34" charset="0"/>
              <a:buChar char="•"/>
            </a:pPr>
            <a:r>
              <a:rPr lang="en-IN" sz="1800" dirty="0">
                <a:solidFill>
                  <a:schemeClr val="tx1"/>
                </a:solidFill>
              </a:rPr>
              <a:t> Generates an interactive EDA report using the cleaned dataset.</a:t>
            </a:r>
          </a:p>
          <a:p>
            <a:r>
              <a:rPr lang="en-IN" sz="1800" dirty="0">
                <a:solidFill>
                  <a:schemeClr val="tx1"/>
                </a:solidFill>
              </a:rPr>
              <a:t> </a:t>
            </a:r>
            <a:r>
              <a:rPr lang="en-IN" sz="1800" b="1" dirty="0">
                <a:solidFill>
                  <a:schemeClr val="tx1"/>
                </a:solidFill>
              </a:rPr>
              <a:t>Outcome: </a:t>
            </a:r>
            <a:r>
              <a:rPr lang="en-IN" sz="1800" dirty="0">
                <a:solidFill>
                  <a:schemeClr val="tx1"/>
                </a:solidFill>
              </a:rPr>
              <a:t>Cleaned and saved dataset (source data.csv) and automatically generated EDA Report.</a:t>
            </a:r>
          </a:p>
        </p:txBody>
      </p:sp>
      <p:sp>
        <p:nvSpPr>
          <p:cNvPr id="4" name="Slide Number Placeholder 3">
            <a:extLst>
              <a:ext uri="{FF2B5EF4-FFF2-40B4-BE49-F238E27FC236}">
                <a16:creationId xmlns:a16="http://schemas.microsoft.com/office/drawing/2014/main" id="{DE2FD18E-8F25-C169-5EE9-D7214F4C1D00}"/>
              </a:ext>
            </a:extLst>
          </p:cNvPr>
          <p:cNvSpPr>
            <a:spLocks noGrp="1"/>
          </p:cNvSpPr>
          <p:nvPr>
            <p:ph type="sldNum" sz="quarter" idx="12"/>
          </p:nvPr>
        </p:nvSpPr>
        <p:spPr/>
        <p:txBody>
          <a:bodyPr/>
          <a:lstStyle/>
          <a:p>
            <a:fld id="{6113E31D-E2AB-40D1-8B51-AFA5AFEF393A}" type="slidenum">
              <a:rPr lang="en-US" smtClean="0"/>
              <a:t>25</a:t>
            </a:fld>
            <a:endParaRPr lang="en-US" dirty="0"/>
          </a:p>
        </p:txBody>
      </p:sp>
    </p:spTree>
    <p:extLst>
      <p:ext uri="{BB962C8B-B14F-4D97-AF65-F5344CB8AC3E}">
        <p14:creationId xmlns:p14="http://schemas.microsoft.com/office/powerpoint/2010/main" val="2038391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5E4D4-9F9E-B91B-F21B-4719C073E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5D3ECB-F56F-F34D-E61B-1BB0E1D19788}"/>
              </a:ext>
            </a:extLst>
          </p:cNvPr>
          <p:cNvSpPr>
            <a:spLocks noGrp="1"/>
          </p:cNvSpPr>
          <p:nvPr>
            <p:ph type="title"/>
          </p:nvPr>
        </p:nvSpPr>
        <p:spPr/>
        <p:txBody>
          <a:bodyPr/>
          <a:lstStyle/>
          <a:p>
            <a:r>
              <a:rPr lang="en-IN" dirty="0"/>
              <a:t>PROJECT MODULES AND DESCRIPTION</a:t>
            </a:r>
          </a:p>
        </p:txBody>
      </p:sp>
      <p:sp>
        <p:nvSpPr>
          <p:cNvPr id="4" name="Slide Number Placeholder 3">
            <a:extLst>
              <a:ext uri="{FF2B5EF4-FFF2-40B4-BE49-F238E27FC236}">
                <a16:creationId xmlns:a16="http://schemas.microsoft.com/office/drawing/2014/main" id="{96FACDEC-874D-5A7C-AE5D-769D8B580C8C}"/>
              </a:ext>
            </a:extLst>
          </p:cNvPr>
          <p:cNvSpPr>
            <a:spLocks noGrp="1"/>
          </p:cNvSpPr>
          <p:nvPr>
            <p:ph type="sldNum" sz="quarter" idx="12"/>
          </p:nvPr>
        </p:nvSpPr>
        <p:spPr/>
        <p:txBody>
          <a:bodyPr/>
          <a:lstStyle/>
          <a:p>
            <a:fld id="{6113E31D-E2AB-40D1-8B51-AFA5AFEF393A}" type="slidenum">
              <a:rPr lang="en-US" smtClean="0"/>
              <a:t>26</a:t>
            </a:fld>
            <a:endParaRPr lang="en-US" dirty="0"/>
          </a:p>
        </p:txBody>
      </p:sp>
      <p:pic>
        <p:nvPicPr>
          <p:cNvPr id="7" name="Picture 6">
            <a:extLst>
              <a:ext uri="{FF2B5EF4-FFF2-40B4-BE49-F238E27FC236}">
                <a16:creationId xmlns:a16="http://schemas.microsoft.com/office/drawing/2014/main" id="{C60BB4DD-7943-72CE-9A4C-F625597A0EDA}"/>
              </a:ext>
            </a:extLst>
          </p:cNvPr>
          <p:cNvPicPr>
            <a:picLocks noChangeAspect="1"/>
          </p:cNvPicPr>
          <p:nvPr/>
        </p:nvPicPr>
        <p:blipFill>
          <a:blip r:embed="rId2"/>
          <a:stretch>
            <a:fillRect/>
          </a:stretch>
        </p:blipFill>
        <p:spPr>
          <a:xfrm>
            <a:off x="1562317" y="2026801"/>
            <a:ext cx="9271936" cy="3714658"/>
          </a:xfrm>
          <a:prstGeom prst="rect">
            <a:avLst/>
          </a:prstGeom>
        </p:spPr>
      </p:pic>
      <p:sp>
        <p:nvSpPr>
          <p:cNvPr id="3" name="TextBox 2">
            <a:extLst>
              <a:ext uri="{FF2B5EF4-FFF2-40B4-BE49-F238E27FC236}">
                <a16:creationId xmlns:a16="http://schemas.microsoft.com/office/drawing/2014/main" id="{2E4BEF67-935D-A821-4E09-66750E60295B}"/>
              </a:ext>
            </a:extLst>
          </p:cNvPr>
          <p:cNvSpPr txBox="1"/>
          <p:nvPr/>
        </p:nvSpPr>
        <p:spPr>
          <a:xfrm>
            <a:off x="1162858" y="5846234"/>
            <a:ext cx="9927244" cy="369332"/>
          </a:xfrm>
          <a:prstGeom prst="rect">
            <a:avLst/>
          </a:prstGeom>
          <a:noFill/>
        </p:spPr>
        <p:txBody>
          <a:bodyPr wrap="square" rtlCol="0">
            <a:spAutoFit/>
          </a:bodyPr>
          <a:lstStyle/>
          <a:p>
            <a:pPr algn="ctr"/>
            <a:r>
              <a:rPr lang="en-IN" dirty="0"/>
              <a:t>Workflow of Data ingestion and Data preprocessing Module</a:t>
            </a:r>
          </a:p>
        </p:txBody>
      </p:sp>
    </p:spTree>
    <p:extLst>
      <p:ext uri="{BB962C8B-B14F-4D97-AF65-F5344CB8AC3E}">
        <p14:creationId xmlns:p14="http://schemas.microsoft.com/office/powerpoint/2010/main" val="37912308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0AC1E-BEE1-3693-E4B2-9B152620BB9E}"/>
              </a:ext>
            </a:extLst>
          </p:cNvPr>
          <p:cNvSpPr>
            <a:spLocks noGrp="1"/>
          </p:cNvSpPr>
          <p:nvPr>
            <p:ph type="title"/>
          </p:nvPr>
        </p:nvSpPr>
        <p:spPr>
          <a:xfrm>
            <a:off x="1097279" y="286603"/>
            <a:ext cx="10411229" cy="1450757"/>
          </a:xfrm>
        </p:spPr>
        <p:txBody>
          <a:bodyPr>
            <a:normAutofit/>
          </a:bodyPr>
          <a:lstStyle/>
          <a:p>
            <a:r>
              <a:rPr lang="en-IN" dirty="0">
                <a:solidFill>
                  <a:schemeClr val="tx1"/>
                </a:solidFill>
              </a:rPr>
              <a:t>WORKING PSEUDOCODE</a:t>
            </a:r>
          </a:p>
        </p:txBody>
      </p:sp>
      <p:sp>
        <p:nvSpPr>
          <p:cNvPr id="4" name="Slide Number Placeholder 3">
            <a:extLst>
              <a:ext uri="{FF2B5EF4-FFF2-40B4-BE49-F238E27FC236}">
                <a16:creationId xmlns:a16="http://schemas.microsoft.com/office/drawing/2014/main" id="{9DC076B8-EE93-46F6-A59A-8BC7A500FCC1}"/>
              </a:ext>
            </a:extLst>
          </p:cNvPr>
          <p:cNvSpPr>
            <a:spLocks noGrp="1"/>
          </p:cNvSpPr>
          <p:nvPr>
            <p:ph type="sldNum" sz="quarter" idx="12"/>
          </p:nvPr>
        </p:nvSpPr>
        <p:spPr/>
        <p:txBody>
          <a:bodyPr/>
          <a:lstStyle/>
          <a:p>
            <a:fld id="{6113E31D-E2AB-40D1-8B51-AFA5AFEF393A}" type="slidenum">
              <a:rPr lang="en-US" smtClean="0"/>
              <a:t>27</a:t>
            </a:fld>
            <a:endParaRPr lang="en-US" dirty="0"/>
          </a:p>
        </p:txBody>
      </p:sp>
      <p:pic>
        <p:nvPicPr>
          <p:cNvPr id="9" name="Picture 8">
            <a:extLst>
              <a:ext uri="{FF2B5EF4-FFF2-40B4-BE49-F238E27FC236}">
                <a16:creationId xmlns:a16="http://schemas.microsoft.com/office/drawing/2014/main" id="{D3DE9F88-9D36-7C84-A3F3-5E04E9B2EAD0}"/>
              </a:ext>
            </a:extLst>
          </p:cNvPr>
          <p:cNvPicPr>
            <a:picLocks noChangeAspect="1"/>
          </p:cNvPicPr>
          <p:nvPr/>
        </p:nvPicPr>
        <p:blipFill>
          <a:blip r:embed="rId2"/>
          <a:stretch>
            <a:fillRect/>
          </a:stretch>
        </p:blipFill>
        <p:spPr>
          <a:xfrm>
            <a:off x="1675844" y="1856509"/>
            <a:ext cx="6184302" cy="4258048"/>
          </a:xfrm>
          <a:prstGeom prst="rect">
            <a:avLst/>
          </a:prstGeom>
        </p:spPr>
      </p:pic>
    </p:spTree>
    <p:extLst>
      <p:ext uri="{BB962C8B-B14F-4D97-AF65-F5344CB8AC3E}">
        <p14:creationId xmlns:p14="http://schemas.microsoft.com/office/powerpoint/2010/main" val="15213251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21CBF-6E91-6357-E936-36DD32E2E71F}"/>
              </a:ext>
            </a:extLst>
          </p:cNvPr>
          <p:cNvSpPr>
            <a:spLocks noGrp="1"/>
          </p:cNvSpPr>
          <p:nvPr>
            <p:ph type="title"/>
          </p:nvPr>
        </p:nvSpPr>
        <p:spPr/>
        <p:txBody>
          <a:bodyPr/>
          <a:lstStyle/>
          <a:p>
            <a:r>
              <a:rPr lang="en-IN" dirty="0">
                <a:solidFill>
                  <a:schemeClr val="tx1"/>
                </a:solidFill>
              </a:rPr>
              <a:t>IMPLEMENTATIONS AND OUTPUTS</a:t>
            </a:r>
          </a:p>
        </p:txBody>
      </p:sp>
      <p:sp>
        <p:nvSpPr>
          <p:cNvPr id="4" name="Slide Number Placeholder 3">
            <a:extLst>
              <a:ext uri="{FF2B5EF4-FFF2-40B4-BE49-F238E27FC236}">
                <a16:creationId xmlns:a16="http://schemas.microsoft.com/office/drawing/2014/main" id="{236565C2-D1DE-9CD7-8B01-0DBB9F26C1F8}"/>
              </a:ext>
            </a:extLst>
          </p:cNvPr>
          <p:cNvSpPr>
            <a:spLocks noGrp="1"/>
          </p:cNvSpPr>
          <p:nvPr>
            <p:ph type="sldNum" sz="quarter" idx="12"/>
          </p:nvPr>
        </p:nvSpPr>
        <p:spPr/>
        <p:txBody>
          <a:bodyPr/>
          <a:lstStyle/>
          <a:p>
            <a:fld id="{6113E31D-E2AB-40D1-8B51-AFA5AFEF393A}" type="slidenum">
              <a:rPr lang="en-US" smtClean="0"/>
              <a:t>28</a:t>
            </a:fld>
            <a:endParaRPr lang="en-US" dirty="0"/>
          </a:p>
        </p:txBody>
      </p:sp>
      <p:pic>
        <p:nvPicPr>
          <p:cNvPr id="5" name="Picture 4">
            <a:extLst>
              <a:ext uri="{FF2B5EF4-FFF2-40B4-BE49-F238E27FC236}">
                <a16:creationId xmlns:a16="http://schemas.microsoft.com/office/drawing/2014/main" id="{5F91EC2C-E543-7171-2F64-3B8FE3CCBCD6}"/>
              </a:ext>
            </a:extLst>
          </p:cNvPr>
          <p:cNvPicPr>
            <a:picLocks noChangeAspect="1"/>
          </p:cNvPicPr>
          <p:nvPr/>
        </p:nvPicPr>
        <p:blipFill>
          <a:blip r:embed="rId3"/>
          <a:stretch>
            <a:fillRect/>
          </a:stretch>
        </p:blipFill>
        <p:spPr>
          <a:xfrm>
            <a:off x="1154083" y="1880323"/>
            <a:ext cx="10058400" cy="3541422"/>
          </a:xfrm>
          <a:prstGeom prst="rect">
            <a:avLst/>
          </a:prstGeom>
          <a:ln>
            <a:solidFill>
              <a:schemeClr val="tx1"/>
            </a:solidFill>
          </a:ln>
        </p:spPr>
      </p:pic>
      <p:sp>
        <p:nvSpPr>
          <p:cNvPr id="7" name="TextBox 6">
            <a:extLst>
              <a:ext uri="{FF2B5EF4-FFF2-40B4-BE49-F238E27FC236}">
                <a16:creationId xmlns:a16="http://schemas.microsoft.com/office/drawing/2014/main" id="{20794163-1CEF-FF31-18AC-CE4BFD3C8184}"/>
              </a:ext>
            </a:extLst>
          </p:cNvPr>
          <p:cNvSpPr txBox="1"/>
          <p:nvPr/>
        </p:nvSpPr>
        <p:spPr>
          <a:xfrm>
            <a:off x="1542010" y="5511180"/>
            <a:ext cx="9282546" cy="646331"/>
          </a:xfrm>
          <a:prstGeom prst="rect">
            <a:avLst/>
          </a:prstGeom>
          <a:noFill/>
        </p:spPr>
        <p:txBody>
          <a:bodyPr wrap="square" rtlCol="0">
            <a:spAutoFit/>
          </a:bodyPr>
          <a:lstStyle/>
          <a:p>
            <a:pPr algn="ctr"/>
            <a:r>
              <a:rPr lang="en-US" dirty="0"/>
              <a:t>A data upload interface from the </a:t>
            </a:r>
            <a:r>
              <a:rPr lang="en-US" dirty="0" err="1"/>
              <a:t>AutoML</a:t>
            </a:r>
            <a:r>
              <a:rPr lang="en-US" dirty="0"/>
              <a:t>-driven predictive analysis system, showcasing an uploaded dataset preview with structured columns for preprocessing.</a:t>
            </a:r>
          </a:p>
        </p:txBody>
      </p:sp>
    </p:spTree>
    <p:extLst>
      <p:ext uri="{BB962C8B-B14F-4D97-AF65-F5344CB8AC3E}">
        <p14:creationId xmlns:p14="http://schemas.microsoft.com/office/powerpoint/2010/main" val="1156307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0C880-E78D-4A19-F12B-3F99DF1D8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86512F-D2E6-AC9E-5E4D-A86E3DA79849}"/>
              </a:ext>
            </a:extLst>
          </p:cNvPr>
          <p:cNvSpPr>
            <a:spLocks noGrp="1"/>
          </p:cNvSpPr>
          <p:nvPr>
            <p:ph type="title"/>
          </p:nvPr>
        </p:nvSpPr>
        <p:spPr/>
        <p:txBody>
          <a:bodyPr/>
          <a:lstStyle/>
          <a:p>
            <a:r>
              <a:rPr lang="en-IN" dirty="0">
                <a:solidFill>
                  <a:schemeClr val="tx1"/>
                </a:solidFill>
              </a:rPr>
              <a:t>IMPLEMENTATIONS AND OUTPUTS</a:t>
            </a:r>
          </a:p>
        </p:txBody>
      </p:sp>
      <p:sp>
        <p:nvSpPr>
          <p:cNvPr id="4" name="Slide Number Placeholder 3">
            <a:extLst>
              <a:ext uri="{FF2B5EF4-FFF2-40B4-BE49-F238E27FC236}">
                <a16:creationId xmlns:a16="http://schemas.microsoft.com/office/drawing/2014/main" id="{88D190D9-AFFE-224D-114D-BA39D3516D9C}"/>
              </a:ext>
            </a:extLst>
          </p:cNvPr>
          <p:cNvSpPr>
            <a:spLocks noGrp="1"/>
          </p:cNvSpPr>
          <p:nvPr>
            <p:ph type="sldNum" sz="quarter" idx="12"/>
          </p:nvPr>
        </p:nvSpPr>
        <p:spPr/>
        <p:txBody>
          <a:bodyPr/>
          <a:lstStyle/>
          <a:p>
            <a:fld id="{6113E31D-E2AB-40D1-8B51-AFA5AFEF393A}" type="slidenum">
              <a:rPr lang="en-US" smtClean="0"/>
              <a:t>29</a:t>
            </a:fld>
            <a:endParaRPr lang="en-US" dirty="0"/>
          </a:p>
        </p:txBody>
      </p:sp>
      <p:sp>
        <p:nvSpPr>
          <p:cNvPr id="8" name="TextBox 7">
            <a:extLst>
              <a:ext uri="{FF2B5EF4-FFF2-40B4-BE49-F238E27FC236}">
                <a16:creationId xmlns:a16="http://schemas.microsoft.com/office/drawing/2014/main" id="{CDF05883-B643-E2A5-22FC-610979E86064}"/>
              </a:ext>
            </a:extLst>
          </p:cNvPr>
          <p:cNvSpPr txBox="1"/>
          <p:nvPr/>
        </p:nvSpPr>
        <p:spPr>
          <a:xfrm>
            <a:off x="1457498" y="5733054"/>
            <a:ext cx="8912167" cy="646331"/>
          </a:xfrm>
          <a:prstGeom prst="rect">
            <a:avLst/>
          </a:prstGeom>
          <a:noFill/>
        </p:spPr>
        <p:txBody>
          <a:bodyPr wrap="square" rtlCol="0">
            <a:spAutoFit/>
          </a:bodyPr>
          <a:lstStyle/>
          <a:p>
            <a:pPr algn="ctr"/>
            <a:r>
              <a:rPr lang="en-US" dirty="0"/>
              <a:t>An automated exploratory data analysis (EDA) report, summarizing dataset statistics, variable types, memory usage, and missing values.</a:t>
            </a:r>
          </a:p>
        </p:txBody>
      </p:sp>
      <p:pic>
        <p:nvPicPr>
          <p:cNvPr id="6" name="Picture 5">
            <a:extLst>
              <a:ext uri="{FF2B5EF4-FFF2-40B4-BE49-F238E27FC236}">
                <a16:creationId xmlns:a16="http://schemas.microsoft.com/office/drawing/2014/main" id="{32BD3967-A0B0-BCBD-450D-619FCF52B2FA}"/>
              </a:ext>
            </a:extLst>
          </p:cNvPr>
          <p:cNvPicPr>
            <a:picLocks noChangeAspect="1"/>
          </p:cNvPicPr>
          <p:nvPr/>
        </p:nvPicPr>
        <p:blipFill>
          <a:blip r:embed="rId3"/>
          <a:stretch>
            <a:fillRect/>
          </a:stretch>
        </p:blipFill>
        <p:spPr>
          <a:xfrm>
            <a:off x="1097280" y="1773705"/>
            <a:ext cx="10169236" cy="3878950"/>
          </a:xfrm>
          <a:prstGeom prst="rect">
            <a:avLst/>
          </a:prstGeom>
          <a:ln>
            <a:solidFill>
              <a:schemeClr val="tx1"/>
            </a:solidFill>
          </a:ln>
        </p:spPr>
      </p:pic>
    </p:spTree>
    <p:extLst>
      <p:ext uri="{BB962C8B-B14F-4D97-AF65-F5344CB8AC3E}">
        <p14:creationId xmlns:p14="http://schemas.microsoft.com/office/powerpoint/2010/main" val="25028757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BA8AF-14E7-C9AC-3CC2-E975F289FF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A7EBE8-EC89-E588-F524-4BBFB2B13B1C}"/>
              </a:ext>
            </a:extLst>
          </p:cNvPr>
          <p:cNvSpPr>
            <a:spLocks noGrp="1"/>
          </p:cNvSpPr>
          <p:nvPr>
            <p:ph type="title"/>
          </p:nvPr>
        </p:nvSpPr>
        <p:spPr/>
        <p:txBody>
          <a:bodyPr/>
          <a:lstStyle/>
          <a:p>
            <a:r>
              <a:rPr lang="en-IN" dirty="0">
                <a:solidFill>
                  <a:schemeClr val="tx1"/>
                </a:solidFill>
              </a:rPr>
              <a:t>IMPLEMENTATIONS AND OUTPUTS</a:t>
            </a:r>
          </a:p>
        </p:txBody>
      </p:sp>
      <p:sp>
        <p:nvSpPr>
          <p:cNvPr id="4" name="Slide Number Placeholder 3">
            <a:extLst>
              <a:ext uri="{FF2B5EF4-FFF2-40B4-BE49-F238E27FC236}">
                <a16:creationId xmlns:a16="http://schemas.microsoft.com/office/drawing/2014/main" id="{A1838C2A-D463-CEDF-4B69-2558B7748D56}"/>
              </a:ext>
            </a:extLst>
          </p:cNvPr>
          <p:cNvSpPr>
            <a:spLocks noGrp="1"/>
          </p:cNvSpPr>
          <p:nvPr>
            <p:ph type="sldNum" sz="quarter" idx="12"/>
          </p:nvPr>
        </p:nvSpPr>
        <p:spPr/>
        <p:txBody>
          <a:bodyPr/>
          <a:lstStyle/>
          <a:p>
            <a:fld id="{6113E31D-E2AB-40D1-8B51-AFA5AFEF393A}" type="slidenum">
              <a:rPr lang="en-US" smtClean="0"/>
              <a:t>30</a:t>
            </a:fld>
            <a:endParaRPr lang="en-US" dirty="0"/>
          </a:p>
        </p:txBody>
      </p:sp>
      <p:pic>
        <p:nvPicPr>
          <p:cNvPr id="7" name="Picture 6">
            <a:extLst>
              <a:ext uri="{FF2B5EF4-FFF2-40B4-BE49-F238E27FC236}">
                <a16:creationId xmlns:a16="http://schemas.microsoft.com/office/drawing/2014/main" id="{83E3DADC-D343-C9A4-70C2-88E4BF33C386}"/>
              </a:ext>
            </a:extLst>
          </p:cNvPr>
          <p:cNvPicPr>
            <a:picLocks noChangeAspect="1"/>
          </p:cNvPicPr>
          <p:nvPr/>
        </p:nvPicPr>
        <p:blipFill>
          <a:blip r:embed="rId3"/>
          <a:stretch>
            <a:fillRect/>
          </a:stretch>
        </p:blipFill>
        <p:spPr>
          <a:xfrm>
            <a:off x="895927" y="1822430"/>
            <a:ext cx="6243782" cy="4026094"/>
          </a:xfrm>
          <a:prstGeom prst="rect">
            <a:avLst/>
          </a:prstGeom>
          <a:ln>
            <a:noFill/>
          </a:ln>
        </p:spPr>
      </p:pic>
      <p:sp>
        <p:nvSpPr>
          <p:cNvPr id="8" name="TextBox 7">
            <a:extLst>
              <a:ext uri="{FF2B5EF4-FFF2-40B4-BE49-F238E27FC236}">
                <a16:creationId xmlns:a16="http://schemas.microsoft.com/office/drawing/2014/main" id="{C7497A83-AF49-15A2-63B5-4FED7D4ABEA9}"/>
              </a:ext>
            </a:extLst>
          </p:cNvPr>
          <p:cNvSpPr txBox="1"/>
          <p:nvPr/>
        </p:nvSpPr>
        <p:spPr>
          <a:xfrm>
            <a:off x="2508135" y="5848524"/>
            <a:ext cx="8912167" cy="400110"/>
          </a:xfrm>
          <a:prstGeom prst="rect">
            <a:avLst/>
          </a:prstGeom>
          <a:noFill/>
        </p:spPr>
        <p:txBody>
          <a:bodyPr wrap="square" rtlCol="0">
            <a:spAutoFit/>
          </a:bodyPr>
          <a:lstStyle/>
          <a:p>
            <a:r>
              <a:rPr lang="en-IN" sz="2000" dirty="0"/>
              <a:t>Report generated by the Exploratory Data Analysis for the upload dataset</a:t>
            </a:r>
          </a:p>
        </p:txBody>
      </p:sp>
      <p:grpSp>
        <p:nvGrpSpPr>
          <p:cNvPr id="6" name="Group 5">
            <a:extLst>
              <a:ext uri="{FF2B5EF4-FFF2-40B4-BE49-F238E27FC236}">
                <a16:creationId xmlns:a16="http://schemas.microsoft.com/office/drawing/2014/main" id="{506B0C97-C40E-05E5-DC3F-5784DD045CE4}"/>
              </a:ext>
            </a:extLst>
          </p:cNvPr>
          <p:cNvGrpSpPr/>
          <p:nvPr/>
        </p:nvGrpSpPr>
        <p:grpSpPr>
          <a:xfrm>
            <a:off x="7277556" y="2113104"/>
            <a:ext cx="4355183" cy="3359675"/>
            <a:chOff x="7065119" y="2311555"/>
            <a:chExt cx="4355183" cy="3359675"/>
          </a:xfrm>
        </p:grpSpPr>
        <p:pic>
          <p:nvPicPr>
            <p:cNvPr id="3" name="Picture 2">
              <a:extLst>
                <a:ext uri="{FF2B5EF4-FFF2-40B4-BE49-F238E27FC236}">
                  <a16:creationId xmlns:a16="http://schemas.microsoft.com/office/drawing/2014/main" id="{68A030CD-1770-FF05-8CE9-DBC932BACDC7}"/>
                </a:ext>
              </a:extLst>
            </p:cNvPr>
            <p:cNvPicPr>
              <a:picLocks noChangeAspect="1"/>
            </p:cNvPicPr>
            <p:nvPr/>
          </p:nvPicPr>
          <p:blipFill>
            <a:blip r:embed="rId4"/>
            <a:srcRect r="78776" b="73502"/>
            <a:stretch/>
          </p:blipFill>
          <p:spPr>
            <a:xfrm>
              <a:off x="7065119" y="2311555"/>
              <a:ext cx="1542758" cy="925287"/>
            </a:xfrm>
            <a:prstGeom prst="rect">
              <a:avLst/>
            </a:prstGeom>
            <a:ln>
              <a:noFill/>
            </a:ln>
          </p:spPr>
        </p:pic>
        <p:pic>
          <p:nvPicPr>
            <p:cNvPr id="5" name="Picture 4">
              <a:extLst>
                <a:ext uri="{FF2B5EF4-FFF2-40B4-BE49-F238E27FC236}">
                  <a16:creationId xmlns:a16="http://schemas.microsoft.com/office/drawing/2014/main" id="{77D42B7E-B7E1-E552-8F89-B5B1F46352E3}"/>
                </a:ext>
              </a:extLst>
            </p:cNvPr>
            <p:cNvPicPr>
              <a:picLocks noChangeAspect="1"/>
            </p:cNvPicPr>
            <p:nvPr/>
          </p:nvPicPr>
          <p:blipFill>
            <a:blip r:embed="rId4"/>
            <a:srcRect l="35619" t="36305" r="4466" b="1744"/>
            <a:stretch/>
          </p:blipFill>
          <p:spPr>
            <a:xfrm>
              <a:off x="7065119" y="3236842"/>
              <a:ext cx="4355183" cy="2434388"/>
            </a:xfrm>
            <a:prstGeom prst="rect">
              <a:avLst/>
            </a:prstGeom>
            <a:ln>
              <a:noFill/>
            </a:ln>
          </p:spPr>
        </p:pic>
      </p:grpSp>
    </p:spTree>
    <p:extLst>
      <p:ext uri="{BB962C8B-B14F-4D97-AF65-F5344CB8AC3E}">
        <p14:creationId xmlns:p14="http://schemas.microsoft.com/office/powerpoint/2010/main" val="22016241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2697E-BE9E-F28F-604D-6955DD6904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55EB1-216C-D7AD-9C59-12A5313329E7}"/>
              </a:ext>
            </a:extLst>
          </p:cNvPr>
          <p:cNvSpPr>
            <a:spLocks noGrp="1"/>
          </p:cNvSpPr>
          <p:nvPr>
            <p:ph type="title"/>
          </p:nvPr>
        </p:nvSpPr>
        <p:spPr/>
        <p:txBody>
          <a:bodyPr/>
          <a:lstStyle/>
          <a:p>
            <a:r>
              <a:rPr lang="en-IN" dirty="0">
                <a:solidFill>
                  <a:schemeClr val="tx1"/>
                </a:solidFill>
              </a:rPr>
              <a:t>IMPLEMENTATIONS AND OUTPUTS</a:t>
            </a:r>
          </a:p>
        </p:txBody>
      </p:sp>
      <p:sp>
        <p:nvSpPr>
          <p:cNvPr id="4" name="Slide Number Placeholder 3">
            <a:extLst>
              <a:ext uri="{FF2B5EF4-FFF2-40B4-BE49-F238E27FC236}">
                <a16:creationId xmlns:a16="http://schemas.microsoft.com/office/drawing/2014/main" id="{86A71474-B657-1DE1-597E-1DE799F95886}"/>
              </a:ext>
            </a:extLst>
          </p:cNvPr>
          <p:cNvSpPr>
            <a:spLocks noGrp="1"/>
          </p:cNvSpPr>
          <p:nvPr>
            <p:ph type="sldNum" sz="quarter" idx="12"/>
          </p:nvPr>
        </p:nvSpPr>
        <p:spPr/>
        <p:txBody>
          <a:bodyPr/>
          <a:lstStyle/>
          <a:p>
            <a:fld id="{6113E31D-E2AB-40D1-8B51-AFA5AFEF393A}" type="slidenum">
              <a:rPr lang="en-US" smtClean="0"/>
              <a:t>31</a:t>
            </a:fld>
            <a:endParaRPr lang="en-US" dirty="0"/>
          </a:p>
        </p:txBody>
      </p:sp>
      <p:sp>
        <p:nvSpPr>
          <p:cNvPr id="3" name="TextBox 2">
            <a:extLst>
              <a:ext uri="{FF2B5EF4-FFF2-40B4-BE49-F238E27FC236}">
                <a16:creationId xmlns:a16="http://schemas.microsoft.com/office/drawing/2014/main" id="{3C0987A0-BC3F-F941-DFAD-D7ABC3F9B45D}"/>
              </a:ext>
            </a:extLst>
          </p:cNvPr>
          <p:cNvSpPr txBox="1"/>
          <p:nvPr/>
        </p:nvSpPr>
        <p:spPr>
          <a:xfrm>
            <a:off x="7250545" y="2932176"/>
            <a:ext cx="3491346" cy="1754326"/>
          </a:xfrm>
          <a:prstGeom prst="rect">
            <a:avLst/>
          </a:prstGeom>
          <a:noFill/>
        </p:spPr>
        <p:txBody>
          <a:bodyPr wrap="square" rtlCol="0">
            <a:spAutoFit/>
          </a:bodyPr>
          <a:lstStyle/>
          <a:p>
            <a:pPr algn="just"/>
            <a:r>
              <a:rPr lang="en-US" dirty="0"/>
              <a:t>A correlation heatmap visualizing relationships between key variables such as category, price, quantity, payment method, and total sales, highlighting the strength and direction of dependencies.</a:t>
            </a:r>
          </a:p>
        </p:txBody>
      </p:sp>
      <p:grpSp>
        <p:nvGrpSpPr>
          <p:cNvPr id="6" name="Group 5">
            <a:extLst>
              <a:ext uri="{FF2B5EF4-FFF2-40B4-BE49-F238E27FC236}">
                <a16:creationId xmlns:a16="http://schemas.microsoft.com/office/drawing/2014/main" id="{E86EDCAD-711B-A11D-1629-915682898F91}"/>
              </a:ext>
            </a:extLst>
          </p:cNvPr>
          <p:cNvGrpSpPr/>
          <p:nvPr/>
        </p:nvGrpSpPr>
        <p:grpSpPr>
          <a:xfrm>
            <a:off x="1325881" y="1762972"/>
            <a:ext cx="5032894" cy="4599590"/>
            <a:chOff x="1325881" y="1762972"/>
            <a:chExt cx="5032894" cy="4599590"/>
          </a:xfrm>
        </p:grpSpPr>
        <p:pic>
          <p:nvPicPr>
            <p:cNvPr id="8" name="Picture 7">
              <a:extLst>
                <a:ext uri="{FF2B5EF4-FFF2-40B4-BE49-F238E27FC236}">
                  <a16:creationId xmlns:a16="http://schemas.microsoft.com/office/drawing/2014/main" id="{F712491B-B2A6-6918-EE70-6A123ADC3232}"/>
                </a:ext>
              </a:extLst>
            </p:cNvPr>
            <p:cNvPicPr>
              <a:picLocks noChangeAspect="1"/>
            </p:cNvPicPr>
            <p:nvPr/>
          </p:nvPicPr>
          <p:blipFill>
            <a:blip r:embed="rId2"/>
            <a:srcRect r="78360" b="72118"/>
            <a:stretch/>
          </p:blipFill>
          <p:spPr>
            <a:xfrm>
              <a:off x="1325881" y="1762972"/>
              <a:ext cx="1656201" cy="959658"/>
            </a:xfrm>
            <a:prstGeom prst="rect">
              <a:avLst/>
            </a:prstGeom>
            <a:ln>
              <a:noFill/>
            </a:ln>
          </p:spPr>
        </p:pic>
        <p:pic>
          <p:nvPicPr>
            <p:cNvPr id="5" name="Picture 4">
              <a:extLst>
                <a:ext uri="{FF2B5EF4-FFF2-40B4-BE49-F238E27FC236}">
                  <a16:creationId xmlns:a16="http://schemas.microsoft.com/office/drawing/2014/main" id="{656F3D04-3987-565C-D636-C48F5F1336D8}"/>
                </a:ext>
              </a:extLst>
            </p:cNvPr>
            <p:cNvPicPr>
              <a:picLocks noChangeAspect="1"/>
            </p:cNvPicPr>
            <p:nvPr/>
          </p:nvPicPr>
          <p:blipFill>
            <a:blip r:embed="rId2"/>
            <a:srcRect l="40833" t="33249" r="8154" b="1403"/>
            <a:stretch/>
          </p:blipFill>
          <p:spPr>
            <a:xfrm>
              <a:off x="1325881" y="2784394"/>
              <a:ext cx="5032894" cy="3578168"/>
            </a:xfrm>
            <a:prstGeom prst="rect">
              <a:avLst/>
            </a:prstGeom>
            <a:ln>
              <a:noFill/>
            </a:ln>
          </p:spPr>
        </p:pic>
      </p:grpSp>
    </p:spTree>
    <p:extLst>
      <p:ext uri="{BB962C8B-B14F-4D97-AF65-F5344CB8AC3E}">
        <p14:creationId xmlns:p14="http://schemas.microsoft.com/office/powerpoint/2010/main" val="389697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AA50A-28A8-570D-F97B-C646984C8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481D8-623B-07E9-E19B-020B8CCCC225}"/>
              </a:ext>
            </a:extLst>
          </p:cNvPr>
          <p:cNvSpPr>
            <a:spLocks noGrp="1"/>
          </p:cNvSpPr>
          <p:nvPr>
            <p:ph type="title"/>
          </p:nvPr>
        </p:nvSpPr>
        <p:spPr>
          <a:xfrm>
            <a:off x="1154083" y="263527"/>
            <a:ext cx="10058400" cy="1450757"/>
          </a:xfrm>
        </p:spPr>
        <p:txBody>
          <a:bodyPr/>
          <a:lstStyle/>
          <a:p>
            <a:r>
              <a:rPr lang="en-IN" dirty="0">
                <a:solidFill>
                  <a:schemeClr val="tx1"/>
                </a:solidFill>
              </a:rPr>
              <a:t>PROJECT MODULES AND DESCRIPTION</a:t>
            </a:r>
          </a:p>
        </p:txBody>
      </p:sp>
      <p:sp>
        <p:nvSpPr>
          <p:cNvPr id="3" name="Content Placeholder 2">
            <a:extLst>
              <a:ext uri="{FF2B5EF4-FFF2-40B4-BE49-F238E27FC236}">
                <a16:creationId xmlns:a16="http://schemas.microsoft.com/office/drawing/2014/main" id="{F526A8BD-2862-95CE-BD90-0824B34C5585}"/>
              </a:ext>
            </a:extLst>
          </p:cNvPr>
          <p:cNvSpPr>
            <a:spLocks noGrp="1"/>
          </p:cNvSpPr>
          <p:nvPr>
            <p:ph idx="1"/>
          </p:nvPr>
        </p:nvSpPr>
        <p:spPr>
          <a:xfrm>
            <a:off x="1097279" y="1845734"/>
            <a:ext cx="10411229" cy="4444230"/>
          </a:xfrm>
        </p:spPr>
        <p:txBody>
          <a:bodyPr>
            <a:noAutofit/>
          </a:bodyPr>
          <a:lstStyle/>
          <a:p>
            <a:pPr>
              <a:lnSpc>
                <a:spcPct val="150000"/>
              </a:lnSpc>
            </a:pPr>
            <a:r>
              <a:rPr lang="en-US" sz="1800" b="1" dirty="0">
                <a:solidFill>
                  <a:schemeClr val="tx1"/>
                </a:solidFill>
              </a:rPr>
              <a:t>B. Model Training and Selection</a:t>
            </a:r>
          </a:p>
          <a:p>
            <a:pPr>
              <a:lnSpc>
                <a:spcPct val="150000"/>
              </a:lnSpc>
            </a:pPr>
            <a:r>
              <a:rPr lang="en-US" sz="1800" dirty="0">
                <a:solidFill>
                  <a:schemeClr val="tx1"/>
                </a:solidFill>
              </a:rPr>
              <a:t> </a:t>
            </a:r>
            <a:r>
              <a:rPr lang="en-US" sz="1800" b="1" dirty="0">
                <a:solidFill>
                  <a:schemeClr val="tx1"/>
                </a:solidFill>
              </a:rPr>
              <a:t>Input: </a:t>
            </a:r>
            <a:r>
              <a:rPr lang="en-US" sz="1800" dirty="0">
                <a:solidFill>
                  <a:schemeClr val="tx1"/>
                </a:solidFill>
              </a:rPr>
              <a:t>Processed dataset from EDA stage (numeric, labeled data) and user-selected target variable.</a:t>
            </a:r>
          </a:p>
          <a:p>
            <a:pPr>
              <a:lnSpc>
                <a:spcPct val="150000"/>
              </a:lnSpc>
            </a:pPr>
            <a:r>
              <a:rPr lang="en-US" sz="1800" dirty="0">
                <a:solidFill>
                  <a:schemeClr val="tx1"/>
                </a:solidFill>
              </a:rPr>
              <a:t> </a:t>
            </a:r>
            <a:r>
              <a:rPr lang="en-US" sz="1800" b="1" dirty="0">
                <a:solidFill>
                  <a:schemeClr val="tx1"/>
                </a:solidFill>
              </a:rPr>
              <a:t>Processing:</a:t>
            </a:r>
          </a:p>
          <a:p>
            <a:pPr>
              <a:lnSpc>
                <a:spcPct val="150000"/>
              </a:lnSpc>
              <a:spcBef>
                <a:spcPts val="600"/>
              </a:spcBef>
              <a:buFont typeface="Arial" panose="020B0604020202020204" pitchFamily="34" charset="0"/>
              <a:buChar char="•"/>
            </a:pPr>
            <a:r>
              <a:rPr lang="en-US" sz="1800" dirty="0">
                <a:solidFill>
                  <a:schemeClr val="tx1"/>
                </a:solidFill>
              </a:rPr>
              <a:t> Label encoding is applied to categorical columns to convert them into numeric format.</a:t>
            </a:r>
          </a:p>
          <a:p>
            <a:pPr>
              <a:lnSpc>
                <a:spcPct val="150000"/>
              </a:lnSpc>
              <a:spcBef>
                <a:spcPts val="600"/>
              </a:spcBef>
              <a:buFont typeface="Arial" panose="020B0604020202020204" pitchFamily="34" charset="0"/>
              <a:buChar char="•"/>
            </a:pPr>
            <a:r>
              <a:rPr lang="en-US" sz="1800" dirty="0">
                <a:solidFill>
                  <a:schemeClr val="tx1"/>
                </a:solidFill>
              </a:rPr>
              <a:t> Mode imputation is used to handle missing values in scalar fields.</a:t>
            </a:r>
          </a:p>
          <a:p>
            <a:pPr>
              <a:lnSpc>
                <a:spcPct val="150000"/>
              </a:lnSpc>
              <a:spcBef>
                <a:spcPts val="600"/>
              </a:spcBef>
              <a:buFont typeface="Arial" panose="020B0604020202020204" pitchFamily="34" charset="0"/>
              <a:buChar char="•"/>
            </a:pPr>
            <a:r>
              <a:rPr lang="en-US" sz="1800" dirty="0">
                <a:solidFill>
                  <a:schemeClr val="tx1"/>
                </a:solidFill>
              </a:rPr>
              <a:t> </a:t>
            </a:r>
            <a:r>
              <a:rPr lang="en-US" sz="1800" dirty="0" err="1">
                <a:solidFill>
                  <a:schemeClr val="tx1"/>
                </a:solidFill>
              </a:rPr>
              <a:t>PyCaret</a:t>
            </a:r>
            <a:r>
              <a:rPr lang="en-US" sz="1800" dirty="0">
                <a:solidFill>
                  <a:schemeClr val="tx1"/>
                </a:solidFill>
              </a:rPr>
              <a:t> setup is initialized and Models (e.g., </a:t>
            </a:r>
            <a:r>
              <a:rPr lang="en-US" sz="1800" dirty="0" err="1">
                <a:solidFill>
                  <a:schemeClr val="tx1"/>
                </a:solidFill>
              </a:rPr>
              <a:t>RandomForest</a:t>
            </a:r>
            <a:r>
              <a:rPr lang="en-US" sz="1800" dirty="0">
                <a:solidFill>
                  <a:schemeClr val="tx1"/>
                </a:solidFill>
              </a:rPr>
              <a:t>, </a:t>
            </a:r>
            <a:r>
              <a:rPr lang="en-US" sz="1800" dirty="0" err="1">
                <a:solidFill>
                  <a:schemeClr val="tx1"/>
                </a:solidFill>
              </a:rPr>
              <a:t>LightGBM</a:t>
            </a:r>
            <a:r>
              <a:rPr lang="en-US" sz="1800" dirty="0">
                <a:solidFill>
                  <a:schemeClr val="tx1"/>
                </a:solidFill>
              </a:rPr>
              <a:t>) are trained, and the best-performing one is selected based on evaluation metrics.</a:t>
            </a:r>
          </a:p>
          <a:p>
            <a:pPr>
              <a:lnSpc>
                <a:spcPct val="150000"/>
              </a:lnSpc>
              <a:spcBef>
                <a:spcPts val="600"/>
              </a:spcBef>
              <a:buFont typeface="Arial" panose="020B0604020202020204" pitchFamily="34" charset="0"/>
              <a:buChar char="•"/>
            </a:pPr>
            <a:r>
              <a:rPr lang="en-IN" sz="1800" dirty="0">
                <a:solidFill>
                  <a:schemeClr val="tx1"/>
                </a:solidFill>
              </a:rPr>
              <a:t> Optimize models with </a:t>
            </a:r>
            <a:r>
              <a:rPr lang="en-IN" sz="1800" dirty="0" err="1">
                <a:solidFill>
                  <a:schemeClr val="tx1"/>
                </a:solidFill>
              </a:rPr>
              <a:t>GridSearchCV</a:t>
            </a:r>
            <a:r>
              <a:rPr lang="en-IN" sz="1800" dirty="0">
                <a:solidFill>
                  <a:schemeClr val="tx1"/>
                </a:solidFill>
              </a:rPr>
              <a:t> for hyperparameter tuning.</a:t>
            </a:r>
          </a:p>
          <a:p>
            <a:pPr>
              <a:lnSpc>
                <a:spcPct val="150000"/>
              </a:lnSpc>
            </a:pPr>
            <a:endParaRPr lang="en-US" dirty="0">
              <a:solidFill>
                <a:schemeClr val="tx1"/>
              </a:solidFill>
            </a:endParaRPr>
          </a:p>
          <a:p>
            <a:pPr>
              <a:lnSpc>
                <a:spcPct val="150000"/>
              </a:lnSpc>
            </a:pPr>
            <a:endParaRPr lang="en-IN" dirty="0">
              <a:solidFill>
                <a:schemeClr val="tx1"/>
              </a:solidFill>
            </a:endParaRPr>
          </a:p>
        </p:txBody>
      </p:sp>
      <p:sp>
        <p:nvSpPr>
          <p:cNvPr id="4" name="Slide Number Placeholder 3">
            <a:extLst>
              <a:ext uri="{FF2B5EF4-FFF2-40B4-BE49-F238E27FC236}">
                <a16:creationId xmlns:a16="http://schemas.microsoft.com/office/drawing/2014/main" id="{C4504E5C-5002-0747-F44D-E073B866744F}"/>
              </a:ext>
            </a:extLst>
          </p:cNvPr>
          <p:cNvSpPr>
            <a:spLocks noGrp="1"/>
          </p:cNvSpPr>
          <p:nvPr>
            <p:ph type="sldNum" sz="quarter" idx="12"/>
          </p:nvPr>
        </p:nvSpPr>
        <p:spPr/>
        <p:txBody>
          <a:bodyPr/>
          <a:lstStyle/>
          <a:p>
            <a:fld id="{6113E31D-E2AB-40D1-8B51-AFA5AFEF393A}" type="slidenum">
              <a:rPr lang="en-US" smtClean="0"/>
              <a:t>32</a:t>
            </a:fld>
            <a:endParaRPr lang="en-US" dirty="0"/>
          </a:p>
        </p:txBody>
      </p:sp>
    </p:spTree>
    <p:extLst>
      <p:ext uri="{BB962C8B-B14F-4D97-AF65-F5344CB8AC3E}">
        <p14:creationId xmlns:p14="http://schemas.microsoft.com/office/powerpoint/2010/main" val="2918808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66D01-7335-883D-04CF-732854197D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E19E3-7ACE-37E3-2197-2DBF6E3833E9}"/>
              </a:ext>
            </a:extLst>
          </p:cNvPr>
          <p:cNvSpPr>
            <a:spLocks noGrp="1"/>
          </p:cNvSpPr>
          <p:nvPr>
            <p:ph type="title"/>
          </p:nvPr>
        </p:nvSpPr>
        <p:spPr/>
        <p:txBody>
          <a:bodyPr/>
          <a:lstStyle/>
          <a:p>
            <a:r>
              <a:rPr lang="en-IN" dirty="0">
                <a:solidFill>
                  <a:schemeClr val="tx1"/>
                </a:solidFill>
              </a:rPr>
              <a:t>PROJECT MODULES AND DESCRIPTION</a:t>
            </a:r>
          </a:p>
        </p:txBody>
      </p:sp>
      <p:sp>
        <p:nvSpPr>
          <p:cNvPr id="4" name="Slide Number Placeholder 3">
            <a:extLst>
              <a:ext uri="{FF2B5EF4-FFF2-40B4-BE49-F238E27FC236}">
                <a16:creationId xmlns:a16="http://schemas.microsoft.com/office/drawing/2014/main" id="{90C500A6-272C-F3DC-9325-8489EBC814EF}"/>
              </a:ext>
            </a:extLst>
          </p:cNvPr>
          <p:cNvSpPr>
            <a:spLocks noGrp="1"/>
          </p:cNvSpPr>
          <p:nvPr>
            <p:ph type="sldNum" sz="quarter" idx="12"/>
          </p:nvPr>
        </p:nvSpPr>
        <p:spPr/>
        <p:txBody>
          <a:bodyPr/>
          <a:lstStyle/>
          <a:p>
            <a:fld id="{6113E31D-E2AB-40D1-8B51-AFA5AFEF393A}" type="slidenum">
              <a:rPr lang="en-US" smtClean="0"/>
              <a:t>33</a:t>
            </a:fld>
            <a:endParaRPr lang="en-US" dirty="0"/>
          </a:p>
        </p:txBody>
      </p:sp>
      <p:sp>
        <p:nvSpPr>
          <p:cNvPr id="6" name="TextBox 5">
            <a:extLst>
              <a:ext uri="{FF2B5EF4-FFF2-40B4-BE49-F238E27FC236}">
                <a16:creationId xmlns:a16="http://schemas.microsoft.com/office/drawing/2014/main" id="{3F7679A6-8D6F-44BD-D8C8-36D8BEBEC543}"/>
              </a:ext>
            </a:extLst>
          </p:cNvPr>
          <p:cNvSpPr txBox="1"/>
          <p:nvPr/>
        </p:nvSpPr>
        <p:spPr>
          <a:xfrm>
            <a:off x="1191491" y="1870517"/>
            <a:ext cx="9962110" cy="646331"/>
          </a:xfrm>
          <a:prstGeom prst="rect">
            <a:avLst/>
          </a:prstGeom>
          <a:noFill/>
        </p:spPr>
        <p:txBody>
          <a:bodyPr wrap="square">
            <a:spAutoFit/>
          </a:bodyPr>
          <a:lstStyle/>
          <a:p>
            <a:r>
              <a:rPr lang="en-US" b="1" dirty="0">
                <a:solidFill>
                  <a:schemeClr val="tx1"/>
                </a:solidFill>
              </a:rPr>
              <a:t>Outcome: </a:t>
            </a:r>
            <a:r>
              <a:rPr lang="en-US" dirty="0">
                <a:solidFill>
                  <a:schemeClr val="tx1"/>
                </a:solidFill>
              </a:rPr>
              <a:t>Trained best models and performance metric report summarizing model evaluation results (Accuracy, AUC, F1-score, etc.).</a:t>
            </a:r>
            <a:endParaRPr lang="en-IN" dirty="0"/>
          </a:p>
        </p:txBody>
      </p:sp>
      <p:pic>
        <p:nvPicPr>
          <p:cNvPr id="7" name="Picture 6">
            <a:extLst>
              <a:ext uri="{FF2B5EF4-FFF2-40B4-BE49-F238E27FC236}">
                <a16:creationId xmlns:a16="http://schemas.microsoft.com/office/drawing/2014/main" id="{6193C0FD-96CD-9E1B-3967-CD473833F025}"/>
              </a:ext>
            </a:extLst>
          </p:cNvPr>
          <p:cNvPicPr>
            <a:picLocks noChangeAspect="1"/>
          </p:cNvPicPr>
          <p:nvPr/>
        </p:nvPicPr>
        <p:blipFill>
          <a:blip r:embed="rId2"/>
          <a:stretch>
            <a:fillRect/>
          </a:stretch>
        </p:blipFill>
        <p:spPr>
          <a:xfrm>
            <a:off x="1009534" y="2578403"/>
            <a:ext cx="10233891" cy="3748226"/>
          </a:xfrm>
          <a:prstGeom prst="rect">
            <a:avLst/>
          </a:prstGeom>
        </p:spPr>
      </p:pic>
    </p:spTree>
    <p:extLst>
      <p:ext uri="{BB962C8B-B14F-4D97-AF65-F5344CB8AC3E}">
        <p14:creationId xmlns:p14="http://schemas.microsoft.com/office/powerpoint/2010/main" val="350748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98776-1F6D-E2F9-B609-F11A008C6A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8CCF03-C01B-B274-4076-89AB7A38BBB9}"/>
              </a:ext>
            </a:extLst>
          </p:cNvPr>
          <p:cNvSpPr>
            <a:spLocks noGrp="1"/>
          </p:cNvSpPr>
          <p:nvPr>
            <p:ph type="title"/>
          </p:nvPr>
        </p:nvSpPr>
        <p:spPr/>
        <p:txBody>
          <a:bodyPr/>
          <a:lstStyle/>
          <a:p>
            <a:r>
              <a:rPr lang="en-IN" dirty="0">
                <a:solidFill>
                  <a:schemeClr val="tx1"/>
                </a:solidFill>
              </a:rPr>
              <a:t>WORKING PSEUDOCODE</a:t>
            </a:r>
          </a:p>
        </p:txBody>
      </p:sp>
      <p:sp>
        <p:nvSpPr>
          <p:cNvPr id="4" name="Slide Number Placeholder 3">
            <a:extLst>
              <a:ext uri="{FF2B5EF4-FFF2-40B4-BE49-F238E27FC236}">
                <a16:creationId xmlns:a16="http://schemas.microsoft.com/office/drawing/2014/main" id="{04892997-93D2-0BCB-D0AF-94F0A330BD96}"/>
              </a:ext>
            </a:extLst>
          </p:cNvPr>
          <p:cNvSpPr>
            <a:spLocks noGrp="1"/>
          </p:cNvSpPr>
          <p:nvPr>
            <p:ph type="sldNum" sz="quarter" idx="12"/>
          </p:nvPr>
        </p:nvSpPr>
        <p:spPr/>
        <p:txBody>
          <a:bodyPr/>
          <a:lstStyle/>
          <a:p>
            <a:fld id="{6113E31D-E2AB-40D1-8B51-AFA5AFEF393A}" type="slidenum">
              <a:rPr lang="en-US" smtClean="0"/>
              <a:t>34</a:t>
            </a:fld>
            <a:endParaRPr lang="en-US" dirty="0"/>
          </a:p>
        </p:txBody>
      </p:sp>
      <p:pic>
        <p:nvPicPr>
          <p:cNvPr id="8" name="Picture 7">
            <a:extLst>
              <a:ext uri="{FF2B5EF4-FFF2-40B4-BE49-F238E27FC236}">
                <a16:creationId xmlns:a16="http://schemas.microsoft.com/office/drawing/2014/main" id="{349B1050-6850-CC68-2825-264AB298431C}"/>
              </a:ext>
            </a:extLst>
          </p:cNvPr>
          <p:cNvPicPr>
            <a:picLocks noChangeAspect="1"/>
          </p:cNvPicPr>
          <p:nvPr/>
        </p:nvPicPr>
        <p:blipFill>
          <a:blip r:embed="rId2"/>
          <a:srcRect l="-236" t="242" r="236" b="541"/>
          <a:stretch/>
        </p:blipFill>
        <p:spPr>
          <a:xfrm>
            <a:off x="3362484" y="1853674"/>
            <a:ext cx="4663915" cy="4489797"/>
          </a:xfrm>
          <a:prstGeom prst="rect">
            <a:avLst/>
          </a:prstGeom>
        </p:spPr>
      </p:pic>
    </p:spTree>
    <p:extLst>
      <p:ext uri="{BB962C8B-B14F-4D97-AF65-F5344CB8AC3E}">
        <p14:creationId xmlns:p14="http://schemas.microsoft.com/office/powerpoint/2010/main" val="39517882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3EB77-C51E-2FA1-2A77-90C3AA47D1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929B1B-F338-BC61-557F-2FD37055E72B}"/>
              </a:ext>
            </a:extLst>
          </p:cNvPr>
          <p:cNvSpPr>
            <a:spLocks noGrp="1"/>
          </p:cNvSpPr>
          <p:nvPr>
            <p:ph type="title"/>
          </p:nvPr>
        </p:nvSpPr>
        <p:spPr/>
        <p:txBody>
          <a:bodyPr/>
          <a:lstStyle/>
          <a:p>
            <a:r>
              <a:rPr lang="en-IN" dirty="0">
                <a:solidFill>
                  <a:schemeClr val="tx1"/>
                </a:solidFill>
              </a:rPr>
              <a:t>IMPLEMENTATIONS AND OUTPUTS</a:t>
            </a:r>
          </a:p>
        </p:txBody>
      </p:sp>
      <p:sp>
        <p:nvSpPr>
          <p:cNvPr id="4" name="Slide Number Placeholder 3">
            <a:extLst>
              <a:ext uri="{FF2B5EF4-FFF2-40B4-BE49-F238E27FC236}">
                <a16:creationId xmlns:a16="http://schemas.microsoft.com/office/drawing/2014/main" id="{BD1BACD1-6F59-2000-254C-53BC4C94B7D2}"/>
              </a:ext>
            </a:extLst>
          </p:cNvPr>
          <p:cNvSpPr>
            <a:spLocks noGrp="1"/>
          </p:cNvSpPr>
          <p:nvPr>
            <p:ph type="sldNum" sz="quarter" idx="12"/>
          </p:nvPr>
        </p:nvSpPr>
        <p:spPr/>
        <p:txBody>
          <a:bodyPr/>
          <a:lstStyle/>
          <a:p>
            <a:fld id="{6113E31D-E2AB-40D1-8B51-AFA5AFEF393A}" type="slidenum">
              <a:rPr lang="en-US" smtClean="0"/>
              <a:t>35</a:t>
            </a:fld>
            <a:endParaRPr lang="en-US" dirty="0"/>
          </a:p>
        </p:txBody>
      </p:sp>
      <p:sp>
        <p:nvSpPr>
          <p:cNvPr id="8" name="TextBox 7">
            <a:extLst>
              <a:ext uri="{FF2B5EF4-FFF2-40B4-BE49-F238E27FC236}">
                <a16:creationId xmlns:a16="http://schemas.microsoft.com/office/drawing/2014/main" id="{21EAC299-79D3-A7E9-0D75-2573BCDA8D3A}"/>
              </a:ext>
            </a:extLst>
          </p:cNvPr>
          <p:cNvSpPr txBox="1"/>
          <p:nvPr/>
        </p:nvSpPr>
        <p:spPr>
          <a:xfrm>
            <a:off x="461818" y="5772727"/>
            <a:ext cx="10813935" cy="646331"/>
          </a:xfrm>
          <a:prstGeom prst="rect">
            <a:avLst/>
          </a:prstGeom>
          <a:noFill/>
        </p:spPr>
        <p:txBody>
          <a:bodyPr wrap="square" rtlCol="0">
            <a:spAutoFit/>
          </a:bodyPr>
          <a:lstStyle/>
          <a:p>
            <a:pPr algn="ctr"/>
            <a:r>
              <a:rPr lang="en-US" dirty="0"/>
              <a:t>Training results of multiple machine learning models, including Logistic Regression, Random Forest, K-Nearest Neighbors, SVM, </a:t>
            </a:r>
            <a:r>
              <a:rPr lang="en-US" dirty="0" err="1"/>
              <a:t>XGBoost</a:t>
            </a:r>
            <a:r>
              <a:rPr lang="en-US" dirty="0"/>
              <a:t>, </a:t>
            </a:r>
            <a:r>
              <a:rPr lang="en-US" dirty="0" err="1"/>
              <a:t>CatBoost</a:t>
            </a:r>
            <a:r>
              <a:rPr lang="en-US" dirty="0"/>
              <a:t>, and Naive Bayes, all achieving perfect accuracy, F1-Score, and AUC.</a:t>
            </a:r>
          </a:p>
        </p:txBody>
      </p:sp>
      <p:pic>
        <p:nvPicPr>
          <p:cNvPr id="5" name="Picture 4">
            <a:extLst>
              <a:ext uri="{FF2B5EF4-FFF2-40B4-BE49-F238E27FC236}">
                <a16:creationId xmlns:a16="http://schemas.microsoft.com/office/drawing/2014/main" id="{F990580E-FEEF-96C9-A1C6-60B89FA77A2B}"/>
              </a:ext>
            </a:extLst>
          </p:cNvPr>
          <p:cNvPicPr>
            <a:picLocks noChangeAspect="1"/>
          </p:cNvPicPr>
          <p:nvPr/>
        </p:nvPicPr>
        <p:blipFill>
          <a:blip r:embed="rId2"/>
          <a:stretch>
            <a:fillRect/>
          </a:stretch>
        </p:blipFill>
        <p:spPr>
          <a:xfrm>
            <a:off x="543098" y="1889298"/>
            <a:ext cx="5432829" cy="3731491"/>
          </a:xfrm>
          <a:prstGeom prst="rect">
            <a:avLst/>
          </a:prstGeom>
        </p:spPr>
      </p:pic>
      <p:pic>
        <p:nvPicPr>
          <p:cNvPr id="9" name="Picture 8">
            <a:extLst>
              <a:ext uri="{FF2B5EF4-FFF2-40B4-BE49-F238E27FC236}">
                <a16:creationId xmlns:a16="http://schemas.microsoft.com/office/drawing/2014/main" id="{4EEAC1A9-F771-B466-406D-FC03B7C0B044}"/>
              </a:ext>
            </a:extLst>
          </p:cNvPr>
          <p:cNvPicPr>
            <a:picLocks noChangeAspect="1"/>
          </p:cNvPicPr>
          <p:nvPr/>
        </p:nvPicPr>
        <p:blipFill>
          <a:blip r:embed="rId3"/>
          <a:stretch>
            <a:fillRect/>
          </a:stretch>
        </p:blipFill>
        <p:spPr>
          <a:xfrm>
            <a:off x="5975927" y="2024308"/>
            <a:ext cx="5966691" cy="3568353"/>
          </a:xfrm>
          <a:prstGeom prst="rect">
            <a:avLst/>
          </a:prstGeom>
        </p:spPr>
      </p:pic>
    </p:spTree>
    <p:extLst>
      <p:ext uri="{BB962C8B-B14F-4D97-AF65-F5344CB8AC3E}">
        <p14:creationId xmlns:p14="http://schemas.microsoft.com/office/powerpoint/2010/main" val="4084234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8E8AD-3913-7CE1-2DE5-7EB68AEC8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0DD375-59CF-8705-A0E3-4FCB068E8ECD}"/>
              </a:ext>
            </a:extLst>
          </p:cNvPr>
          <p:cNvSpPr>
            <a:spLocks noGrp="1"/>
          </p:cNvSpPr>
          <p:nvPr>
            <p:ph type="title"/>
          </p:nvPr>
        </p:nvSpPr>
        <p:spPr/>
        <p:txBody>
          <a:bodyPr/>
          <a:lstStyle/>
          <a:p>
            <a:r>
              <a:rPr lang="en-IN" dirty="0">
                <a:solidFill>
                  <a:schemeClr val="tx1"/>
                </a:solidFill>
              </a:rPr>
              <a:t>IMPLEMENTATIONS AND OUTPUTS</a:t>
            </a:r>
          </a:p>
        </p:txBody>
      </p:sp>
      <p:sp>
        <p:nvSpPr>
          <p:cNvPr id="4" name="Slide Number Placeholder 3">
            <a:extLst>
              <a:ext uri="{FF2B5EF4-FFF2-40B4-BE49-F238E27FC236}">
                <a16:creationId xmlns:a16="http://schemas.microsoft.com/office/drawing/2014/main" id="{827779C5-B322-7106-AB6B-CEE0C77E1577}"/>
              </a:ext>
            </a:extLst>
          </p:cNvPr>
          <p:cNvSpPr>
            <a:spLocks noGrp="1"/>
          </p:cNvSpPr>
          <p:nvPr>
            <p:ph type="sldNum" sz="quarter" idx="12"/>
          </p:nvPr>
        </p:nvSpPr>
        <p:spPr/>
        <p:txBody>
          <a:bodyPr/>
          <a:lstStyle/>
          <a:p>
            <a:fld id="{6113E31D-E2AB-40D1-8B51-AFA5AFEF393A}" type="slidenum">
              <a:rPr lang="en-US" smtClean="0"/>
              <a:t>36</a:t>
            </a:fld>
            <a:endParaRPr lang="en-US" dirty="0"/>
          </a:p>
        </p:txBody>
      </p:sp>
      <p:sp>
        <p:nvSpPr>
          <p:cNvPr id="6" name="TextBox 5">
            <a:extLst>
              <a:ext uri="{FF2B5EF4-FFF2-40B4-BE49-F238E27FC236}">
                <a16:creationId xmlns:a16="http://schemas.microsoft.com/office/drawing/2014/main" id="{65EA261B-0612-34F2-35A1-48E1F9519191}"/>
              </a:ext>
            </a:extLst>
          </p:cNvPr>
          <p:cNvSpPr txBox="1"/>
          <p:nvPr/>
        </p:nvSpPr>
        <p:spPr>
          <a:xfrm>
            <a:off x="7400026" y="2983345"/>
            <a:ext cx="4006735" cy="1477328"/>
          </a:xfrm>
          <a:prstGeom prst="rect">
            <a:avLst/>
          </a:prstGeom>
          <a:noFill/>
        </p:spPr>
        <p:txBody>
          <a:bodyPr wrap="square" rtlCol="0">
            <a:spAutoFit/>
          </a:bodyPr>
          <a:lstStyle/>
          <a:p>
            <a:pPr algn="just"/>
            <a:r>
              <a:rPr lang="en-US" dirty="0"/>
              <a:t>Performance evaluation of various machine learning models, showcasing accuracy, F1-score, and AUC values, with Logistic Regression emerging as the best model.</a:t>
            </a:r>
          </a:p>
        </p:txBody>
      </p:sp>
      <p:pic>
        <p:nvPicPr>
          <p:cNvPr id="7" name="Picture 6">
            <a:extLst>
              <a:ext uri="{FF2B5EF4-FFF2-40B4-BE49-F238E27FC236}">
                <a16:creationId xmlns:a16="http://schemas.microsoft.com/office/drawing/2014/main" id="{D021A5FB-EA20-B022-E30E-A7FF175E0337}"/>
              </a:ext>
            </a:extLst>
          </p:cNvPr>
          <p:cNvPicPr>
            <a:picLocks noChangeAspect="1"/>
          </p:cNvPicPr>
          <p:nvPr/>
        </p:nvPicPr>
        <p:blipFill>
          <a:blip r:embed="rId2"/>
          <a:stretch>
            <a:fillRect/>
          </a:stretch>
        </p:blipFill>
        <p:spPr>
          <a:xfrm>
            <a:off x="1165779" y="1907249"/>
            <a:ext cx="6144029" cy="3985551"/>
          </a:xfrm>
          <a:prstGeom prst="rect">
            <a:avLst/>
          </a:prstGeom>
        </p:spPr>
      </p:pic>
    </p:spTree>
    <p:extLst>
      <p:ext uri="{BB962C8B-B14F-4D97-AF65-F5344CB8AC3E}">
        <p14:creationId xmlns:p14="http://schemas.microsoft.com/office/powerpoint/2010/main" val="8323820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0F268-47D4-A6F8-2A5D-D7A0946B0E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E6C9E5-8F73-0207-14E9-94823298BFC6}"/>
              </a:ext>
            </a:extLst>
          </p:cNvPr>
          <p:cNvSpPr>
            <a:spLocks noGrp="1"/>
          </p:cNvSpPr>
          <p:nvPr>
            <p:ph type="title"/>
          </p:nvPr>
        </p:nvSpPr>
        <p:spPr/>
        <p:txBody>
          <a:bodyPr/>
          <a:lstStyle/>
          <a:p>
            <a:r>
              <a:rPr lang="en-IN" dirty="0">
                <a:solidFill>
                  <a:schemeClr val="tx1"/>
                </a:solidFill>
              </a:rPr>
              <a:t>PROJECT MODULES AND DESCRIPTION</a:t>
            </a:r>
          </a:p>
        </p:txBody>
      </p:sp>
      <p:sp>
        <p:nvSpPr>
          <p:cNvPr id="3" name="Content Placeholder 2">
            <a:extLst>
              <a:ext uri="{FF2B5EF4-FFF2-40B4-BE49-F238E27FC236}">
                <a16:creationId xmlns:a16="http://schemas.microsoft.com/office/drawing/2014/main" id="{6C11EE60-CD4A-5F92-4E67-69DC54FEB696}"/>
              </a:ext>
            </a:extLst>
          </p:cNvPr>
          <p:cNvSpPr>
            <a:spLocks noGrp="1"/>
          </p:cNvSpPr>
          <p:nvPr>
            <p:ph idx="1"/>
          </p:nvPr>
        </p:nvSpPr>
        <p:spPr>
          <a:xfrm>
            <a:off x="1154083" y="1596353"/>
            <a:ext cx="10058400" cy="4257886"/>
          </a:xfrm>
        </p:spPr>
        <p:txBody>
          <a:bodyPr>
            <a:noAutofit/>
          </a:bodyPr>
          <a:lstStyle/>
          <a:p>
            <a:pPr>
              <a:lnSpc>
                <a:spcPct val="150000"/>
              </a:lnSpc>
            </a:pPr>
            <a:r>
              <a:rPr lang="en-US" sz="1800" b="1" dirty="0">
                <a:solidFill>
                  <a:schemeClr val="tx1"/>
                </a:solidFill>
              </a:rPr>
              <a:t>C. Model comparison and Tuning</a:t>
            </a:r>
          </a:p>
          <a:p>
            <a:pPr>
              <a:lnSpc>
                <a:spcPct val="100000"/>
              </a:lnSpc>
            </a:pPr>
            <a:r>
              <a:rPr lang="en-US" sz="1800" dirty="0">
                <a:solidFill>
                  <a:schemeClr val="tx1"/>
                </a:solidFill>
              </a:rPr>
              <a:t> </a:t>
            </a:r>
            <a:r>
              <a:rPr lang="en-US" sz="1800" b="1" dirty="0">
                <a:solidFill>
                  <a:schemeClr val="tx1"/>
                </a:solidFill>
              </a:rPr>
              <a:t>Input: </a:t>
            </a:r>
            <a:r>
              <a:rPr lang="en-US" sz="1800" dirty="0">
                <a:solidFill>
                  <a:schemeClr val="tx1"/>
                </a:solidFill>
              </a:rPr>
              <a:t>Trained best model and metrics report.</a:t>
            </a:r>
          </a:p>
          <a:p>
            <a:pPr>
              <a:lnSpc>
                <a:spcPct val="100000"/>
              </a:lnSpc>
            </a:pPr>
            <a:r>
              <a:rPr lang="en-US" sz="1800" b="1" dirty="0">
                <a:solidFill>
                  <a:schemeClr val="tx1"/>
                </a:solidFill>
              </a:rPr>
              <a:t> Processing:</a:t>
            </a:r>
          </a:p>
          <a:p>
            <a:pPr algn="just">
              <a:lnSpc>
                <a:spcPct val="100000"/>
              </a:lnSpc>
              <a:buFont typeface="Arial" panose="020B0604020202020204" pitchFamily="34" charset="0"/>
              <a:buChar char="•"/>
            </a:pPr>
            <a:r>
              <a:rPr lang="en-US" sz="1800" dirty="0">
                <a:solidFill>
                  <a:schemeClr val="tx1"/>
                </a:solidFill>
              </a:rPr>
              <a:t> Train multiple models and evaluate their performance using cross-validation and predefined metrics.</a:t>
            </a:r>
          </a:p>
          <a:p>
            <a:pPr algn="just">
              <a:lnSpc>
                <a:spcPct val="100000"/>
              </a:lnSpc>
              <a:buFont typeface="Arial" panose="020B0604020202020204" pitchFamily="34" charset="0"/>
              <a:buChar char="•"/>
            </a:pPr>
            <a:r>
              <a:rPr lang="en-US" sz="1800" dirty="0">
                <a:solidFill>
                  <a:schemeClr val="tx1"/>
                </a:solidFill>
              </a:rPr>
              <a:t> Apply </a:t>
            </a:r>
            <a:r>
              <a:rPr lang="en-US" sz="1800" dirty="0" err="1">
                <a:solidFill>
                  <a:schemeClr val="tx1"/>
                </a:solidFill>
              </a:rPr>
              <a:t>GridSearchCV</a:t>
            </a:r>
            <a:r>
              <a:rPr lang="en-US" sz="1800" dirty="0">
                <a:solidFill>
                  <a:schemeClr val="tx1"/>
                </a:solidFill>
              </a:rPr>
              <a:t> to fine-tune hyperparameters for better efficiency.</a:t>
            </a:r>
          </a:p>
          <a:p>
            <a:pPr algn="just">
              <a:lnSpc>
                <a:spcPct val="100000"/>
              </a:lnSpc>
              <a:buFont typeface="Arial" panose="020B0604020202020204" pitchFamily="34" charset="0"/>
              <a:buChar char="•"/>
            </a:pPr>
            <a:r>
              <a:rPr lang="en-US" sz="1800" dirty="0">
                <a:solidFill>
                  <a:schemeClr val="tx1"/>
                </a:solidFill>
              </a:rPr>
              <a:t> Rank models using </a:t>
            </a:r>
            <a:r>
              <a:rPr lang="en-US" sz="1800" dirty="0" err="1">
                <a:solidFill>
                  <a:schemeClr val="tx1"/>
                </a:solidFill>
              </a:rPr>
              <a:t>LightGBM</a:t>
            </a:r>
            <a:r>
              <a:rPr lang="en-US" sz="1800" dirty="0">
                <a:solidFill>
                  <a:schemeClr val="tx1"/>
                </a:solidFill>
              </a:rPr>
              <a:t> as a meta-learner, comparing them based on validation accuracy and overall scores.</a:t>
            </a:r>
          </a:p>
          <a:p>
            <a:pPr algn="just">
              <a:lnSpc>
                <a:spcPct val="100000"/>
              </a:lnSpc>
              <a:buFont typeface="Arial" panose="020B0604020202020204" pitchFamily="34" charset="0"/>
              <a:buChar char="•"/>
            </a:pPr>
            <a:r>
              <a:rPr lang="en-US" sz="1800" dirty="0">
                <a:solidFill>
                  <a:schemeClr val="tx1"/>
                </a:solidFill>
              </a:rPr>
              <a:t> Select the best model, retrain it on the full dataset with optimized hyperparameters, and prepare it for deployment.</a:t>
            </a:r>
          </a:p>
          <a:p>
            <a:pPr>
              <a:lnSpc>
                <a:spcPct val="100000"/>
              </a:lnSpc>
              <a:buNone/>
            </a:pPr>
            <a:r>
              <a:rPr lang="en-US" sz="1800" b="1" dirty="0">
                <a:solidFill>
                  <a:schemeClr val="tx1"/>
                </a:solidFill>
              </a:rPr>
              <a:t>  Output: </a:t>
            </a:r>
            <a:r>
              <a:rPr lang="en-US" sz="1800" dirty="0">
                <a:solidFill>
                  <a:schemeClr val="tx1"/>
                </a:solidFill>
              </a:rPr>
              <a:t>Best Model Selection based on comparative evaluation and  Performance Metric Report detailing  accuracy, precision, recall, and other validation metrics.</a:t>
            </a:r>
          </a:p>
        </p:txBody>
      </p:sp>
      <p:sp>
        <p:nvSpPr>
          <p:cNvPr id="4" name="Slide Number Placeholder 3">
            <a:extLst>
              <a:ext uri="{FF2B5EF4-FFF2-40B4-BE49-F238E27FC236}">
                <a16:creationId xmlns:a16="http://schemas.microsoft.com/office/drawing/2014/main" id="{8B9BE9E9-9FB9-F354-3DA7-B0425BF0878D}"/>
              </a:ext>
            </a:extLst>
          </p:cNvPr>
          <p:cNvSpPr>
            <a:spLocks noGrp="1"/>
          </p:cNvSpPr>
          <p:nvPr>
            <p:ph type="sldNum" sz="quarter" idx="12"/>
          </p:nvPr>
        </p:nvSpPr>
        <p:spPr/>
        <p:txBody>
          <a:bodyPr/>
          <a:lstStyle/>
          <a:p>
            <a:fld id="{6113E31D-E2AB-40D1-8B51-AFA5AFEF393A}" type="slidenum">
              <a:rPr lang="en-US" smtClean="0"/>
              <a:t>37</a:t>
            </a:fld>
            <a:endParaRPr lang="en-US" dirty="0"/>
          </a:p>
        </p:txBody>
      </p:sp>
    </p:spTree>
    <p:extLst>
      <p:ext uri="{BB962C8B-B14F-4D97-AF65-F5344CB8AC3E}">
        <p14:creationId xmlns:p14="http://schemas.microsoft.com/office/powerpoint/2010/main" val="13306993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7072F-D548-3994-DAAE-C94077D94A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13E53-AA97-14B2-AA44-D2C9CD916804}"/>
              </a:ext>
            </a:extLst>
          </p:cNvPr>
          <p:cNvSpPr>
            <a:spLocks noGrp="1"/>
          </p:cNvSpPr>
          <p:nvPr>
            <p:ph type="title"/>
          </p:nvPr>
        </p:nvSpPr>
        <p:spPr/>
        <p:txBody>
          <a:bodyPr/>
          <a:lstStyle/>
          <a:p>
            <a:r>
              <a:rPr lang="en-IN" dirty="0">
                <a:solidFill>
                  <a:schemeClr val="tx1"/>
                </a:solidFill>
              </a:rPr>
              <a:t>PROJECT MODULES AND DESCRIPTION</a:t>
            </a:r>
          </a:p>
        </p:txBody>
      </p:sp>
      <p:sp>
        <p:nvSpPr>
          <p:cNvPr id="4" name="Slide Number Placeholder 3">
            <a:extLst>
              <a:ext uri="{FF2B5EF4-FFF2-40B4-BE49-F238E27FC236}">
                <a16:creationId xmlns:a16="http://schemas.microsoft.com/office/drawing/2014/main" id="{18756F50-CEF3-4E70-E516-BAA01D3FD72C}"/>
              </a:ext>
            </a:extLst>
          </p:cNvPr>
          <p:cNvSpPr>
            <a:spLocks noGrp="1"/>
          </p:cNvSpPr>
          <p:nvPr>
            <p:ph type="sldNum" sz="quarter" idx="12"/>
          </p:nvPr>
        </p:nvSpPr>
        <p:spPr/>
        <p:txBody>
          <a:bodyPr/>
          <a:lstStyle/>
          <a:p>
            <a:fld id="{6113E31D-E2AB-40D1-8B51-AFA5AFEF393A}" type="slidenum">
              <a:rPr lang="en-US" smtClean="0"/>
              <a:t>38</a:t>
            </a:fld>
            <a:endParaRPr lang="en-US" dirty="0"/>
          </a:p>
        </p:txBody>
      </p:sp>
      <p:pic>
        <p:nvPicPr>
          <p:cNvPr id="5" name="Picture 4">
            <a:extLst>
              <a:ext uri="{FF2B5EF4-FFF2-40B4-BE49-F238E27FC236}">
                <a16:creationId xmlns:a16="http://schemas.microsoft.com/office/drawing/2014/main" id="{662637AE-F36B-CEEE-8EE2-C4EDABFBE2EA}"/>
              </a:ext>
            </a:extLst>
          </p:cNvPr>
          <p:cNvPicPr>
            <a:picLocks noChangeAspect="1"/>
          </p:cNvPicPr>
          <p:nvPr/>
        </p:nvPicPr>
        <p:blipFill>
          <a:blip r:embed="rId2"/>
          <a:srcRect l="26287" t="34344" r="24773" b="33737"/>
          <a:stretch/>
        </p:blipFill>
        <p:spPr>
          <a:xfrm>
            <a:off x="2613890" y="2484581"/>
            <a:ext cx="6787804" cy="2189019"/>
          </a:xfrm>
          <a:prstGeom prst="rect">
            <a:avLst/>
          </a:prstGeom>
        </p:spPr>
      </p:pic>
      <p:sp>
        <p:nvSpPr>
          <p:cNvPr id="6" name="TextBox 5">
            <a:extLst>
              <a:ext uri="{FF2B5EF4-FFF2-40B4-BE49-F238E27FC236}">
                <a16:creationId xmlns:a16="http://schemas.microsoft.com/office/drawing/2014/main" id="{CFCFDCF6-F1E7-6B50-E2B4-CB368DA2B843}"/>
              </a:ext>
            </a:extLst>
          </p:cNvPr>
          <p:cNvSpPr txBox="1"/>
          <p:nvPr/>
        </p:nvSpPr>
        <p:spPr>
          <a:xfrm>
            <a:off x="1422400" y="5051489"/>
            <a:ext cx="9347200" cy="369332"/>
          </a:xfrm>
          <a:prstGeom prst="rect">
            <a:avLst/>
          </a:prstGeom>
          <a:noFill/>
        </p:spPr>
        <p:txBody>
          <a:bodyPr wrap="square" rtlCol="0">
            <a:spAutoFit/>
          </a:bodyPr>
          <a:lstStyle/>
          <a:p>
            <a:pPr algn="ctr"/>
            <a:r>
              <a:rPr lang="en-IN" dirty="0"/>
              <a:t>Workflow of Module Comparison and tuning Module</a:t>
            </a:r>
          </a:p>
        </p:txBody>
      </p:sp>
    </p:spTree>
    <p:extLst>
      <p:ext uri="{BB962C8B-B14F-4D97-AF65-F5344CB8AC3E}">
        <p14:creationId xmlns:p14="http://schemas.microsoft.com/office/powerpoint/2010/main" val="42698182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11575-4D46-5CCE-E4EE-873B2C0B53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16A2CF-F726-0E11-921E-0051682C694C}"/>
              </a:ext>
            </a:extLst>
          </p:cNvPr>
          <p:cNvSpPr>
            <a:spLocks noGrp="1"/>
          </p:cNvSpPr>
          <p:nvPr>
            <p:ph type="title"/>
          </p:nvPr>
        </p:nvSpPr>
        <p:spPr>
          <a:xfrm>
            <a:off x="1097280" y="286603"/>
            <a:ext cx="10475884" cy="1450757"/>
          </a:xfrm>
        </p:spPr>
        <p:txBody>
          <a:bodyPr>
            <a:normAutofit/>
          </a:bodyPr>
          <a:lstStyle/>
          <a:p>
            <a:r>
              <a:rPr lang="en-IN" dirty="0">
                <a:solidFill>
                  <a:schemeClr val="tx1"/>
                </a:solidFill>
              </a:rPr>
              <a:t>WORKING PSEUDOCODE</a:t>
            </a:r>
          </a:p>
        </p:txBody>
      </p:sp>
      <p:sp>
        <p:nvSpPr>
          <p:cNvPr id="4" name="Slide Number Placeholder 3">
            <a:extLst>
              <a:ext uri="{FF2B5EF4-FFF2-40B4-BE49-F238E27FC236}">
                <a16:creationId xmlns:a16="http://schemas.microsoft.com/office/drawing/2014/main" id="{212F3AC0-A71B-45B7-137A-DD5502EA0B3B}"/>
              </a:ext>
            </a:extLst>
          </p:cNvPr>
          <p:cNvSpPr>
            <a:spLocks noGrp="1"/>
          </p:cNvSpPr>
          <p:nvPr>
            <p:ph type="sldNum" sz="quarter" idx="12"/>
          </p:nvPr>
        </p:nvSpPr>
        <p:spPr/>
        <p:txBody>
          <a:bodyPr/>
          <a:lstStyle/>
          <a:p>
            <a:fld id="{6113E31D-E2AB-40D1-8B51-AFA5AFEF393A}" type="slidenum">
              <a:rPr lang="en-US" smtClean="0"/>
              <a:t>39</a:t>
            </a:fld>
            <a:endParaRPr lang="en-US" dirty="0"/>
          </a:p>
        </p:txBody>
      </p:sp>
      <p:pic>
        <p:nvPicPr>
          <p:cNvPr id="6" name="Picture 5">
            <a:extLst>
              <a:ext uri="{FF2B5EF4-FFF2-40B4-BE49-F238E27FC236}">
                <a16:creationId xmlns:a16="http://schemas.microsoft.com/office/drawing/2014/main" id="{1F4E7C87-8898-92C3-76D9-91800452B364}"/>
              </a:ext>
            </a:extLst>
          </p:cNvPr>
          <p:cNvPicPr>
            <a:picLocks noChangeAspect="1"/>
          </p:cNvPicPr>
          <p:nvPr/>
        </p:nvPicPr>
        <p:blipFill>
          <a:blip r:embed="rId2"/>
          <a:stretch>
            <a:fillRect/>
          </a:stretch>
        </p:blipFill>
        <p:spPr>
          <a:xfrm>
            <a:off x="4068218" y="1919572"/>
            <a:ext cx="3667637" cy="4201111"/>
          </a:xfrm>
          <a:prstGeom prst="rect">
            <a:avLst/>
          </a:prstGeom>
        </p:spPr>
      </p:pic>
    </p:spTree>
    <p:extLst>
      <p:ext uri="{BB962C8B-B14F-4D97-AF65-F5344CB8AC3E}">
        <p14:creationId xmlns:p14="http://schemas.microsoft.com/office/powerpoint/2010/main" val="29882830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60FA-11BE-6F56-770F-AA1EAFDADC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905BDD-854F-88F4-82F1-6C40699E38D6}"/>
              </a:ext>
            </a:extLst>
          </p:cNvPr>
          <p:cNvSpPr>
            <a:spLocks noGrp="1"/>
          </p:cNvSpPr>
          <p:nvPr>
            <p:ph type="title"/>
          </p:nvPr>
        </p:nvSpPr>
        <p:spPr/>
        <p:txBody>
          <a:bodyPr/>
          <a:lstStyle/>
          <a:p>
            <a:r>
              <a:rPr lang="en-IN" dirty="0">
                <a:solidFill>
                  <a:schemeClr val="tx1"/>
                </a:solidFill>
              </a:rPr>
              <a:t>IMPLEMENTATIONS AND OUTPUTS</a:t>
            </a:r>
          </a:p>
        </p:txBody>
      </p:sp>
      <p:sp>
        <p:nvSpPr>
          <p:cNvPr id="4" name="Slide Number Placeholder 3">
            <a:extLst>
              <a:ext uri="{FF2B5EF4-FFF2-40B4-BE49-F238E27FC236}">
                <a16:creationId xmlns:a16="http://schemas.microsoft.com/office/drawing/2014/main" id="{6A5DD291-BAE6-BB4B-63C6-DCB4A50F3DAD}"/>
              </a:ext>
            </a:extLst>
          </p:cNvPr>
          <p:cNvSpPr>
            <a:spLocks noGrp="1"/>
          </p:cNvSpPr>
          <p:nvPr>
            <p:ph type="sldNum" sz="quarter" idx="12"/>
          </p:nvPr>
        </p:nvSpPr>
        <p:spPr/>
        <p:txBody>
          <a:bodyPr/>
          <a:lstStyle/>
          <a:p>
            <a:fld id="{6113E31D-E2AB-40D1-8B51-AFA5AFEF393A}" type="slidenum">
              <a:rPr lang="en-US" smtClean="0"/>
              <a:t>40</a:t>
            </a:fld>
            <a:endParaRPr lang="en-US" dirty="0"/>
          </a:p>
        </p:txBody>
      </p:sp>
      <p:pic>
        <p:nvPicPr>
          <p:cNvPr id="5" name="Picture 4">
            <a:extLst>
              <a:ext uri="{FF2B5EF4-FFF2-40B4-BE49-F238E27FC236}">
                <a16:creationId xmlns:a16="http://schemas.microsoft.com/office/drawing/2014/main" id="{E0307793-CC93-9BCC-C6DC-579373864D7F}"/>
              </a:ext>
            </a:extLst>
          </p:cNvPr>
          <p:cNvPicPr>
            <a:picLocks noChangeAspect="1"/>
          </p:cNvPicPr>
          <p:nvPr/>
        </p:nvPicPr>
        <p:blipFill>
          <a:blip r:embed="rId2"/>
          <a:stretch>
            <a:fillRect/>
          </a:stretch>
        </p:blipFill>
        <p:spPr>
          <a:xfrm>
            <a:off x="2332966" y="2308892"/>
            <a:ext cx="7587028" cy="2063723"/>
          </a:xfrm>
          <a:prstGeom prst="rect">
            <a:avLst/>
          </a:prstGeom>
        </p:spPr>
      </p:pic>
      <p:sp>
        <p:nvSpPr>
          <p:cNvPr id="8" name="TextBox 7">
            <a:extLst>
              <a:ext uri="{FF2B5EF4-FFF2-40B4-BE49-F238E27FC236}">
                <a16:creationId xmlns:a16="http://schemas.microsoft.com/office/drawing/2014/main" id="{5AF16157-0F70-71F8-454C-552A8A82108F}"/>
              </a:ext>
            </a:extLst>
          </p:cNvPr>
          <p:cNvSpPr txBox="1"/>
          <p:nvPr/>
        </p:nvSpPr>
        <p:spPr>
          <a:xfrm>
            <a:off x="2091967" y="4558345"/>
            <a:ext cx="8309172" cy="923330"/>
          </a:xfrm>
          <a:prstGeom prst="rect">
            <a:avLst/>
          </a:prstGeom>
          <a:noFill/>
        </p:spPr>
        <p:txBody>
          <a:bodyPr wrap="square">
            <a:spAutoFit/>
          </a:bodyPr>
          <a:lstStyle/>
          <a:p>
            <a:pPr algn="ctr"/>
            <a:r>
              <a:rPr lang="en-US" dirty="0"/>
              <a:t>A performance comparison of multiple machine learning models, displaying key metrics such as accuracy, precision, recall, F1-score, MCC, Kappa, AUC, training time, and model scores, aiding in optimal model selection.</a:t>
            </a:r>
          </a:p>
        </p:txBody>
      </p:sp>
    </p:spTree>
    <p:extLst>
      <p:ext uri="{BB962C8B-B14F-4D97-AF65-F5344CB8AC3E}">
        <p14:creationId xmlns:p14="http://schemas.microsoft.com/office/powerpoint/2010/main" val="32940263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BB1C1-E175-B8C3-E241-CCF5008941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75B8D-1309-E279-013D-BC921361B1B9}"/>
              </a:ext>
            </a:extLst>
          </p:cNvPr>
          <p:cNvSpPr>
            <a:spLocks noGrp="1"/>
          </p:cNvSpPr>
          <p:nvPr>
            <p:ph type="title"/>
          </p:nvPr>
        </p:nvSpPr>
        <p:spPr/>
        <p:txBody>
          <a:bodyPr/>
          <a:lstStyle/>
          <a:p>
            <a:r>
              <a:rPr lang="en-IN" dirty="0">
                <a:solidFill>
                  <a:schemeClr val="tx1"/>
                </a:solidFill>
              </a:rPr>
              <a:t>IMPLEMENTATIONS AND OUTPUTS</a:t>
            </a:r>
          </a:p>
        </p:txBody>
      </p:sp>
      <p:sp>
        <p:nvSpPr>
          <p:cNvPr id="4" name="Slide Number Placeholder 3">
            <a:extLst>
              <a:ext uri="{FF2B5EF4-FFF2-40B4-BE49-F238E27FC236}">
                <a16:creationId xmlns:a16="http://schemas.microsoft.com/office/drawing/2014/main" id="{4BF2C8DA-E316-130A-929A-262528607DD9}"/>
              </a:ext>
            </a:extLst>
          </p:cNvPr>
          <p:cNvSpPr>
            <a:spLocks noGrp="1"/>
          </p:cNvSpPr>
          <p:nvPr>
            <p:ph type="sldNum" sz="quarter" idx="12"/>
          </p:nvPr>
        </p:nvSpPr>
        <p:spPr/>
        <p:txBody>
          <a:bodyPr/>
          <a:lstStyle/>
          <a:p>
            <a:fld id="{6113E31D-E2AB-40D1-8B51-AFA5AFEF393A}" type="slidenum">
              <a:rPr lang="en-US" smtClean="0"/>
              <a:t>41</a:t>
            </a:fld>
            <a:endParaRPr lang="en-US" dirty="0"/>
          </a:p>
        </p:txBody>
      </p:sp>
      <p:pic>
        <p:nvPicPr>
          <p:cNvPr id="6" name="Picture 5">
            <a:extLst>
              <a:ext uri="{FF2B5EF4-FFF2-40B4-BE49-F238E27FC236}">
                <a16:creationId xmlns:a16="http://schemas.microsoft.com/office/drawing/2014/main" id="{1ED4AB74-6128-9CD4-4C07-FC07732D23AF}"/>
              </a:ext>
            </a:extLst>
          </p:cNvPr>
          <p:cNvPicPr>
            <a:picLocks noChangeAspect="1"/>
          </p:cNvPicPr>
          <p:nvPr/>
        </p:nvPicPr>
        <p:blipFill>
          <a:blip r:embed="rId2"/>
          <a:stretch>
            <a:fillRect/>
          </a:stretch>
        </p:blipFill>
        <p:spPr>
          <a:xfrm>
            <a:off x="6532737" y="2765942"/>
            <a:ext cx="5068007" cy="1810003"/>
          </a:xfrm>
          <a:prstGeom prst="rect">
            <a:avLst/>
          </a:prstGeom>
        </p:spPr>
      </p:pic>
      <p:pic>
        <p:nvPicPr>
          <p:cNvPr id="8" name="Picture 7">
            <a:extLst>
              <a:ext uri="{FF2B5EF4-FFF2-40B4-BE49-F238E27FC236}">
                <a16:creationId xmlns:a16="http://schemas.microsoft.com/office/drawing/2014/main" id="{9CF26932-90CB-70F8-C6C7-CC363159B6D4}"/>
              </a:ext>
            </a:extLst>
          </p:cNvPr>
          <p:cNvPicPr>
            <a:picLocks noChangeAspect="1"/>
          </p:cNvPicPr>
          <p:nvPr/>
        </p:nvPicPr>
        <p:blipFill>
          <a:blip r:embed="rId3"/>
          <a:stretch>
            <a:fillRect/>
          </a:stretch>
        </p:blipFill>
        <p:spPr>
          <a:xfrm>
            <a:off x="591256" y="2096606"/>
            <a:ext cx="5888969" cy="3148676"/>
          </a:xfrm>
          <a:prstGeom prst="rect">
            <a:avLst/>
          </a:prstGeom>
        </p:spPr>
      </p:pic>
      <p:sp>
        <p:nvSpPr>
          <p:cNvPr id="10" name="TextBox 9">
            <a:extLst>
              <a:ext uri="{FF2B5EF4-FFF2-40B4-BE49-F238E27FC236}">
                <a16:creationId xmlns:a16="http://schemas.microsoft.com/office/drawing/2014/main" id="{5A9F9B08-3CAE-3F3C-9B5B-957D765F8BE5}"/>
              </a:ext>
            </a:extLst>
          </p:cNvPr>
          <p:cNvSpPr txBox="1"/>
          <p:nvPr/>
        </p:nvSpPr>
        <p:spPr>
          <a:xfrm>
            <a:off x="1309716" y="5540870"/>
            <a:ext cx="9845964" cy="646331"/>
          </a:xfrm>
          <a:prstGeom prst="rect">
            <a:avLst/>
          </a:prstGeom>
          <a:noFill/>
        </p:spPr>
        <p:txBody>
          <a:bodyPr wrap="square">
            <a:spAutoFit/>
          </a:bodyPr>
          <a:lstStyle/>
          <a:p>
            <a:pPr algn="ctr"/>
            <a:r>
              <a:rPr lang="en-US" dirty="0"/>
              <a:t>Hyperparameter tuning results for multiple machine learning models, detailing the best configurations found via </a:t>
            </a:r>
            <a:r>
              <a:rPr lang="en-US" dirty="0" err="1"/>
              <a:t>GridSearchCV</a:t>
            </a:r>
            <a:r>
              <a:rPr lang="en-US" dirty="0"/>
              <a:t>, along with cross-validation scores for optimal model selection.</a:t>
            </a:r>
          </a:p>
        </p:txBody>
      </p:sp>
    </p:spTree>
    <p:extLst>
      <p:ext uri="{BB962C8B-B14F-4D97-AF65-F5344CB8AC3E}">
        <p14:creationId xmlns:p14="http://schemas.microsoft.com/office/powerpoint/2010/main" val="10559194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C200F-9A5C-9B3B-6D1E-A1C25D7BD0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239452-CED1-1D1C-C210-927EB1FF1B2E}"/>
              </a:ext>
            </a:extLst>
          </p:cNvPr>
          <p:cNvSpPr>
            <a:spLocks noGrp="1"/>
          </p:cNvSpPr>
          <p:nvPr>
            <p:ph type="title"/>
          </p:nvPr>
        </p:nvSpPr>
        <p:spPr/>
        <p:txBody>
          <a:bodyPr/>
          <a:lstStyle/>
          <a:p>
            <a:r>
              <a:rPr lang="en-IN" dirty="0">
                <a:solidFill>
                  <a:schemeClr val="tx1"/>
                </a:solidFill>
              </a:rPr>
              <a:t>IMPLEMENTATIONS AND OUTPUTS</a:t>
            </a:r>
          </a:p>
        </p:txBody>
      </p:sp>
      <p:sp>
        <p:nvSpPr>
          <p:cNvPr id="4" name="Slide Number Placeholder 3">
            <a:extLst>
              <a:ext uri="{FF2B5EF4-FFF2-40B4-BE49-F238E27FC236}">
                <a16:creationId xmlns:a16="http://schemas.microsoft.com/office/drawing/2014/main" id="{7014D60B-9A0C-9990-0255-BE4E975CED4F}"/>
              </a:ext>
            </a:extLst>
          </p:cNvPr>
          <p:cNvSpPr>
            <a:spLocks noGrp="1"/>
          </p:cNvSpPr>
          <p:nvPr>
            <p:ph type="sldNum" sz="quarter" idx="12"/>
          </p:nvPr>
        </p:nvSpPr>
        <p:spPr/>
        <p:txBody>
          <a:bodyPr/>
          <a:lstStyle/>
          <a:p>
            <a:fld id="{6113E31D-E2AB-40D1-8B51-AFA5AFEF393A}" type="slidenum">
              <a:rPr lang="en-US" smtClean="0"/>
              <a:t>42</a:t>
            </a:fld>
            <a:endParaRPr lang="en-US" dirty="0"/>
          </a:p>
        </p:txBody>
      </p:sp>
      <p:pic>
        <p:nvPicPr>
          <p:cNvPr id="5" name="Picture 4">
            <a:extLst>
              <a:ext uri="{FF2B5EF4-FFF2-40B4-BE49-F238E27FC236}">
                <a16:creationId xmlns:a16="http://schemas.microsoft.com/office/drawing/2014/main" id="{D3859CA0-5102-E8AB-E3CF-64E5807F0FEB}"/>
              </a:ext>
            </a:extLst>
          </p:cNvPr>
          <p:cNvPicPr>
            <a:picLocks noChangeAspect="1"/>
          </p:cNvPicPr>
          <p:nvPr/>
        </p:nvPicPr>
        <p:blipFill>
          <a:blip r:embed="rId2"/>
          <a:stretch>
            <a:fillRect/>
          </a:stretch>
        </p:blipFill>
        <p:spPr>
          <a:xfrm>
            <a:off x="916565" y="1930271"/>
            <a:ext cx="7719434" cy="4336601"/>
          </a:xfrm>
          <a:prstGeom prst="rect">
            <a:avLst/>
          </a:prstGeom>
        </p:spPr>
      </p:pic>
      <p:sp>
        <p:nvSpPr>
          <p:cNvPr id="8" name="TextBox 7">
            <a:extLst>
              <a:ext uri="{FF2B5EF4-FFF2-40B4-BE49-F238E27FC236}">
                <a16:creationId xmlns:a16="http://schemas.microsoft.com/office/drawing/2014/main" id="{8A891CE8-1F7E-0D6D-FA7A-208736EAE8AD}"/>
              </a:ext>
            </a:extLst>
          </p:cNvPr>
          <p:cNvSpPr txBox="1"/>
          <p:nvPr/>
        </p:nvSpPr>
        <p:spPr>
          <a:xfrm>
            <a:off x="7934036" y="2537933"/>
            <a:ext cx="3463638" cy="1477328"/>
          </a:xfrm>
          <a:prstGeom prst="rect">
            <a:avLst/>
          </a:prstGeom>
          <a:noFill/>
        </p:spPr>
        <p:txBody>
          <a:bodyPr wrap="square">
            <a:spAutoFit/>
          </a:bodyPr>
          <a:lstStyle/>
          <a:p>
            <a:pPr algn="just"/>
            <a:r>
              <a:rPr lang="en-US" dirty="0"/>
              <a:t>A bar chart comparing the overall scores of multiple machine learning models, highlighting Naive Bayes as the highest-scoring model.</a:t>
            </a:r>
          </a:p>
        </p:txBody>
      </p:sp>
    </p:spTree>
    <p:extLst>
      <p:ext uri="{BB962C8B-B14F-4D97-AF65-F5344CB8AC3E}">
        <p14:creationId xmlns:p14="http://schemas.microsoft.com/office/powerpoint/2010/main" val="20204258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3F709-2EA2-842E-DC27-9A5AC9444F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194728-821D-C36D-2FF6-703A6A4B8CD9}"/>
              </a:ext>
            </a:extLst>
          </p:cNvPr>
          <p:cNvSpPr>
            <a:spLocks noGrp="1"/>
          </p:cNvSpPr>
          <p:nvPr>
            <p:ph type="title"/>
          </p:nvPr>
        </p:nvSpPr>
        <p:spPr>
          <a:xfrm>
            <a:off x="1380836" y="230909"/>
            <a:ext cx="10058400" cy="776778"/>
          </a:xfrm>
        </p:spPr>
        <p:txBody>
          <a:bodyPr/>
          <a:lstStyle/>
          <a:p>
            <a:pPr algn="ctr"/>
            <a:r>
              <a:rPr lang="en-IN" dirty="0">
                <a:solidFill>
                  <a:schemeClr val="tx1"/>
                </a:solidFill>
              </a:rPr>
              <a:t>COMPARATIVE ANALYSIS</a:t>
            </a:r>
          </a:p>
        </p:txBody>
      </p:sp>
      <p:sp>
        <p:nvSpPr>
          <p:cNvPr id="4" name="Slide Number Placeholder 3">
            <a:extLst>
              <a:ext uri="{FF2B5EF4-FFF2-40B4-BE49-F238E27FC236}">
                <a16:creationId xmlns:a16="http://schemas.microsoft.com/office/drawing/2014/main" id="{7D485E60-5B3E-6801-7761-78033FA59134}"/>
              </a:ext>
            </a:extLst>
          </p:cNvPr>
          <p:cNvSpPr>
            <a:spLocks noGrp="1"/>
          </p:cNvSpPr>
          <p:nvPr>
            <p:ph type="sldNum" sz="quarter" idx="12"/>
          </p:nvPr>
        </p:nvSpPr>
        <p:spPr/>
        <p:txBody>
          <a:bodyPr/>
          <a:lstStyle/>
          <a:p>
            <a:fld id="{6113E31D-E2AB-40D1-8B51-AFA5AFEF393A}" type="slidenum">
              <a:rPr lang="en-US" smtClean="0"/>
              <a:t>43</a:t>
            </a:fld>
            <a:endParaRPr lang="en-US" dirty="0"/>
          </a:p>
        </p:txBody>
      </p:sp>
      <p:sp>
        <p:nvSpPr>
          <p:cNvPr id="7" name="TextBox 6">
            <a:extLst>
              <a:ext uri="{FF2B5EF4-FFF2-40B4-BE49-F238E27FC236}">
                <a16:creationId xmlns:a16="http://schemas.microsoft.com/office/drawing/2014/main" id="{90E95079-548E-1DE2-DE6A-5C284F890B9A}"/>
              </a:ext>
            </a:extLst>
          </p:cNvPr>
          <p:cNvSpPr txBox="1"/>
          <p:nvPr/>
        </p:nvSpPr>
        <p:spPr>
          <a:xfrm>
            <a:off x="849745" y="5687244"/>
            <a:ext cx="11120582" cy="707886"/>
          </a:xfrm>
          <a:prstGeom prst="rect">
            <a:avLst/>
          </a:prstGeom>
          <a:noFill/>
        </p:spPr>
        <p:txBody>
          <a:bodyPr wrap="square" rtlCol="0">
            <a:spAutoFit/>
          </a:bodyPr>
          <a:lstStyle/>
          <a:p>
            <a:pPr algn="ctr"/>
            <a:r>
              <a:rPr lang="en-US" sz="2000" dirty="0"/>
              <a:t>Performance visualizations of multiple machine learning models across key metrics—Accuracy, AUC, Recall, Precision, F1-score, Kappa, MCC, and Training Time—facilitating comparative analysis.</a:t>
            </a:r>
          </a:p>
        </p:txBody>
      </p:sp>
      <p:pic>
        <p:nvPicPr>
          <p:cNvPr id="9" name="Picture 8">
            <a:extLst>
              <a:ext uri="{FF2B5EF4-FFF2-40B4-BE49-F238E27FC236}">
                <a16:creationId xmlns:a16="http://schemas.microsoft.com/office/drawing/2014/main" id="{2F4B1102-8A60-4CC3-EF28-57B984F7E3D5}"/>
              </a:ext>
            </a:extLst>
          </p:cNvPr>
          <p:cNvPicPr>
            <a:picLocks noChangeAspect="1"/>
          </p:cNvPicPr>
          <p:nvPr/>
        </p:nvPicPr>
        <p:blipFill>
          <a:blip r:embed="rId3"/>
          <a:stretch>
            <a:fillRect/>
          </a:stretch>
        </p:blipFill>
        <p:spPr>
          <a:xfrm>
            <a:off x="1043708" y="858981"/>
            <a:ext cx="10492510" cy="4904509"/>
          </a:xfrm>
          <a:prstGeom prst="rect">
            <a:avLst/>
          </a:prstGeom>
        </p:spPr>
      </p:pic>
    </p:spTree>
    <p:extLst>
      <p:ext uri="{BB962C8B-B14F-4D97-AF65-F5344CB8AC3E}">
        <p14:creationId xmlns:p14="http://schemas.microsoft.com/office/powerpoint/2010/main" val="23904296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4B862-A9DE-8937-6E5B-B15E7E4F50DD}"/>
              </a:ext>
            </a:extLst>
          </p:cNvPr>
          <p:cNvSpPr>
            <a:spLocks noGrp="1"/>
          </p:cNvSpPr>
          <p:nvPr>
            <p:ph type="title"/>
          </p:nvPr>
        </p:nvSpPr>
        <p:spPr/>
        <p:txBody>
          <a:bodyPr/>
          <a:lstStyle/>
          <a:p>
            <a:r>
              <a:rPr lang="en-IN" dirty="0">
                <a:solidFill>
                  <a:schemeClr val="tx1"/>
                </a:solidFill>
              </a:rPr>
              <a:t>REFERENCES</a:t>
            </a:r>
          </a:p>
        </p:txBody>
      </p:sp>
      <p:sp>
        <p:nvSpPr>
          <p:cNvPr id="3" name="Content Placeholder 2">
            <a:extLst>
              <a:ext uri="{FF2B5EF4-FFF2-40B4-BE49-F238E27FC236}">
                <a16:creationId xmlns:a16="http://schemas.microsoft.com/office/drawing/2014/main" id="{CC91B887-CDAC-2F95-28AB-0224338ABA2E}"/>
              </a:ext>
            </a:extLst>
          </p:cNvPr>
          <p:cNvSpPr>
            <a:spLocks noGrp="1"/>
          </p:cNvSpPr>
          <p:nvPr>
            <p:ph idx="1"/>
          </p:nvPr>
        </p:nvSpPr>
        <p:spPr>
          <a:xfrm>
            <a:off x="1097280" y="1845733"/>
            <a:ext cx="10058400" cy="4614051"/>
          </a:xfrm>
        </p:spPr>
        <p:txBody>
          <a:bodyPr>
            <a:normAutofit fontScale="47500" lnSpcReduction="20000"/>
          </a:bodyPr>
          <a:lstStyle/>
          <a:p>
            <a:pPr marL="342900" lvl="0" indent="-342900" algn="just">
              <a:lnSpc>
                <a:spcPct val="107000"/>
              </a:lnSpc>
              <a:buFont typeface="+mj-lt"/>
              <a:buAutoNum type="arabicPeriod"/>
            </a:pP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Pahune</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and Z. Akhtar, ”Transitioning from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MLOps</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to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LLMOps</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Navigating the Unique Challenges of Large Language Models,” Dept.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Netw</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Comput</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Security, SUNY Polytechnic Inst., Utica, NY, USA, 2025, p. 36 on ResearchGate.</a:t>
            </a:r>
          </a:p>
          <a:p>
            <a:pPr marL="342900" lvl="0" indent="-342900" algn="just">
              <a:lnSpc>
                <a:spcPct val="107000"/>
              </a:lnSpc>
              <a:buFont typeface="+mj-lt"/>
              <a:buAutoNum type="arabicPeriod"/>
            </a:pP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Hospedales</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 Antoniou, P.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Micaelli</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and A.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Storkey</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"Meta-Learning in Neural Networks: A Survey," in IEEE Transactions on Pattern Analysis and Machine Intelligence, vol. 44, no. 9, pp. 5149-5169, 1 Sept. 2022,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doi</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10.1109/TPAMI.2021.3079209. </a:t>
            </a:r>
            <a:endParaRPr lang="en-IN" sz="3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Gutowska</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S. Little and A.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Mccarren</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"Constructing a Meta-Learner for Unsupervised Anomaly Detection," in IEEE Access, vol. 11, pp. 45815-45825, 2023,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doi</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10.1109/ACCESS.2023.3274113.</a:t>
            </a:r>
            <a:endParaRPr lang="en-IN" sz="3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arabicPeriod"/>
            </a:pP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A. Ghosh, A.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Sankararaman</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and K. Ramchandran, "Model Selection for Generic Contextual Bandits," in IEEE Transactions on Information Theory, vol. 70, no. 1, pp. 656-675, Jan. 2024,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doi</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10.1109/TIT.2023.3298103.</a:t>
            </a:r>
            <a:endParaRPr lang="en-IN" sz="3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pP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Z. Liu, H. Wang and Y. Jin, "Performance Indicator-Based Adaptive Model Selection for Offline Data-Driven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Multiobjective</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Evolutionary Optimization," in IEEE Transactions on Cybernetics, vol. 53, no. 10, pp. 6263-6276, Oct. 2023,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doi</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10.1109/TCYB.2022.3170344.</a:t>
            </a:r>
            <a:endParaRPr lang="en-IN" sz="3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12B7F2DF-1322-552A-086D-5F175EBFE513}"/>
              </a:ext>
            </a:extLst>
          </p:cNvPr>
          <p:cNvSpPr>
            <a:spLocks noGrp="1"/>
          </p:cNvSpPr>
          <p:nvPr>
            <p:ph type="sldNum" sz="quarter" idx="12"/>
          </p:nvPr>
        </p:nvSpPr>
        <p:spPr/>
        <p:txBody>
          <a:bodyPr/>
          <a:lstStyle/>
          <a:p>
            <a:fld id="{6113E31D-E2AB-40D1-8B51-AFA5AFEF393A}" type="slidenum">
              <a:rPr lang="en-US" smtClean="0"/>
              <a:t>44</a:t>
            </a:fld>
            <a:endParaRPr lang="en-US" dirty="0"/>
          </a:p>
        </p:txBody>
      </p:sp>
    </p:spTree>
    <p:extLst>
      <p:ext uri="{BB962C8B-B14F-4D97-AF65-F5344CB8AC3E}">
        <p14:creationId xmlns:p14="http://schemas.microsoft.com/office/powerpoint/2010/main" val="2388125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12A64-28AD-CD37-765E-29813A386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D9AA8F-195D-A526-1235-5432B82939D1}"/>
              </a:ext>
            </a:extLst>
          </p:cNvPr>
          <p:cNvSpPr>
            <a:spLocks noGrp="1"/>
          </p:cNvSpPr>
          <p:nvPr>
            <p:ph type="title"/>
          </p:nvPr>
        </p:nvSpPr>
        <p:spPr/>
        <p:txBody>
          <a:bodyPr/>
          <a:lstStyle/>
          <a:p>
            <a:r>
              <a:rPr lang="en-IN" dirty="0">
                <a:solidFill>
                  <a:schemeClr val="tx1"/>
                </a:solidFill>
              </a:rPr>
              <a:t>REFERENCES</a:t>
            </a:r>
          </a:p>
        </p:txBody>
      </p:sp>
      <p:sp>
        <p:nvSpPr>
          <p:cNvPr id="3" name="Content Placeholder 2">
            <a:extLst>
              <a:ext uri="{FF2B5EF4-FFF2-40B4-BE49-F238E27FC236}">
                <a16:creationId xmlns:a16="http://schemas.microsoft.com/office/drawing/2014/main" id="{D4F0C97A-B297-4B42-3376-A11307D49714}"/>
              </a:ext>
            </a:extLst>
          </p:cNvPr>
          <p:cNvSpPr>
            <a:spLocks noGrp="1"/>
          </p:cNvSpPr>
          <p:nvPr>
            <p:ph idx="1"/>
          </p:nvPr>
        </p:nvSpPr>
        <p:spPr>
          <a:xfrm>
            <a:off x="1097280" y="1845734"/>
            <a:ext cx="10058400" cy="4438334"/>
          </a:xfrm>
        </p:spPr>
        <p:txBody>
          <a:bodyPr>
            <a:normAutofit fontScale="47500" lnSpcReduction="20000"/>
          </a:bodyPr>
          <a:lstStyle/>
          <a:p>
            <a:pPr marL="360363" lvl="0" indent="-360363" algn="just">
              <a:lnSpc>
                <a:spcPct val="107000"/>
              </a:lnSpc>
              <a:buFont typeface="+mj-lt"/>
              <a:buAutoNum type="arabicPeriod" startAt="6"/>
            </a:pP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 Mishra, C. Diwan, S. Srinivasa, and G.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Srinivasaraghavan</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"Automatic Title Generation for Text with Pre-trained Transformer Language Model," IEEE Transactions on Information Theory, vol. 50, no. 1, pp. 656-675, Jan. 2024,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doi</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10.2109/TIT.2023.3458.</a:t>
            </a:r>
          </a:p>
          <a:p>
            <a:pPr marL="360363" lvl="0" indent="-360363" algn="just">
              <a:lnSpc>
                <a:spcPct val="107000"/>
              </a:lnSpc>
              <a:buFont typeface="+mj-lt"/>
              <a:buAutoNum type="arabicPeriod" startAt="6"/>
            </a:pP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 Huang, M. Xie and X. Yang, "Unsupervised Feature Selection via Controllable Adaptive Graph Learning and Discriminative Feature Learning," in IEEE Transactions on Neural Networks and Learning Systems, vol. 35, no. 11, pp. 15600-15614, Nov. 2024,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doi</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10.1109/TNNLS.2023.3288734.w</a:t>
            </a:r>
          </a:p>
          <a:p>
            <a:pPr marL="360363" lvl="0" indent="-360363" algn="just">
              <a:lnSpc>
                <a:spcPct val="107000"/>
              </a:lnSpc>
              <a:buFont typeface="+mj-lt"/>
              <a:buAutoNum type="arabicPeriod" startAt="6"/>
            </a:pP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Q. Hu, Y. Gao and B. Cao, "Curiosity-Driven Class-Incremental Learning via Adaptive Sample Selection," in IEEE Transactions on Circuits and Systems for Video Technology, vol. 32, no. 12, pp. 8660-8673, Dec. 2022,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doi</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10.1109/TCSVT.2022.3196092.</a:t>
            </a:r>
          </a:p>
          <a:p>
            <a:pPr marL="360363" lvl="0" indent="-360363" algn="just">
              <a:lnSpc>
                <a:spcPct val="107000"/>
              </a:lnSpc>
              <a:buFont typeface="+mj-lt"/>
              <a:buAutoNum type="arabicPeriod" startAt="6"/>
            </a:pP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 Qiao, D. Shen, X. Wang, N. Han and W. Zhu, "A Self-Adaptive Parameter Selection Trajectory Prediction Approach via Hidden Markov Models," in IEEE Transactions on Intelligent Transportation Systems, vol. 16, no. 1, pp. 284-296, Feb. 2015,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doi</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10.1109/TITS.2014.2331758.</a:t>
            </a:r>
          </a:p>
          <a:p>
            <a:pPr marL="360363" lvl="0" indent="-360363" algn="just">
              <a:lnSpc>
                <a:spcPct val="107000"/>
              </a:lnSpc>
              <a:buFont typeface="+mj-lt"/>
              <a:buAutoNum type="arabicPeriod" startAt="6"/>
            </a:pP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B. Jiao, Y. Guo, D. Gong and Q. Chen, "Dynamic Ensemble Selection for Imbalanced Data Streams With Concept Drift," in IEEE Transactions on Neural Networks and Learning Systems, vol. 35, no. 1, pp. 1278-1291, Jan. 2024,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doi</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10.1109/TNNLS.2022.3183120.</a:t>
            </a:r>
          </a:p>
          <a:p>
            <a:pPr marL="342900" lvl="0" indent="-342900" algn="just">
              <a:lnSpc>
                <a:spcPct val="107000"/>
              </a:lnSpc>
              <a:buFont typeface="+mj-lt"/>
              <a:buAutoNum type="arabicPeriod" startAt="6"/>
            </a:pPr>
            <a:endPar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endParaRPr lang="en-IN" dirty="0"/>
          </a:p>
        </p:txBody>
      </p:sp>
      <p:sp>
        <p:nvSpPr>
          <p:cNvPr id="4" name="Slide Number Placeholder 3">
            <a:extLst>
              <a:ext uri="{FF2B5EF4-FFF2-40B4-BE49-F238E27FC236}">
                <a16:creationId xmlns:a16="http://schemas.microsoft.com/office/drawing/2014/main" id="{59B9DAB6-C7CB-6CA0-92CD-615ACDD19725}"/>
              </a:ext>
            </a:extLst>
          </p:cNvPr>
          <p:cNvSpPr>
            <a:spLocks noGrp="1"/>
          </p:cNvSpPr>
          <p:nvPr>
            <p:ph type="sldNum" sz="quarter" idx="12"/>
          </p:nvPr>
        </p:nvSpPr>
        <p:spPr/>
        <p:txBody>
          <a:bodyPr/>
          <a:lstStyle/>
          <a:p>
            <a:fld id="{6113E31D-E2AB-40D1-8B51-AFA5AFEF393A}" type="slidenum">
              <a:rPr lang="en-US" smtClean="0"/>
              <a:t>45</a:t>
            </a:fld>
            <a:endParaRPr lang="en-US" dirty="0"/>
          </a:p>
        </p:txBody>
      </p:sp>
    </p:spTree>
    <p:extLst>
      <p:ext uri="{BB962C8B-B14F-4D97-AF65-F5344CB8AC3E}">
        <p14:creationId xmlns:p14="http://schemas.microsoft.com/office/powerpoint/2010/main" val="29231964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A4B41-98F0-00FA-A67E-C60271DC8E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F589C-AE93-C7AC-3F2A-4F85457881F6}"/>
              </a:ext>
            </a:extLst>
          </p:cNvPr>
          <p:cNvSpPr>
            <a:spLocks noGrp="1"/>
          </p:cNvSpPr>
          <p:nvPr>
            <p:ph type="title"/>
          </p:nvPr>
        </p:nvSpPr>
        <p:spPr/>
        <p:txBody>
          <a:bodyPr/>
          <a:lstStyle/>
          <a:p>
            <a:r>
              <a:rPr lang="en-IN" dirty="0">
                <a:solidFill>
                  <a:schemeClr val="tx1"/>
                </a:solidFill>
              </a:rPr>
              <a:t>REFERENCES</a:t>
            </a:r>
          </a:p>
        </p:txBody>
      </p:sp>
      <p:sp>
        <p:nvSpPr>
          <p:cNvPr id="3" name="Content Placeholder 2">
            <a:extLst>
              <a:ext uri="{FF2B5EF4-FFF2-40B4-BE49-F238E27FC236}">
                <a16:creationId xmlns:a16="http://schemas.microsoft.com/office/drawing/2014/main" id="{F8FE0837-EE66-C490-0438-B44AFC7D8F69}"/>
              </a:ext>
            </a:extLst>
          </p:cNvPr>
          <p:cNvSpPr>
            <a:spLocks noGrp="1"/>
          </p:cNvSpPr>
          <p:nvPr>
            <p:ph idx="1"/>
          </p:nvPr>
        </p:nvSpPr>
        <p:spPr>
          <a:xfrm>
            <a:off x="1097280" y="1845734"/>
            <a:ext cx="10058400" cy="4438334"/>
          </a:xfrm>
        </p:spPr>
        <p:txBody>
          <a:bodyPr>
            <a:normAutofit fontScale="47500" lnSpcReduction="20000"/>
          </a:bodyPr>
          <a:lstStyle/>
          <a:p>
            <a:pPr marL="447675" lvl="0" indent="-447675" algn="just">
              <a:lnSpc>
                <a:spcPct val="107000"/>
              </a:lnSpc>
              <a:buFont typeface="+mj-lt"/>
              <a:buAutoNum type="arabicPeriod" startAt="11"/>
            </a:pP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 Bother, T.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Robroek</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V.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Gsteiger</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R. Holzinger, X. Ma, P. T ¨ oz¨ un, and A.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Klimovic</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Modyn</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Data-Centric ¨Machine Learning Pipeline Orchestration,” Proc. Int. Conf. Manage. Data (SIGMOD’25), ACM, New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York,NY</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USA, 2025, pp. 1–30.</a:t>
            </a:r>
          </a:p>
          <a:p>
            <a:pPr marL="447675" lvl="0" indent="-447675" algn="just">
              <a:lnSpc>
                <a:spcPct val="107000"/>
              </a:lnSpc>
              <a:buFont typeface="+mj-lt"/>
              <a:buAutoNum type="arabicPeriod" startAt="11"/>
            </a:pP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Vettoruzzo</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R.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Bouguelia</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J.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Vanschoren</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T.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Rognvaldsson</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and K. Santosh, ”Advances and Challenges in ¨Meta-Learning: A Technical Review,” in IEEE Transactions on Pattern Analysis and Machine Intelligence, vol.46, no. 7, pp. 4763-4779, July 2024,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doi</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10.1109/TPAMI.2024.3357847.</a:t>
            </a:r>
          </a:p>
          <a:p>
            <a:pPr marL="447675" lvl="0" indent="-447675" algn="just">
              <a:lnSpc>
                <a:spcPct val="107000"/>
              </a:lnSpc>
              <a:buFont typeface="+mj-lt"/>
              <a:buAutoNum type="arabicPeriod" startAt="11"/>
            </a:pP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B. Celik, P. Singh, and J.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Vanschoren</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”Online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AutoML</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an adaptive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AutoML</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framework for online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learning,”Machine</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Learning, vol. 112, no. 6, pp. 1897–1921, 2023,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doi</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10.1007/s10994-022-06262-0.</a:t>
            </a:r>
          </a:p>
          <a:p>
            <a:pPr marL="447675" lvl="0" indent="-447675" algn="just">
              <a:lnSpc>
                <a:spcPct val="107000"/>
              </a:lnSpc>
              <a:buFont typeface="+mj-lt"/>
              <a:buAutoNum type="arabicPeriod" startAt="11"/>
            </a:pP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 Shukla, A.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Kolbeinsson</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L. Marla, and K.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Yellepeddi</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”Adaptive Model Selection Framework: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AnApplication</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to Airline Pricing,” Journal of Machine Learning Research (JMLR),arXiv:1905.08874v1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cs.LG</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],May 21, 2019, pp. 1-25.</a:t>
            </a:r>
          </a:p>
          <a:p>
            <a:pPr marL="447675" lvl="0" indent="-447675" algn="just">
              <a:lnSpc>
                <a:spcPct val="107000"/>
              </a:lnSpc>
              <a:buFont typeface="+mj-lt"/>
              <a:buAutoNum type="arabicPeriod" startAt="11"/>
            </a:pP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F. Ming, W. Gong, L. Wang and Y. Jin, ”Constrained Multi-Objective Optimization With Deep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ReinforcementLearning</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Assisted Operator Selection,” in IEEE/CAA Journal of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Automatica</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Sinica, vol. 11, no. 4, pp. 919-931,April 2024, </a:t>
            </a:r>
            <a:r>
              <a:rPr lang="en-IN" sz="3800" kern="100" dirty="0" err="1">
                <a:solidFill>
                  <a:schemeClr val="tx1"/>
                </a:solidFill>
                <a:effectLst/>
                <a:latin typeface="Calibri" panose="020F0502020204030204" pitchFamily="34" charset="0"/>
                <a:ea typeface="Calibri" panose="020F0502020204030204" pitchFamily="34" charset="0"/>
                <a:cs typeface="Calibri" panose="020F0502020204030204" pitchFamily="34" charset="0"/>
              </a:rPr>
              <a:t>doi</a:t>
            </a:r>
            <a:r>
              <a:rPr lang="en-IN" sz="3800" kern="1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10.1109/JAS.2023.123687</a:t>
            </a:r>
          </a:p>
          <a:p>
            <a:endParaRPr lang="en-IN" dirty="0"/>
          </a:p>
        </p:txBody>
      </p:sp>
      <p:sp>
        <p:nvSpPr>
          <p:cNvPr id="4" name="Slide Number Placeholder 3">
            <a:extLst>
              <a:ext uri="{FF2B5EF4-FFF2-40B4-BE49-F238E27FC236}">
                <a16:creationId xmlns:a16="http://schemas.microsoft.com/office/drawing/2014/main" id="{011E38C0-4872-1201-066B-0038816243E0}"/>
              </a:ext>
            </a:extLst>
          </p:cNvPr>
          <p:cNvSpPr>
            <a:spLocks noGrp="1"/>
          </p:cNvSpPr>
          <p:nvPr>
            <p:ph type="sldNum" sz="quarter" idx="12"/>
          </p:nvPr>
        </p:nvSpPr>
        <p:spPr/>
        <p:txBody>
          <a:bodyPr/>
          <a:lstStyle/>
          <a:p>
            <a:fld id="{6113E31D-E2AB-40D1-8B51-AFA5AFEF393A}" type="slidenum">
              <a:rPr lang="en-US" smtClean="0"/>
              <a:t>46</a:t>
            </a:fld>
            <a:endParaRPr lang="en-US" dirty="0"/>
          </a:p>
        </p:txBody>
      </p:sp>
    </p:spTree>
    <p:extLst>
      <p:ext uri="{BB962C8B-B14F-4D97-AF65-F5344CB8AC3E}">
        <p14:creationId xmlns:p14="http://schemas.microsoft.com/office/powerpoint/2010/main" val="395481666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983</TotalTime>
  <Words>3964</Words>
  <Application>Microsoft Office PowerPoint</Application>
  <PresentationFormat>Widescreen</PresentationFormat>
  <Paragraphs>379</Paragraphs>
  <Slides>46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Calibri</vt:lpstr>
      <vt:lpstr>Calibri Light</vt:lpstr>
      <vt:lpstr>Symbol</vt:lpstr>
      <vt:lpstr>Wingdings</vt:lpstr>
      <vt:lpstr>Retrospect</vt:lpstr>
      <vt:lpstr>                                                                                                    CS6811-PROJECT WORK TEAM-46</vt:lpstr>
      <vt:lpstr>TITLE</vt:lpstr>
      <vt:lpstr>INTRODUCTION</vt:lpstr>
      <vt:lpstr>PROBLEM STATEMENT</vt:lpstr>
      <vt:lpstr>LITERATURE SURVEY</vt:lpstr>
      <vt:lpstr>LITERATURE SURVEY</vt:lpstr>
      <vt:lpstr>LITERATURE SURVEY</vt:lpstr>
      <vt:lpstr>LITERATURE SURVEY</vt:lpstr>
      <vt:lpstr>LITERATURE SURVEY</vt:lpstr>
      <vt:lpstr>LITERATURE SURVEY</vt:lpstr>
      <vt:lpstr>LITERATURE SURVEY</vt:lpstr>
      <vt:lpstr>LITERATURE SURVEY</vt:lpstr>
      <vt:lpstr>RESEARCH GAP IDENTIFIED</vt:lpstr>
      <vt:lpstr>OBJECTIVES</vt:lpstr>
      <vt:lpstr>PowerPoint Presentation</vt:lpstr>
      <vt:lpstr>PowerPoint Presentation</vt:lpstr>
      <vt:lpstr>PowerPoint Presentation</vt:lpstr>
      <vt:lpstr>PowerPoint Presentation</vt:lpstr>
      <vt:lpstr>PowerPoint Presentation</vt:lpstr>
      <vt:lpstr>PowerPoint Presentation</vt:lpstr>
      <vt:lpstr>EXPERIMENTAL SETUP</vt:lpstr>
      <vt:lpstr>EXPERIMENTAL SETUP</vt:lpstr>
      <vt:lpstr>EXPERIMENTAL SETUP</vt:lpstr>
      <vt:lpstr>EXPERIMENTAL SETUP</vt:lpstr>
      <vt:lpstr>PROJECT MODULES AND DESCRIPTION</vt:lpstr>
      <vt:lpstr>PROJECT MODULES AND DESCRIPTION</vt:lpstr>
      <vt:lpstr>WORKING PSEUDOCODE</vt:lpstr>
      <vt:lpstr>IMPLEMENTATIONS AND OUTPUTS</vt:lpstr>
      <vt:lpstr>IMPLEMENTATIONS AND OUTPUTS</vt:lpstr>
      <vt:lpstr>IMPLEMENTATIONS AND OUTPUTS</vt:lpstr>
      <vt:lpstr>IMPLEMENTATIONS AND OUTPUTS</vt:lpstr>
      <vt:lpstr>PROJECT MODULES AND DESCRIPTION</vt:lpstr>
      <vt:lpstr>PROJECT MODULES AND DESCRIPTION</vt:lpstr>
      <vt:lpstr>WORKING PSEUDOCODE</vt:lpstr>
      <vt:lpstr>IMPLEMENTATIONS AND OUTPUTS</vt:lpstr>
      <vt:lpstr>IMPLEMENTATIONS AND OUTPUTS</vt:lpstr>
      <vt:lpstr>PROJECT MODULES AND DESCRIPTION</vt:lpstr>
      <vt:lpstr>PROJECT MODULES AND DESCRIPTION</vt:lpstr>
      <vt:lpstr>WORKING PSEUDOCODE</vt:lpstr>
      <vt:lpstr>IMPLEMENTATIONS AND OUTPUTS</vt:lpstr>
      <vt:lpstr>IMPLEMENTATIONS AND OUTPUTS</vt:lpstr>
      <vt:lpstr>IMPLEMENTATIONS AND OUTPUTS</vt:lpstr>
      <vt:lpstr>COMPARATIVE ANALYSIS</vt:lpstr>
      <vt:lpstr>REFERENCES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Ramya S</dc:creator>
  <cp:lastModifiedBy>Ramya S</cp:lastModifiedBy>
  <cp:revision>19</cp:revision>
  <dcterms:created xsi:type="dcterms:W3CDTF">2025-01-30T07:19:06Z</dcterms:created>
  <dcterms:modified xsi:type="dcterms:W3CDTF">2025-04-30T17:08:14Z</dcterms:modified>
</cp:coreProperties>
</file>